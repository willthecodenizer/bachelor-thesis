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13"/>
    <p:restoredTop sz="65251"/>
  </p:normalViewPr>
  <p:slideViewPr>
    <p:cSldViewPr snapToGrid="0" snapToObjects="1">
      <p:cViewPr varScale="1">
        <p:scale>
          <a:sx n="100" d="100"/>
          <a:sy n="100" d="100"/>
        </p:scale>
        <p:origin x="198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8980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and thank you for being here. Today I will present my bachelor thesis on Fast Radio Bursts, or FRBs, and their spatial correlation with galaxies. FRBs are extremely short radio flashes originating at cosmological distances. Although several thousand sources are now known, the astrophysical objects that produce them have not yet been conclusively identified. Rather than studying individual bursts, my thesis investigates their statistical distribution across the sky. The central question is whether cross-correlations between FRBs and galaxies can distinguish between different progenitor models. To answer it, I developed a numerical pipeline for angular power spectra and used a Fisher analysis to forecast how accurately the relevant model parameters could be measured.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Fast Radio Bursts last only milliseconds or less, but release an enormous amount of energy during that short interval. One important observable is dispersion: lower radio frequencies arrive later than higher frequencies because the signal travels through ionised matter. For many FRBs, the resulting dispersion measure is much larger than the contribution expected from the Milky Way alone. This shows that most sources are extragalactic and are often located at cosmological distances.</a:t>
            </a:r>
          </a:p>
          <a:p>
            <a:endParaRPr/>
          </a:p>
          <a:p>
            <a:r>
              <a:t>CHIME has dramatically increased the number of observations. The latest catalogue considered in this thesis contains 4,539 bursts from 3,641 distinct sources. Nevertheless, their emission mechanisms and progenitors remain uncertain. Precisely localising individual bursts and assigning them to host galaxies is difficult. A statistical approach therefore offers an alternative: even without an individual redshift for every FRB, the population as a whole can be compared with the known large-scale distribution of galaxies.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this thesis, I compare two simplified classes of possible progenitors. The first model describes young magnetars. They are primarily formed through the collapse of massive stars and should therefore follow the cosmic star-formation rate with little delay. This interpretation is also supported by the detection of an FRB-like burst from the Galactic magnetar SGR 1935+2154.</a:t>
            </a:r>
          </a:p>
          <a:p>
            <a:endParaRPr/>
          </a:p>
          <a:p>
            <a:r>
              <a:t>The second model represents delayed neutron-star channels, such as compact-object mergers or accretion-induced collapse. These events may occur billions of years after the original star formation and can therefore also be found in older galaxy populations.</a:t>
            </a:r>
          </a:p>
          <a:p>
            <a:endParaRPr/>
          </a:p>
          <a:p>
            <a:r>
              <a:t>Their different evolution is represented by a linear tracer bias, $b(z)=b_0(1+z)^\delta$. Here, $b_0$ sets the present-day amplitude, while $\delta$ determines how strongly the bias grows with redshift. The two models consequently leave different signatures in their spatial distributions. The goal of the cross-correlation analysis is to constrain these two bias parameters.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basic idea is that both galaxies and FRB host objects trace the same underlying matter distribution. If a region of the sky contains more galaxies than average and we also observe more FRBs there, this produces a positive cross-correlation signal.</a:t>
            </a:r>
          </a:p>
          <a:p>
            <a:endParaRPr dirty="0"/>
          </a:p>
          <a:p>
            <a:r>
              <a:rPr dirty="0"/>
              <a:t>This signal is quantified by the angular power spectrum, $C_\ell$. Small multipoles correspond to large angular structures, while large multipoles probe small angular scales. The overlap along the line of sight is crucial: a low-redshift galaxy population only correlates with the fraction of FRBs located in the same redshift range.</a:t>
            </a:r>
          </a:p>
          <a:p>
            <a:endParaRPr dirty="0"/>
          </a:p>
          <a:p>
            <a:r>
              <a:rPr dirty="0" err="1"/>
              <a:t>KiDS</a:t>
            </a:r>
            <a:r>
              <a:rPr dirty="0"/>
              <a:t> divides its galaxies into six tomographic redshift bins. This means that FRB clustering is measured through six different radial weighting functions instead of one integrated projection. The resulting redshift information should help separate the overall bias amplitude, $b_0$, from its redshift evolution, $\delta$.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Because individual redshifts are not assumed to be available for the FRB population, I model its </a:t>
            </a:r>
            <a:r>
              <a:rPr dirty="0" err="1"/>
              <a:t>normalised</a:t>
            </a:r>
            <a:r>
              <a:rPr dirty="0"/>
              <a:t> distribution as $n(z)\</a:t>
            </a:r>
            <a:r>
              <a:rPr dirty="0" err="1"/>
              <a:t>propto</a:t>
            </a:r>
            <a:r>
              <a:rPr dirty="0"/>
              <a:t> z^2\exp(-\alpha z)$. I consider two scenarios. The shallow survey contains 5,000 bursts and is more strongly concentrated at low redshift. The deep survey contains 50,000 bursts and has a substantially longer high-redshift tail. Both are assumed to cover 90 percent of the sky.</a:t>
            </a:r>
          </a:p>
          <a:p>
            <a:endParaRPr dirty="0"/>
          </a:p>
          <a:p>
            <a:r>
              <a:rPr dirty="0"/>
              <a:t>For the galaxy sample, I use the published redshift distributions from </a:t>
            </a:r>
            <a:r>
              <a:rPr dirty="0" err="1"/>
              <a:t>KiDS</a:t>
            </a:r>
            <a:r>
              <a:rPr dirty="0"/>
              <a:t> DR5. The survey covers 1,347 square degrees and is divided into six tomographic bins. These plots already indicate which combinations should provide the strongest signal. The lower </a:t>
            </a:r>
            <a:r>
              <a:rPr dirty="0" err="1"/>
              <a:t>KiDS</a:t>
            </a:r>
            <a:r>
              <a:rPr dirty="0"/>
              <a:t> bins overlap considerably with both FRB scenarios, whereas the higher bins benefit mainly from the deep survey. Alongside the number of objects, this radial overlap is the key factor determining the eventual parameter constraints.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calculation starts with a flat $\</a:t>
            </a:r>
            <a:r>
              <a:rPr dirty="0" err="1"/>
              <a:t>Lambda$CDM</a:t>
            </a:r>
            <a:r>
              <a:rPr dirty="0"/>
              <a:t> cosmology using the Planck 2018 parameters. I calculate the non-linear three-dimensional matter power spectrum, $P(</a:t>
            </a:r>
            <a:r>
              <a:rPr dirty="0" err="1"/>
              <a:t>k,z</a:t>
            </a:r>
            <a:r>
              <a:rPr dirty="0"/>
              <a:t>)$, with the Python package `</a:t>
            </a:r>
            <a:r>
              <a:rPr dirty="0" err="1"/>
              <a:t>hmf</a:t>
            </a:r>
            <a:r>
              <a:rPr dirty="0"/>
              <a:t>`. All quantities are evaluated on a common redshift grid from 0.01 to 5.</a:t>
            </a:r>
          </a:p>
          <a:p>
            <a:endParaRPr dirty="0"/>
          </a:p>
          <a:p>
            <a:r>
              <a:rPr dirty="0"/>
              <a:t>For each population, I then construct a radial kernel. It is essentially the product of the </a:t>
            </a:r>
            <a:r>
              <a:rPr dirty="0" err="1"/>
              <a:t>normalised</a:t>
            </a:r>
            <a:r>
              <a:rPr dirty="0"/>
              <a:t> redshift distribution and the bias. The angular power spectrum is obtained through the Limber projection shown here, which combines both radial kernels with the matter power spectrum. I calculate multipoles from $\ell=10$ to 1,000 because the Limber approximation is unreliable on the very largest angular scales.</a:t>
            </a:r>
          </a:p>
          <a:p>
            <a:endParaRPr dirty="0"/>
          </a:p>
          <a:p>
            <a:r>
              <a:rPr dirty="0"/>
              <a:t>The pipeline produces auto-spectra for the FRBs and for each </a:t>
            </a:r>
            <a:r>
              <a:rPr dirty="0" err="1"/>
              <a:t>KiDS</a:t>
            </a:r>
            <a:r>
              <a:rPr dirty="0"/>
              <a:t> bin, as well as all FRB-galaxy cross-spectra. With two progenitor models, two FRB surveys, and six galaxy bins, this gives 24 cross-spectra. In the final step, these spectra and their noise contributions enter the Fisher forecast.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Before considering the cross-correlation, the FRB auto-correlation reveals the central problem. FRBs are discrete and rare compared with galaxies. The measured auto-spectrum therefore contains a constant Poisson contribution of $1/\bar n$.</a:t>
            </a:r>
          </a:p>
          <a:p>
            <a:endParaRPr dirty="0"/>
          </a:p>
          <a:p>
            <a:r>
              <a:rPr dirty="0"/>
              <a:t>For the shallow survey with 5,000 bursts, this shot noise lies roughly three orders of magnitude above the clustering signal throughout the multipole range considered. In principle, the auto-spectrum contains information about the host bias, but in practice that information is overwhelmed by noise.</a:t>
            </a:r>
          </a:p>
          <a:p>
            <a:endParaRPr dirty="0"/>
          </a:p>
          <a:p>
            <a:r>
              <a:rPr dirty="0"/>
              <a:t>The deep survey reduces shot noise through its ten times larger source count. Its projected clustering signal is also slightly smaller because of the broader redshift distribution. The essential point remains that more FRBs help, but the auto-correlation still relies on a sparse sample. Combining it with the much denser galaxy population is therefore not a minor </a:t>
            </a:r>
            <a:r>
              <a:rPr dirty="0" err="1"/>
              <a:t>optimisation</a:t>
            </a:r>
            <a:r>
              <a:rPr dirty="0"/>
              <a:t>; it is the central element of the method.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 we see the cross-spectra for the magnetar model, including all six </a:t>
            </a:r>
            <a:r>
              <a:rPr dirty="0" err="1"/>
              <a:t>KiDS</a:t>
            </a:r>
            <a:r>
              <a:rPr dirty="0"/>
              <a:t> bins and both FRB surveys. Their amplitudes depend directly on the overlap between each galaxy distribution and the corresponding FRB distribution.</a:t>
            </a:r>
          </a:p>
          <a:p>
            <a:endParaRPr dirty="0"/>
          </a:p>
          <a:p>
            <a:r>
              <a:rPr dirty="0"/>
              <a:t>The shallow survey is concentrated at low redshift and therefore produces a stronger signal in the lower </a:t>
            </a:r>
            <a:r>
              <a:rPr dirty="0" err="1"/>
              <a:t>KiDS</a:t>
            </a:r>
            <a:r>
              <a:rPr dirty="0"/>
              <a:t> bins. The deep survey spreads its sources across a wider radial range. This broad projection dilutes its low-redshift signal, but leaves comparatively more signal in the higher bins.</a:t>
            </a:r>
          </a:p>
          <a:p>
            <a:endParaRPr dirty="0"/>
          </a:p>
          <a:p>
            <a:r>
              <a:rPr dirty="0"/>
              <a:t>Each galaxy bin therefore observes the FRB bias through a different redshift window. This is the value of tomography. A change in $b_0$ rescales all windows, while a change in $\delta$ affects high redshifts differently from low redshifts. The cross-correlation can consequently separate the two parameters more effectively.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translate the spectra into expected parameter uncertainties, I use a Fisher matrix. It measures how sensitively all auto- and cross-spectra respond to small changes in $b_0$ and $\delta$. I calculate the derivatives numerically using central differences with a relative step size of one percent, while holding the cosmological parameters fixed.</a:t>
            </a:r>
          </a:p>
          <a:p>
            <a:endParaRPr/>
          </a:p>
          <a:p>
            <a:r>
              <a:t>The inverse Fisher matrix gives the expected covariance. Its diagonal elements provide the marginalised one-sigma uncertainties, while the shape and orientation of the ellipse show the degeneracy between the two parameters. I also summarise the joint two-dimensional precision with a Figure of Merit. It is inversely proportional to the area of the error ellipse, so a larger value indicates a stronger constraint.</a:t>
            </a:r>
          </a:p>
          <a:p>
            <a:endParaRPr/>
          </a:p>
          <a:p>
            <a:r>
              <a:t>It is important to note that a Fisher analysis assumes a locally Gaussian likelihood. These results should therefore be interpreted as optimistic forecasts rather than uncertainties that have already been measured.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central result of the thesis. The blue contours show the forecasts from FRB auto-correlation alone, while the orange contours show the joint analysis with the six KiDS bins. In all four cases, the blue contours extend far beyond the plotted range. This quantitatively confirms that the FRB auto-correlation cannot meaningfully constrain the host bias.</a:t>
            </a:r>
          </a:p>
          <a:p>
            <a:endParaRPr/>
          </a:p>
          <a:p>
            <a:r>
              <a:t>Adding the cross-correlations reduces the marginalised uncertainties on the two parameters by factors between 17 and 51. The two-dimensional Figure of Merit improves by factors between 61 and 449. This is particularly notable because the joint analysis uses only the small KiDS overlap area, about 3.3 percent of the sky, whereas the FRB auto-correlation assumes 90 percent sky coverage. The additional tracer and redshift information more than compensates for the loss of area.</a:t>
            </a:r>
          </a:p>
          <a:p>
            <a:endParaRPr/>
          </a:p>
          <a:p>
            <a:r>
              <a:t>The deep survey provides tighter constraints in every case, mainly because it contains ten times as many bursts. Once cross-correlation mitigates the shot-noise problem, however, its relative advantage becomes smaller. At that point, the overlap of the redshift distributions and the limited KiDS area become the dominant restrictions.</a:t>
            </a:r>
          </a:p>
          <a:p>
            <a:endParaRPr/>
          </a:p>
          <a:p>
            <a:r>
              <a:t>Despite the considerable improvement, the two fiducial progenitor models still lie within the one-sigma contours. KiDS makes a meaningful bias constraint possible, but it cannot yet reliably distinguish between the magnetar and delayed neutron-star scenarios.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direct next step is to use a larger galaxy survey. LSST will cover approximately 18,000 square degrees, around thirteen times the area of KiDS. It will also provide ten rather than six tomographic bins and a deeper galaxy sample.</a:t>
            </a:r>
          </a:p>
          <a:p>
            <a:endParaRPr/>
          </a:p>
          <a:p>
            <a:r>
              <a:t>I therefore ran the same pipeline with an LSST Year 10 model distribution. In the deep magnetar scenario, the uncertainty on $b_0$ decreases from 1.27 with KiDS to 0.25 with LSST. The Figure of Merit increases from 1.59 to 42.01, a factor of about 26. Most of this improvement follows directly from the larger sky area, with additional information coming from finer tomography and greater depth.</a:t>
            </a:r>
          </a:p>
          <a:p>
            <a:endParaRPr/>
          </a:p>
          <a:p>
            <a:r>
              <a:t>In this forecast, the separation between the two progenitor models lies outside their respective one-sigma contours for the deep survey. Cross-correlating FRBs with an LSST-like data set could therefore genuinely distinguish between a prompt and a delayed progenitor population.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forecast relies on several simplifications. First, I use the Limber approximation and therefore start at $\ell=10$. However, the largest angular scales may be particularly sensitive to differences between the radial models.</a:t>
            </a:r>
          </a:p>
          <a:p>
            <a:endParaRPr/>
          </a:p>
          <a:p>
            <a:r>
              <a:t>Second, the Fisher method assumes a Gaussian likelihood and Gaussian covariance. Non-linear structure formation and potentially non-Gaussian posterior shapes are not fully captured, so the reported uncertainties should be regarded as optimistic lower bounds.</a:t>
            </a:r>
          </a:p>
          <a:p>
            <a:endParaRPr/>
          </a:p>
          <a:p>
            <a:r>
              <a:t>Third, the FRB redshift distribution and the fiducial bias parameters are model assumptions rather than direct measurements. Survey geometry is also represented only through the factor $f_\mathrm{sky}$; a real analysis would require a mask or pseudo-$C_\ell$ treatment. Finally, a small cross-shot-noise term may arise if FRB host galaxies are themselves included in the KiDS catalogue. This contribution was neglected because the source densities differ so strongly.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my thesis demonstrates three main points. First, the auto-correlation of current or near-future FRB samples is strongly limited by shot noise. Second, cross-correlation with a dense and tomographically divided galaxy sample recovers a substantial amount of the clustering information. With KiDS, the Figure of Merit improves by factors between 61 and 449, although the limited survey area is not yet sufficient to distinguish the two assumed progenitor models.</a:t>
            </a:r>
          </a:p>
          <a:p>
            <a:endParaRPr/>
          </a:p>
          <a:p>
            <a:r>
              <a:t>Third, the LSST forecast shows that the next generation of wide-area surveys can reach the required precision. The main take-home message is therefore that we do not need to localise every Fast Radio Burst individually to learn about its typical environment and origin. Its statistical connection to the large-scale galaxy distribution already provides an independent and promising route. Thank you for your attention.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64899-D35F-770B-1E8C-55728EC5FDE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DE"/>
          </a:p>
        </p:txBody>
      </p:sp>
      <p:sp>
        <p:nvSpPr>
          <p:cNvPr id="3" name="Subtitle 2">
            <a:extLst>
              <a:ext uri="{FF2B5EF4-FFF2-40B4-BE49-F238E27FC236}">
                <a16:creationId xmlns:a16="http://schemas.microsoft.com/office/drawing/2014/main" id="{A98670E5-DDB1-B0E6-25C2-EA1E508169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DE"/>
          </a:p>
        </p:txBody>
      </p:sp>
      <p:sp>
        <p:nvSpPr>
          <p:cNvPr id="4" name="Date Placeholder 3">
            <a:extLst>
              <a:ext uri="{FF2B5EF4-FFF2-40B4-BE49-F238E27FC236}">
                <a16:creationId xmlns:a16="http://schemas.microsoft.com/office/drawing/2014/main" id="{0DA785C8-7EE3-0C53-7232-4B87A368A567}"/>
              </a:ext>
            </a:extLst>
          </p:cNvPr>
          <p:cNvSpPr>
            <a:spLocks noGrp="1"/>
          </p:cNvSpPr>
          <p:nvPr>
            <p:ph type="dt" sz="half" idx="10"/>
          </p:nvPr>
        </p:nvSpPr>
        <p:spPr/>
        <p:txBody>
          <a:bodyPr/>
          <a:lstStyle/>
          <a:p>
            <a:fld id="{5BCAD085-E8A6-8845-BD4E-CB4CCA059FC4}" type="datetimeFigureOut">
              <a:rPr lang="en-US" smtClean="0"/>
              <a:t>9/24/26</a:t>
            </a:fld>
            <a:endParaRPr lang="en-US"/>
          </a:p>
        </p:txBody>
      </p:sp>
      <p:sp>
        <p:nvSpPr>
          <p:cNvPr id="5" name="Footer Placeholder 4">
            <a:extLst>
              <a:ext uri="{FF2B5EF4-FFF2-40B4-BE49-F238E27FC236}">
                <a16:creationId xmlns:a16="http://schemas.microsoft.com/office/drawing/2014/main" id="{37203D91-A26B-2785-F371-7026B5997E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F2E382-1B90-C35B-858A-8488270EB0A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41173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0035B-6E6D-7B8C-F82E-69436C12935B}"/>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D4AAB443-C0FA-E04B-7CF1-2055770E8BA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36A00603-DFAA-FBAD-A214-B975B19447F6}"/>
              </a:ext>
            </a:extLst>
          </p:cNvPr>
          <p:cNvSpPr>
            <a:spLocks noGrp="1"/>
          </p:cNvSpPr>
          <p:nvPr>
            <p:ph type="dt" sz="half" idx="10"/>
          </p:nvPr>
        </p:nvSpPr>
        <p:spPr/>
        <p:txBody>
          <a:bodyPr/>
          <a:lstStyle/>
          <a:p>
            <a:fld id="{5BCAD085-E8A6-8845-BD4E-CB4CCA059FC4}" type="datetimeFigureOut">
              <a:rPr lang="en-US" smtClean="0"/>
              <a:t>9/24/26</a:t>
            </a:fld>
            <a:endParaRPr lang="en-US"/>
          </a:p>
        </p:txBody>
      </p:sp>
      <p:sp>
        <p:nvSpPr>
          <p:cNvPr id="5" name="Footer Placeholder 4">
            <a:extLst>
              <a:ext uri="{FF2B5EF4-FFF2-40B4-BE49-F238E27FC236}">
                <a16:creationId xmlns:a16="http://schemas.microsoft.com/office/drawing/2014/main" id="{50D74A4D-1A6F-3186-F1DD-38ECD43845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F60A30-E21C-22C6-74FB-882350A862D1}"/>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91788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76693-45DB-6A94-5527-185A091841F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DE"/>
          </a:p>
        </p:txBody>
      </p:sp>
      <p:sp>
        <p:nvSpPr>
          <p:cNvPr id="3" name="Text Placeholder 2">
            <a:extLst>
              <a:ext uri="{FF2B5EF4-FFF2-40B4-BE49-F238E27FC236}">
                <a16:creationId xmlns:a16="http://schemas.microsoft.com/office/drawing/2014/main" id="{4842DF30-005A-0C10-0688-E5759136D0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4345C56-8670-BACF-8582-D50807B7821A}"/>
              </a:ext>
            </a:extLst>
          </p:cNvPr>
          <p:cNvSpPr>
            <a:spLocks noGrp="1"/>
          </p:cNvSpPr>
          <p:nvPr>
            <p:ph type="dt" sz="half" idx="10"/>
          </p:nvPr>
        </p:nvSpPr>
        <p:spPr/>
        <p:txBody>
          <a:bodyPr/>
          <a:lstStyle/>
          <a:p>
            <a:fld id="{5BCAD085-E8A6-8845-BD4E-CB4CCA059FC4}" type="datetimeFigureOut">
              <a:rPr lang="en-US" smtClean="0"/>
              <a:t>9/24/26</a:t>
            </a:fld>
            <a:endParaRPr lang="en-US"/>
          </a:p>
        </p:txBody>
      </p:sp>
      <p:sp>
        <p:nvSpPr>
          <p:cNvPr id="5" name="Footer Placeholder 4">
            <a:extLst>
              <a:ext uri="{FF2B5EF4-FFF2-40B4-BE49-F238E27FC236}">
                <a16:creationId xmlns:a16="http://schemas.microsoft.com/office/drawing/2014/main" id="{45653531-2F3F-991A-D88F-619318611D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72F771-1C21-5697-979E-6C6677CA73AF}"/>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90978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C415C-A467-6FD4-7519-75A672996FA3}"/>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E53601C4-B7F4-01FD-C42A-67BF1E1DD59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Content Placeholder 3">
            <a:extLst>
              <a:ext uri="{FF2B5EF4-FFF2-40B4-BE49-F238E27FC236}">
                <a16:creationId xmlns:a16="http://schemas.microsoft.com/office/drawing/2014/main" id="{AD481752-86FE-1418-70B4-8A70EC5F7DF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Date Placeholder 4">
            <a:extLst>
              <a:ext uri="{FF2B5EF4-FFF2-40B4-BE49-F238E27FC236}">
                <a16:creationId xmlns:a16="http://schemas.microsoft.com/office/drawing/2014/main" id="{EB61D3AD-C5AB-D6CC-C691-A17F74F82BC3}"/>
              </a:ext>
            </a:extLst>
          </p:cNvPr>
          <p:cNvSpPr>
            <a:spLocks noGrp="1"/>
          </p:cNvSpPr>
          <p:nvPr>
            <p:ph type="dt" sz="half" idx="10"/>
          </p:nvPr>
        </p:nvSpPr>
        <p:spPr/>
        <p:txBody>
          <a:bodyPr/>
          <a:lstStyle/>
          <a:p>
            <a:fld id="{5BCAD085-E8A6-8845-BD4E-CB4CCA059FC4}" type="datetimeFigureOut">
              <a:rPr lang="en-US" smtClean="0"/>
              <a:t>9/24/26</a:t>
            </a:fld>
            <a:endParaRPr lang="en-US"/>
          </a:p>
        </p:txBody>
      </p:sp>
      <p:sp>
        <p:nvSpPr>
          <p:cNvPr id="6" name="Footer Placeholder 5">
            <a:extLst>
              <a:ext uri="{FF2B5EF4-FFF2-40B4-BE49-F238E27FC236}">
                <a16:creationId xmlns:a16="http://schemas.microsoft.com/office/drawing/2014/main" id="{8C1F35C6-D69B-5EEE-CFFB-B031E0CF72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0E0ED5-48E7-805F-32CC-2D6E732F2E3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08622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82981-65F5-2924-7706-7247A80B9405}"/>
              </a:ext>
            </a:extLst>
          </p:cNvPr>
          <p:cNvSpPr>
            <a:spLocks noGrp="1"/>
          </p:cNvSpPr>
          <p:nvPr>
            <p:ph type="title"/>
          </p:nvPr>
        </p:nvSpPr>
        <p:spPr>
          <a:xfrm>
            <a:off x="839788" y="365125"/>
            <a:ext cx="10515600" cy="1325563"/>
          </a:xfrm>
        </p:spPr>
        <p:txBody>
          <a:bodyPr/>
          <a:lstStyle/>
          <a:p>
            <a:r>
              <a:rPr lang="en-GB"/>
              <a:t>Click to edit Master title style</a:t>
            </a:r>
            <a:endParaRPr lang="en-DE"/>
          </a:p>
        </p:txBody>
      </p:sp>
      <p:sp>
        <p:nvSpPr>
          <p:cNvPr id="3" name="Text Placeholder 2">
            <a:extLst>
              <a:ext uri="{FF2B5EF4-FFF2-40B4-BE49-F238E27FC236}">
                <a16:creationId xmlns:a16="http://schemas.microsoft.com/office/drawing/2014/main" id="{2A1A277E-F1F7-8594-5670-BBAD77BAD1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32F51F8-BB0E-4D7F-BE22-49211C5DB54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Text Placeholder 4">
            <a:extLst>
              <a:ext uri="{FF2B5EF4-FFF2-40B4-BE49-F238E27FC236}">
                <a16:creationId xmlns:a16="http://schemas.microsoft.com/office/drawing/2014/main" id="{2B7788E6-E381-AB01-1523-CD2BB0F331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23852FF-D631-4928-3339-3C9C2D8A8F8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7" name="Date Placeholder 6">
            <a:extLst>
              <a:ext uri="{FF2B5EF4-FFF2-40B4-BE49-F238E27FC236}">
                <a16:creationId xmlns:a16="http://schemas.microsoft.com/office/drawing/2014/main" id="{B4B9FE06-9FAF-ACA5-B60D-08E1A892FC55}"/>
              </a:ext>
            </a:extLst>
          </p:cNvPr>
          <p:cNvSpPr>
            <a:spLocks noGrp="1"/>
          </p:cNvSpPr>
          <p:nvPr>
            <p:ph type="dt" sz="half" idx="10"/>
          </p:nvPr>
        </p:nvSpPr>
        <p:spPr/>
        <p:txBody>
          <a:bodyPr/>
          <a:lstStyle/>
          <a:p>
            <a:fld id="{5BCAD085-E8A6-8845-BD4E-CB4CCA059FC4}" type="datetimeFigureOut">
              <a:rPr lang="en-US" smtClean="0"/>
              <a:t>9/24/26</a:t>
            </a:fld>
            <a:endParaRPr lang="en-US"/>
          </a:p>
        </p:txBody>
      </p:sp>
      <p:sp>
        <p:nvSpPr>
          <p:cNvPr id="8" name="Footer Placeholder 7">
            <a:extLst>
              <a:ext uri="{FF2B5EF4-FFF2-40B4-BE49-F238E27FC236}">
                <a16:creationId xmlns:a16="http://schemas.microsoft.com/office/drawing/2014/main" id="{A9C00B30-6C9C-FC31-D2B4-84F59264932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07E2918-419B-70DF-CC89-BDBAD421680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46886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84489-57AE-2D3A-8A78-CD13AF714BE2}"/>
              </a:ext>
            </a:extLst>
          </p:cNvPr>
          <p:cNvSpPr>
            <a:spLocks noGrp="1"/>
          </p:cNvSpPr>
          <p:nvPr>
            <p:ph type="title"/>
          </p:nvPr>
        </p:nvSpPr>
        <p:spPr/>
        <p:txBody>
          <a:bodyPr/>
          <a:lstStyle/>
          <a:p>
            <a:r>
              <a:rPr lang="en-GB"/>
              <a:t>Click to edit Master title style</a:t>
            </a:r>
            <a:endParaRPr lang="en-DE"/>
          </a:p>
        </p:txBody>
      </p:sp>
      <p:sp>
        <p:nvSpPr>
          <p:cNvPr id="3" name="Date Placeholder 2">
            <a:extLst>
              <a:ext uri="{FF2B5EF4-FFF2-40B4-BE49-F238E27FC236}">
                <a16:creationId xmlns:a16="http://schemas.microsoft.com/office/drawing/2014/main" id="{7AEBC8C2-D078-2F33-2981-6AFC6660709D}"/>
              </a:ext>
            </a:extLst>
          </p:cNvPr>
          <p:cNvSpPr>
            <a:spLocks noGrp="1"/>
          </p:cNvSpPr>
          <p:nvPr>
            <p:ph type="dt" sz="half" idx="10"/>
          </p:nvPr>
        </p:nvSpPr>
        <p:spPr/>
        <p:txBody>
          <a:bodyPr/>
          <a:lstStyle/>
          <a:p>
            <a:fld id="{5BCAD085-E8A6-8845-BD4E-CB4CCA059FC4}" type="datetimeFigureOut">
              <a:rPr lang="en-US" smtClean="0"/>
              <a:t>9/24/26</a:t>
            </a:fld>
            <a:endParaRPr lang="en-US"/>
          </a:p>
        </p:txBody>
      </p:sp>
      <p:sp>
        <p:nvSpPr>
          <p:cNvPr id="4" name="Footer Placeholder 3">
            <a:extLst>
              <a:ext uri="{FF2B5EF4-FFF2-40B4-BE49-F238E27FC236}">
                <a16:creationId xmlns:a16="http://schemas.microsoft.com/office/drawing/2014/main" id="{4C773EA3-A8CE-C038-79A1-6F0E4A3A1F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3D095D1-EF75-A99E-C089-3FE7A2D2B54F}"/>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85394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D7E37A-C0A0-3C61-DA56-93486DD19E28}"/>
              </a:ext>
            </a:extLst>
          </p:cNvPr>
          <p:cNvSpPr>
            <a:spLocks noGrp="1"/>
          </p:cNvSpPr>
          <p:nvPr>
            <p:ph type="dt" sz="half" idx="10"/>
          </p:nvPr>
        </p:nvSpPr>
        <p:spPr/>
        <p:txBody>
          <a:bodyPr/>
          <a:lstStyle/>
          <a:p>
            <a:fld id="{5BCAD085-E8A6-8845-BD4E-CB4CCA059FC4}" type="datetimeFigureOut">
              <a:rPr lang="en-US" smtClean="0"/>
              <a:t>9/24/26</a:t>
            </a:fld>
            <a:endParaRPr lang="en-US"/>
          </a:p>
        </p:txBody>
      </p:sp>
      <p:sp>
        <p:nvSpPr>
          <p:cNvPr id="3" name="Footer Placeholder 2">
            <a:extLst>
              <a:ext uri="{FF2B5EF4-FFF2-40B4-BE49-F238E27FC236}">
                <a16:creationId xmlns:a16="http://schemas.microsoft.com/office/drawing/2014/main" id="{C6A6C5AF-9999-2579-676E-67C7FED32B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ED151C-797D-F9B7-660B-F5F8E76B00B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6716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2DB4C-3F1E-505A-35B2-F28870F2FED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Content Placeholder 2">
            <a:extLst>
              <a:ext uri="{FF2B5EF4-FFF2-40B4-BE49-F238E27FC236}">
                <a16:creationId xmlns:a16="http://schemas.microsoft.com/office/drawing/2014/main" id="{2F70B54B-25AD-CE73-AEB8-80AEE9463A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Text Placeholder 3">
            <a:extLst>
              <a:ext uri="{FF2B5EF4-FFF2-40B4-BE49-F238E27FC236}">
                <a16:creationId xmlns:a16="http://schemas.microsoft.com/office/drawing/2014/main" id="{35534269-2340-A235-24C9-33CE9E4015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C458E21-5AF1-898A-3DBC-02C200EC5FAC}"/>
              </a:ext>
            </a:extLst>
          </p:cNvPr>
          <p:cNvSpPr>
            <a:spLocks noGrp="1"/>
          </p:cNvSpPr>
          <p:nvPr>
            <p:ph type="dt" sz="half" idx="10"/>
          </p:nvPr>
        </p:nvSpPr>
        <p:spPr/>
        <p:txBody>
          <a:bodyPr/>
          <a:lstStyle/>
          <a:p>
            <a:fld id="{5BCAD085-E8A6-8845-BD4E-CB4CCA059FC4}" type="datetimeFigureOut">
              <a:rPr lang="en-US" smtClean="0"/>
              <a:t>9/24/26</a:t>
            </a:fld>
            <a:endParaRPr lang="en-US"/>
          </a:p>
        </p:txBody>
      </p:sp>
      <p:sp>
        <p:nvSpPr>
          <p:cNvPr id="6" name="Footer Placeholder 5">
            <a:extLst>
              <a:ext uri="{FF2B5EF4-FFF2-40B4-BE49-F238E27FC236}">
                <a16:creationId xmlns:a16="http://schemas.microsoft.com/office/drawing/2014/main" id="{FF87F02F-3558-4552-6FCE-9A6524407E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D5CC24-B04F-451C-F433-B8B5D74072C1}"/>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9552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D8B88-472F-011D-7553-E5FA30CC41E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Picture Placeholder 2">
            <a:extLst>
              <a:ext uri="{FF2B5EF4-FFF2-40B4-BE49-F238E27FC236}">
                <a16:creationId xmlns:a16="http://schemas.microsoft.com/office/drawing/2014/main" id="{4AEE8338-5AA1-C53E-E00E-7A60DA09FFA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963CFEC5-E1F3-0021-376C-F95DCD5E66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DC76ACC-8761-131D-2A9D-805A6CE7F45B}"/>
              </a:ext>
            </a:extLst>
          </p:cNvPr>
          <p:cNvSpPr>
            <a:spLocks noGrp="1"/>
          </p:cNvSpPr>
          <p:nvPr>
            <p:ph type="dt" sz="half" idx="10"/>
          </p:nvPr>
        </p:nvSpPr>
        <p:spPr/>
        <p:txBody>
          <a:bodyPr/>
          <a:lstStyle/>
          <a:p>
            <a:fld id="{5BCAD085-E8A6-8845-BD4E-CB4CCA059FC4}" type="datetimeFigureOut">
              <a:rPr lang="en-US" smtClean="0"/>
              <a:t>9/24/26</a:t>
            </a:fld>
            <a:endParaRPr lang="en-US"/>
          </a:p>
        </p:txBody>
      </p:sp>
      <p:sp>
        <p:nvSpPr>
          <p:cNvPr id="6" name="Footer Placeholder 5">
            <a:extLst>
              <a:ext uri="{FF2B5EF4-FFF2-40B4-BE49-F238E27FC236}">
                <a16:creationId xmlns:a16="http://schemas.microsoft.com/office/drawing/2014/main" id="{7DF8F295-ED18-E191-363A-A1D71185B1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E375AA-3FF1-0FA3-1B15-F7AAF6FBA80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44074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059D1-D976-20FF-5931-8CCA3C7FBC35}"/>
              </a:ext>
            </a:extLst>
          </p:cNvPr>
          <p:cNvSpPr>
            <a:spLocks noGrp="1"/>
          </p:cNvSpPr>
          <p:nvPr>
            <p:ph type="title"/>
          </p:nvPr>
        </p:nvSpPr>
        <p:spPr/>
        <p:txBody>
          <a:bodyPr/>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A1DDD2C0-4E26-7C60-6E8A-EEA77F5EE5D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B15C3A50-606E-AD3C-7C63-74D091275A4C}"/>
              </a:ext>
            </a:extLst>
          </p:cNvPr>
          <p:cNvSpPr>
            <a:spLocks noGrp="1"/>
          </p:cNvSpPr>
          <p:nvPr>
            <p:ph type="dt" sz="half" idx="10"/>
          </p:nvPr>
        </p:nvSpPr>
        <p:spPr/>
        <p:txBody>
          <a:bodyPr/>
          <a:lstStyle/>
          <a:p>
            <a:fld id="{5BCAD085-E8A6-8845-BD4E-CB4CCA059FC4}" type="datetimeFigureOut">
              <a:rPr lang="en-US" smtClean="0"/>
              <a:t>9/24/26</a:t>
            </a:fld>
            <a:endParaRPr lang="en-US"/>
          </a:p>
        </p:txBody>
      </p:sp>
      <p:sp>
        <p:nvSpPr>
          <p:cNvPr id="5" name="Footer Placeholder 4">
            <a:extLst>
              <a:ext uri="{FF2B5EF4-FFF2-40B4-BE49-F238E27FC236}">
                <a16:creationId xmlns:a16="http://schemas.microsoft.com/office/drawing/2014/main" id="{55F30578-08A4-C70D-5905-22049D3DF6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B0E265-46F3-DA68-E7DA-55A20466D8B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06445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FF63A2-36ED-1F5A-0065-9E4D270B472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7B4F4061-6441-09EF-EB55-6ED37637ECC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65477AFF-65F6-EF7C-A4A1-44A78601104A}"/>
              </a:ext>
            </a:extLst>
          </p:cNvPr>
          <p:cNvSpPr>
            <a:spLocks noGrp="1"/>
          </p:cNvSpPr>
          <p:nvPr>
            <p:ph type="dt" sz="half" idx="10"/>
          </p:nvPr>
        </p:nvSpPr>
        <p:spPr/>
        <p:txBody>
          <a:bodyPr/>
          <a:lstStyle/>
          <a:p>
            <a:fld id="{5BCAD085-E8A6-8845-BD4E-CB4CCA059FC4}" type="datetimeFigureOut">
              <a:rPr lang="en-US" smtClean="0"/>
              <a:t>9/24/26</a:t>
            </a:fld>
            <a:endParaRPr lang="en-US"/>
          </a:p>
        </p:txBody>
      </p:sp>
      <p:sp>
        <p:nvSpPr>
          <p:cNvPr id="5" name="Footer Placeholder 4">
            <a:extLst>
              <a:ext uri="{FF2B5EF4-FFF2-40B4-BE49-F238E27FC236}">
                <a16:creationId xmlns:a16="http://schemas.microsoft.com/office/drawing/2014/main" id="{28563443-A52B-65D5-4F03-F2858A0021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4176DB-384F-6844-30EC-DBA977C0C15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50323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A93E99-960A-6D1C-072A-C73D0765D8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DE"/>
          </a:p>
        </p:txBody>
      </p:sp>
      <p:sp>
        <p:nvSpPr>
          <p:cNvPr id="3" name="Text Placeholder 2">
            <a:extLst>
              <a:ext uri="{FF2B5EF4-FFF2-40B4-BE49-F238E27FC236}">
                <a16:creationId xmlns:a16="http://schemas.microsoft.com/office/drawing/2014/main" id="{AFEF8E26-06DA-36D1-ACA9-4565F1957C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ECACC647-12F8-647E-0179-6D2203AD8F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CAD085-E8A6-8845-BD4E-CB4CCA059FC4}" type="datetimeFigureOut">
              <a:rPr lang="en-US" smtClean="0"/>
              <a:t>9/24/26</a:t>
            </a:fld>
            <a:endParaRPr lang="en-US"/>
          </a:p>
        </p:txBody>
      </p:sp>
      <p:sp>
        <p:nvSpPr>
          <p:cNvPr id="5" name="Footer Placeholder 4">
            <a:extLst>
              <a:ext uri="{FF2B5EF4-FFF2-40B4-BE49-F238E27FC236}">
                <a16:creationId xmlns:a16="http://schemas.microsoft.com/office/drawing/2014/main" id="{AC7A55E3-611F-519F-B976-FFEAFE3372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78CFEB2-CA6B-6D8E-F16F-3C15D3F1C9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50548394"/>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3750"/>
        </a:solidFill>
        <a:effectLst/>
      </p:bgPr>
    </p:bg>
    <p:spTree>
      <p:nvGrpSpPr>
        <p:cNvPr id="1" name=""/>
        <p:cNvGrpSpPr/>
        <p:nvPr/>
      </p:nvGrpSpPr>
      <p:grpSpPr>
        <a:xfrm>
          <a:off x="0" y="0"/>
          <a:ext cx="0" cy="0"/>
          <a:chOff x="0" y="0"/>
          <a:chExt cx="0" cy="0"/>
        </a:xfrm>
      </p:grpSpPr>
      <p:pic>
        <p:nvPicPr>
          <p:cNvPr id="2" name="Picture 1" descr="frb_sky_distribution_petroff.png"/>
          <p:cNvPicPr>
            <a:picLocks noChangeAspect="1"/>
          </p:cNvPicPr>
          <p:nvPr/>
        </p:nvPicPr>
        <p:blipFill>
          <a:blip r:embed="rId3"/>
          <a:srcRect l="27371" r="27371"/>
          <a:stretch>
            <a:fillRect/>
          </a:stretch>
        </p:blipFill>
        <p:spPr>
          <a:xfrm>
            <a:off x="5806440" y="0"/>
            <a:ext cx="6382512" cy="6858000"/>
          </a:xfrm>
          <a:prstGeom prst="rect">
            <a:avLst/>
          </a:prstGeom>
        </p:spPr>
      </p:pic>
      <p:sp>
        <p:nvSpPr>
          <p:cNvPr id="3" name="Rectangle 2"/>
          <p:cNvSpPr/>
          <p:nvPr/>
        </p:nvSpPr>
        <p:spPr>
          <a:xfrm>
            <a:off x="5715000" y="0"/>
            <a:ext cx="109728" cy="6858000"/>
          </a:xfrm>
          <a:prstGeom prst="rect">
            <a:avLst/>
          </a:prstGeom>
          <a:solidFill>
            <a:srgbClr val="DD5B4A"/>
          </a:solidFill>
          <a:ln>
            <a:solidFill>
              <a:srgbClr val="DD5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621792"/>
            <a:ext cx="4206240" cy="274320"/>
          </a:xfrm>
          <a:prstGeom prst="rect">
            <a:avLst/>
          </a:prstGeom>
          <a:noFill/>
        </p:spPr>
        <p:txBody>
          <a:bodyPr wrap="square" lIns="36576" tIns="36576" rIns="36576" bIns="36576" anchor="t">
            <a:spAutoFit/>
          </a:bodyPr>
          <a:lstStyle/>
          <a:p>
            <a:pPr algn="l">
              <a:spcAft>
                <a:spcPts val="0"/>
              </a:spcAft>
            </a:pPr>
            <a:r>
              <a:rPr sz="1200" b="1">
                <a:solidFill>
                  <a:srgbClr val="DDA33A"/>
                </a:solidFill>
                <a:latin typeface="Aptos"/>
              </a:rPr>
              <a:t>BACHELOR THESIS</a:t>
            </a:r>
          </a:p>
        </p:txBody>
      </p:sp>
      <p:sp>
        <p:nvSpPr>
          <p:cNvPr id="5" name="TextBox 4"/>
          <p:cNvSpPr txBox="1"/>
          <p:nvPr/>
        </p:nvSpPr>
        <p:spPr>
          <a:xfrm>
            <a:off x="658368" y="1234440"/>
            <a:ext cx="4572000" cy="1600200"/>
          </a:xfrm>
          <a:prstGeom prst="rect">
            <a:avLst/>
          </a:prstGeom>
          <a:noFill/>
        </p:spPr>
        <p:txBody>
          <a:bodyPr wrap="square" lIns="36576" tIns="36576" rIns="36576" bIns="36576" anchor="t">
            <a:spAutoFit/>
          </a:bodyPr>
          <a:lstStyle/>
          <a:p>
            <a:pPr algn="l">
              <a:spcAft>
                <a:spcPts val="0"/>
              </a:spcAft>
            </a:pPr>
            <a:r>
              <a:rPr sz="3300" b="1">
                <a:solidFill>
                  <a:srgbClr val="FFFFFF"/>
                </a:solidFill>
                <a:latin typeface="Aptos Display"/>
              </a:rPr>
              <a:t>Probing Fast Radio
Burst Environments</a:t>
            </a:r>
          </a:p>
        </p:txBody>
      </p:sp>
      <p:sp>
        <p:nvSpPr>
          <p:cNvPr id="6" name="TextBox 5"/>
          <p:cNvSpPr txBox="1"/>
          <p:nvPr/>
        </p:nvSpPr>
        <p:spPr>
          <a:xfrm>
            <a:off x="685800" y="3127248"/>
            <a:ext cx="4480560" cy="822960"/>
          </a:xfrm>
          <a:prstGeom prst="rect">
            <a:avLst/>
          </a:prstGeom>
          <a:noFill/>
        </p:spPr>
        <p:txBody>
          <a:bodyPr wrap="square" lIns="36576" tIns="36576" rIns="36576" bIns="36576" anchor="t">
            <a:spAutoFit/>
          </a:bodyPr>
          <a:lstStyle/>
          <a:p>
            <a:pPr algn="l">
              <a:spcAft>
                <a:spcPts val="0"/>
              </a:spcAft>
            </a:pPr>
            <a:r>
              <a:rPr sz="1700" b="0">
                <a:solidFill>
                  <a:srgbClr val="D7E2E8"/>
                </a:solidFill>
                <a:latin typeface="Aptos"/>
              </a:rPr>
              <a:t>Cross-correlating deep and shallow FRB surveys with KiDS DR5</a:t>
            </a:r>
          </a:p>
        </p:txBody>
      </p:sp>
      <p:sp>
        <p:nvSpPr>
          <p:cNvPr id="7" name="Rectangle 6"/>
          <p:cNvSpPr/>
          <p:nvPr/>
        </p:nvSpPr>
        <p:spPr>
          <a:xfrm>
            <a:off x="685800" y="4315968"/>
            <a:ext cx="914400" cy="54864"/>
          </a:xfrm>
          <a:prstGeom prst="rect">
            <a:avLst/>
          </a:prstGeom>
          <a:solidFill>
            <a:srgbClr val="188985"/>
          </a:solidFill>
          <a:ln>
            <a:solidFill>
              <a:srgbClr val="1889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4663440"/>
            <a:ext cx="2926080" cy="320040"/>
          </a:xfrm>
          <a:prstGeom prst="rect">
            <a:avLst/>
          </a:prstGeom>
          <a:noFill/>
        </p:spPr>
        <p:txBody>
          <a:bodyPr wrap="square" lIns="36576" tIns="36576" rIns="36576" bIns="36576" anchor="t">
            <a:spAutoFit/>
          </a:bodyPr>
          <a:lstStyle/>
          <a:p>
            <a:pPr algn="l">
              <a:spcAft>
                <a:spcPts val="0"/>
              </a:spcAft>
            </a:pPr>
            <a:r>
              <a:rPr sz="1400" b="1">
                <a:solidFill>
                  <a:srgbClr val="FFFFFF"/>
                </a:solidFill>
                <a:latin typeface="Aptos"/>
              </a:rPr>
              <a:t>WILL RUPPERT</a:t>
            </a:r>
          </a:p>
        </p:txBody>
      </p:sp>
      <p:sp>
        <p:nvSpPr>
          <p:cNvPr id="9" name="TextBox 8"/>
          <p:cNvSpPr txBox="1"/>
          <p:nvPr/>
        </p:nvSpPr>
        <p:spPr>
          <a:xfrm>
            <a:off x="685800" y="5074920"/>
            <a:ext cx="3383280" cy="274320"/>
          </a:xfrm>
          <a:prstGeom prst="rect">
            <a:avLst/>
          </a:prstGeom>
          <a:noFill/>
        </p:spPr>
        <p:txBody>
          <a:bodyPr wrap="square" lIns="36576" tIns="36576" rIns="36576" bIns="36576" anchor="t">
            <a:spAutoFit/>
          </a:bodyPr>
          <a:lstStyle/>
          <a:p>
            <a:pPr algn="l">
              <a:spcAft>
                <a:spcPts val="0"/>
              </a:spcAft>
            </a:pPr>
            <a:r>
              <a:rPr sz="1100" b="0">
                <a:solidFill>
                  <a:srgbClr val="BECDD5"/>
                </a:solidFill>
                <a:latin typeface="Aptos"/>
              </a:rPr>
              <a:t>TU Dortmund University | 2026</a:t>
            </a:r>
          </a:p>
        </p:txBody>
      </p:sp>
      <p:sp>
        <p:nvSpPr>
          <p:cNvPr id="10" name="TextBox 9"/>
          <p:cNvSpPr txBox="1"/>
          <p:nvPr/>
        </p:nvSpPr>
        <p:spPr>
          <a:xfrm>
            <a:off x="685800" y="5806440"/>
            <a:ext cx="4572000" cy="475488"/>
          </a:xfrm>
          <a:prstGeom prst="rect">
            <a:avLst/>
          </a:prstGeom>
          <a:noFill/>
        </p:spPr>
        <p:txBody>
          <a:bodyPr wrap="square" lIns="36576" tIns="36576" rIns="36576" bIns="36576" anchor="t">
            <a:spAutoFit/>
          </a:bodyPr>
          <a:lstStyle/>
          <a:p>
            <a:pPr algn="l">
              <a:spcAft>
                <a:spcPts val="0"/>
              </a:spcAft>
            </a:pPr>
            <a:r>
              <a:rPr sz="1400" b="1">
                <a:solidFill>
                  <a:srgbClr val="DDA33A"/>
                </a:solidFill>
                <a:latin typeface="Aptos"/>
              </a:rPr>
              <a:t>What can spatial clustering reveal about FRB progenitors?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188985"/>
          </a:solidFill>
          <a:ln>
            <a:solidFill>
              <a:srgbClr val="1889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566928" cy="320040"/>
          </a:xfrm>
          <a:prstGeom prst="rect">
            <a:avLst/>
          </a:prstGeom>
          <a:noFill/>
        </p:spPr>
        <p:txBody>
          <a:bodyPr wrap="square" lIns="36576" tIns="36576" rIns="36576" bIns="36576" anchor="t">
            <a:spAutoFit/>
          </a:bodyPr>
          <a:lstStyle/>
          <a:p>
            <a:pPr algn="l">
              <a:spcAft>
                <a:spcPts val="0"/>
              </a:spcAft>
            </a:pPr>
            <a:r>
              <a:rPr sz="1300" b="1">
                <a:solidFill>
                  <a:srgbClr val="DD5B4A"/>
                </a:solidFill>
                <a:latin typeface="Aptos"/>
              </a:rPr>
              <a:t>02</a:t>
            </a:r>
          </a:p>
        </p:txBody>
      </p:sp>
      <p:sp>
        <p:nvSpPr>
          <p:cNvPr id="4" name="TextBox 3"/>
          <p:cNvSpPr txBox="1"/>
          <p:nvPr/>
        </p:nvSpPr>
        <p:spPr>
          <a:xfrm>
            <a:off x="1143000" y="320040"/>
            <a:ext cx="2926080" cy="256032"/>
          </a:xfrm>
          <a:prstGeom prst="rect">
            <a:avLst/>
          </a:prstGeom>
          <a:noFill/>
        </p:spPr>
        <p:txBody>
          <a:bodyPr wrap="square" lIns="36576" tIns="36576" rIns="36576" bIns="36576" anchor="t">
            <a:spAutoFit/>
          </a:bodyPr>
          <a:lstStyle/>
          <a:p>
            <a:pPr algn="l">
              <a:spcAft>
                <a:spcPts val="0"/>
              </a:spcAft>
            </a:pPr>
            <a:r>
              <a:rPr sz="1000" b="1">
                <a:solidFill>
                  <a:srgbClr val="5B6771"/>
                </a:solidFill>
                <a:latin typeface="Aptos"/>
              </a:rPr>
              <a:t>MOTIVATION</a:t>
            </a:r>
          </a:p>
        </p:txBody>
      </p:sp>
      <p:sp>
        <p:nvSpPr>
          <p:cNvPr id="5" name="TextBox 4"/>
          <p:cNvSpPr txBox="1"/>
          <p:nvPr/>
        </p:nvSpPr>
        <p:spPr>
          <a:xfrm>
            <a:off x="502920" y="676656"/>
            <a:ext cx="10881360" cy="566928"/>
          </a:xfrm>
          <a:prstGeom prst="rect">
            <a:avLst/>
          </a:prstGeom>
          <a:noFill/>
        </p:spPr>
        <p:txBody>
          <a:bodyPr wrap="square" lIns="36576" tIns="36576" rIns="36576" bIns="36576" anchor="t">
            <a:spAutoFit/>
          </a:bodyPr>
          <a:lstStyle/>
          <a:p>
            <a:pPr algn="l">
              <a:spcAft>
                <a:spcPts val="0"/>
              </a:spcAft>
            </a:pPr>
            <a:r>
              <a:rPr sz="2800" b="1">
                <a:solidFill>
                  <a:srgbClr val="1C3750"/>
                </a:solidFill>
                <a:latin typeface="Aptos Display"/>
              </a:rPr>
              <a:t>Why Fast Radio Bursts?</a:t>
            </a:r>
          </a:p>
        </p:txBody>
      </p:sp>
      <p:sp>
        <p:nvSpPr>
          <p:cNvPr id="6" name="Rectangle 5"/>
          <p:cNvSpPr/>
          <p:nvPr/>
        </p:nvSpPr>
        <p:spPr>
          <a:xfrm>
            <a:off x="502920" y="1344168"/>
            <a:ext cx="10972800" cy="13716"/>
          </a:xfrm>
          <a:prstGeom prst="rect">
            <a:avLst/>
          </a:prstGeom>
          <a:solidFill>
            <a:srgbClr val="D2D7D7"/>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rb_sky_distribution_petroff.png"/>
          <p:cNvPicPr>
            <a:picLocks noChangeAspect="1"/>
          </p:cNvPicPr>
          <p:nvPr/>
        </p:nvPicPr>
        <p:blipFill>
          <a:blip r:embed="rId3"/>
          <a:stretch>
            <a:fillRect/>
          </a:stretch>
        </p:blipFill>
        <p:spPr>
          <a:xfrm>
            <a:off x="5257800" y="2123474"/>
            <a:ext cx="6309360" cy="3068250"/>
          </a:xfrm>
          <a:prstGeom prst="rect">
            <a:avLst/>
          </a:prstGeom>
        </p:spPr>
      </p:pic>
      <p:sp>
        <p:nvSpPr>
          <p:cNvPr id="8" name="Rounded Rectangle 7"/>
          <p:cNvSpPr/>
          <p:nvPr/>
        </p:nvSpPr>
        <p:spPr>
          <a:xfrm>
            <a:off x="594360" y="1691640"/>
            <a:ext cx="1920240" cy="96012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8952" y="1819656"/>
            <a:ext cx="1591056" cy="384048"/>
          </a:xfrm>
          <a:prstGeom prst="rect">
            <a:avLst/>
          </a:prstGeom>
          <a:noFill/>
        </p:spPr>
        <p:txBody>
          <a:bodyPr wrap="square" lIns="36576" tIns="36576" rIns="36576" bIns="36576" anchor="t">
            <a:spAutoFit/>
          </a:bodyPr>
          <a:lstStyle/>
          <a:p>
            <a:pPr algn="l">
              <a:spcAft>
                <a:spcPts val="0"/>
              </a:spcAft>
            </a:pPr>
            <a:r>
              <a:rPr sz="2400" b="1">
                <a:solidFill>
                  <a:srgbClr val="DD5B4A"/>
                </a:solidFill>
                <a:latin typeface="Aptos Display"/>
              </a:rPr>
              <a:t>&lt; 1 ms</a:t>
            </a:r>
          </a:p>
        </p:txBody>
      </p:sp>
      <p:sp>
        <p:nvSpPr>
          <p:cNvPr id="10" name="TextBox 9"/>
          <p:cNvSpPr txBox="1"/>
          <p:nvPr/>
        </p:nvSpPr>
        <p:spPr>
          <a:xfrm>
            <a:off x="758952" y="2258568"/>
            <a:ext cx="1591056" cy="219456"/>
          </a:xfrm>
          <a:prstGeom prst="rect">
            <a:avLst/>
          </a:prstGeom>
          <a:noFill/>
        </p:spPr>
        <p:txBody>
          <a:bodyPr wrap="square" lIns="36576" tIns="36576" rIns="36576" bIns="36576" anchor="t">
            <a:spAutoFit/>
          </a:bodyPr>
          <a:lstStyle/>
          <a:p>
            <a:pPr algn="l">
              <a:spcAft>
                <a:spcPts val="0"/>
              </a:spcAft>
            </a:pPr>
            <a:r>
              <a:rPr sz="1000" b="1">
                <a:solidFill>
                  <a:srgbClr val="5B6771"/>
                </a:solidFill>
                <a:latin typeface="Aptos"/>
              </a:rPr>
              <a:t>TYPICAL DURATION</a:t>
            </a:r>
          </a:p>
        </p:txBody>
      </p:sp>
      <p:sp>
        <p:nvSpPr>
          <p:cNvPr id="11" name="Rounded Rectangle 10"/>
          <p:cNvSpPr/>
          <p:nvPr/>
        </p:nvSpPr>
        <p:spPr>
          <a:xfrm>
            <a:off x="2697480" y="1691640"/>
            <a:ext cx="2057400" cy="96012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62072" y="1819656"/>
            <a:ext cx="1728216" cy="384048"/>
          </a:xfrm>
          <a:prstGeom prst="rect">
            <a:avLst/>
          </a:prstGeom>
          <a:noFill/>
        </p:spPr>
        <p:txBody>
          <a:bodyPr wrap="square" lIns="36576" tIns="36576" rIns="36576" bIns="36576" anchor="t">
            <a:spAutoFit/>
          </a:bodyPr>
          <a:lstStyle/>
          <a:p>
            <a:pPr algn="l">
              <a:spcAft>
                <a:spcPts val="0"/>
              </a:spcAft>
            </a:pPr>
            <a:r>
              <a:rPr sz="2400" b="1">
                <a:solidFill>
                  <a:srgbClr val="188985"/>
                </a:solidFill>
                <a:latin typeface="Aptos Display"/>
              </a:rPr>
              <a:t>4,539</a:t>
            </a:r>
          </a:p>
        </p:txBody>
      </p:sp>
      <p:sp>
        <p:nvSpPr>
          <p:cNvPr id="13" name="TextBox 12"/>
          <p:cNvSpPr txBox="1"/>
          <p:nvPr/>
        </p:nvSpPr>
        <p:spPr>
          <a:xfrm>
            <a:off x="2862072" y="2258568"/>
            <a:ext cx="1728216" cy="219456"/>
          </a:xfrm>
          <a:prstGeom prst="rect">
            <a:avLst/>
          </a:prstGeom>
          <a:noFill/>
        </p:spPr>
        <p:txBody>
          <a:bodyPr wrap="square" lIns="36576" tIns="36576" rIns="36576" bIns="36576" anchor="t">
            <a:spAutoFit/>
          </a:bodyPr>
          <a:lstStyle/>
          <a:p>
            <a:pPr algn="l">
              <a:spcAft>
                <a:spcPts val="0"/>
              </a:spcAft>
            </a:pPr>
            <a:r>
              <a:rPr sz="1000" b="1">
                <a:solidFill>
                  <a:srgbClr val="5B6771"/>
                </a:solidFill>
                <a:latin typeface="Aptos"/>
              </a:rPr>
              <a:t>BURSTS IN CHIME/FRB 2</a:t>
            </a:r>
          </a:p>
        </p:txBody>
      </p:sp>
      <p:sp>
        <p:nvSpPr>
          <p:cNvPr id="14" name="TextBox 13"/>
          <p:cNvSpPr txBox="1"/>
          <p:nvPr/>
        </p:nvSpPr>
        <p:spPr>
          <a:xfrm>
            <a:off x="658368" y="2971800"/>
            <a:ext cx="4297680" cy="2743200"/>
          </a:xfrm>
          <a:prstGeom prst="rect">
            <a:avLst/>
          </a:prstGeom>
          <a:noFill/>
        </p:spPr>
        <p:txBody>
          <a:bodyPr wrap="square" lIns="27432" tIns="27432" rIns="27432" bIns="27432">
            <a:spAutoFit/>
          </a:bodyPr>
          <a:lstStyle/>
          <a:p>
            <a:pPr>
              <a:lnSpc>
                <a:spcPct val="108000"/>
              </a:lnSpc>
              <a:spcAft>
                <a:spcPts val="1200"/>
              </a:spcAft>
              <a:defRPr sz="1800">
                <a:solidFill>
                  <a:srgbClr val="182331"/>
                </a:solidFill>
                <a:latin typeface="Aptos"/>
              </a:defRPr>
            </a:pPr>
            <a:r>
              <a:t>Extreme radio luminosity</a:t>
            </a:r>
          </a:p>
          <a:p>
            <a:pPr>
              <a:lnSpc>
                <a:spcPct val="108000"/>
              </a:lnSpc>
              <a:spcAft>
                <a:spcPts val="1200"/>
              </a:spcAft>
              <a:defRPr sz="1800">
                <a:solidFill>
                  <a:srgbClr val="182331"/>
                </a:solidFill>
                <a:latin typeface="Aptos"/>
              </a:defRPr>
            </a:pPr>
            <a:r>
              <a:t>Dispersion implies cosmological distances</a:t>
            </a:r>
          </a:p>
          <a:p>
            <a:pPr>
              <a:lnSpc>
                <a:spcPct val="108000"/>
              </a:lnSpc>
              <a:spcAft>
                <a:spcPts val="1200"/>
              </a:spcAft>
              <a:defRPr sz="1800">
                <a:solidFill>
                  <a:srgbClr val="182331"/>
                </a:solidFill>
                <a:latin typeface="Aptos"/>
              </a:defRPr>
            </a:pPr>
            <a:r>
              <a:t>3,641 distinct sources</a:t>
            </a:r>
          </a:p>
          <a:p>
            <a:pPr>
              <a:lnSpc>
                <a:spcPct val="108000"/>
              </a:lnSpc>
              <a:spcAft>
                <a:spcPts val="1200"/>
              </a:spcAft>
              <a:defRPr sz="1800">
                <a:solidFill>
                  <a:srgbClr val="182331"/>
                </a:solidFill>
                <a:latin typeface="Aptos"/>
              </a:defRPr>
            </a:pPr>
            <a:r>
              <a:t>Astrophysical origin remains uncertain</a:t>
            </a:r>
          </a:p>
        </p:txBody>
      </p:sp>
      <p:sp>
        <p:nvSpPr>
          <p:cNvPr id="15" name="TextBox 14"/>
          <p:cNvSpPr txBox="1"/>
          <p:nvPr/>
        </p:nvSpPr>
        <p:spPr>
          <a:xfrm>
            <a:off x="530352" y="6565392"/>
            <a:ext cx="3108960" cy="164592"/>
          </a:xfrm>
          <a:prstGeom prst="rect">
            <a:avLst/>
          </a:prstGeom>
          <a:noFill/>
        </p:spPr>
        <p:txBody>
          <a:bodyPr wrap="square" lIns="36576" tIns="36576" rIns="36576" bIns="36576" anchor="t">
            <a:spAutoFit/>
          </a:bodyPr>
          <a:lstStyle/>
          <a:p>
            <a:pPr algn="l">
              <a:spcAft>
                <a:spcPts val="0"/>
              </a:spcAft>
            </a:pPr>
            <a:r>
              <a:rPr sz="850" b="0">
                <a:solidFill>
                  <a:srgbClr val="5B6771"/>
                </a:solidFill>
                <a:latin typeface="Aptos"/>
              </a:rPr>
              <a:t>Will Ruppert | Bachelor Thesis</a:t>
            </a:r>
          </a:p>
        </p:txBody>
      </p:sp>
      <p:sp>
        <p:nvSpPr>
          <p:cNvPr id="16" name="TextBox 15"/>
          <p:cNvSpPr txBox="1"/>
          <p:nvPr/>
        </p:nvSpPr>
        <p:spPr>
          <a:xfrm>
            <a:off x="11064240" y="6537960"/>
            <a:ext cx="502920" cy="201168"/>
          </a:xfrm>
          <a:prstGeom prst="rect">
            <a:avLst/>
          </a:prstGeom>
          <a:noFill/>
        </p:spPr>
        <p:txBody>
          <a:bodyPr wrap="square" lIns="36576" tIns="36576" rIns="36576" bIns="36576" anchor="t">
            <a:spAutoFit/>
          </a:bodyPr>
          <a:lstStyle/>
          <a:p>
            <a:pPr algn="r">
              <a:spcAft>
                <a:spcPts val="0"/>
              </a:spcAft>
            </a:pPr>
            <a:r>
              <a:rPr sz="900" b="1">
                <a:solidFill>
                  <a:srgbClr val="5B6771"/>
                </a:solidFill>
                <a:latin typeface="Apto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188985"/>
          </a:solidFill>
          <a:ln>
            <a:solidFill>
              <a:srgbClr val="1889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566928" cy="320040"/>
          </a:xfrm>
          <a:prstGeom prst="rect">
            <a:avLst/>
          </a:prstGeom>
          <a:noFill/>
        </p:spPr>
        <p:txBody>
          <a:bodyPr wrap="square" lIns="36576" tIns="36576" rIns="36576" bIns="36576" anchor="t">
            <a:spAutoFit/>
          </a:bodyPr>
          <a:lstStyle/>
          <a:p>
            <a:pPr algn="l">
              <a:spcAft>
                <a:spcPts val="0"/>
              </a:spcAft>
            </a:pPr>
            <a:r>
              <a:rPr sz="1300" b="1">
                <a:solidFill>
                  <a:srgbClr val="DD5B4A"/>
                </a:solidFill>
                <a:latin typeface="Aptos"/>
              </a:rPr>
              <a:t>03</a:t>
            </a:r>
          </a:p>
        </p:txBody>
      </p:sp>
      <p:sp>
        <p:nvSpPr>
          <p:cNvPr id="4" name="TextBox 3"/>
          <p:cNvSpPr txBox="1"/>
          <p:nvPr/>
        </p:nvSpPr>
        <p:spPr>
          <a:xfrm>
            <a:off x="1143000" y="320040"/>
            <a:ext cx="2926080" cy="256032"/>
          </a:xfrm>
          <a:prstGeom prst="rect">
            <a:avLst/>
          </a:prstGeom>
          <a:noFill/>
        </p:spPr>
        <p:txBody>
          <a:bodyPr wrap="square" lIns="36576" tIns="36576" rIns="36576" bIns="36576" anchor="t">
            <a:spAutoFit/>
          </a:bodyPr>
          <a:lstStyle/>
          <a:p>
            <a:pPr algn="l">
              <a:spcAft>
                <a:spcPts val="0"/>
              </a:spcAft>
            </a:pPr>
            <a:r>
              <a:rPr sz="1000" b="1">
                <a:solidFill>
                  <a:srgbClr val="5B6771"/>
                </a:solidFill>
                <a:latin typeface="Aptos"/>
              </a:rPr>
              <a:t>PHYSICAL PICTURE</a:t>
            </a:r>
          </a:p>
        </p:txBody>
      </p:sp>
      <p:sp>
        <p:nvSpPr>
          <p:cNvPr id="5" name="TextBox 4"/>
          <p:cNvSpPr txBox="1"/>
          <p:nvPr/>
        </p:nvSpPr>
        <p:spPr>
          <a:xfrm>
            <a:off x="502920" y="676656"/>
            <a:ext cx="10881360" cy="566928"/>
          </a:xfrm>
          <a:prstGeom prst="rect">
            <a:avLst/>
          </a:prstGeom>
          <a:noFill/>
        </p:spPr>
        <p:txBody>
          <a:bodyPr wrap="square" lIns="36576" tIns="36576" rIns="36576" bIns="36576" anchor="t">
            <a:spAutoFit/>
          </a:bodyPr>
          <a:lstStyle/>
          <a:p>
            <a:pPr algn="l">
              <a:spcAft>
                <a:spcPts val="0"/>
              </a:spcAft>
            </a:pPr>
            <a:r>
              <a:rPr sz="2800" b="1" dirty="0">
                <a:solidFill>
                  <a:srgbClr val="1C3750"/>
                </a:solidFill>
                <a:latin typeface="Aptos Display"/>
              </a:rPr>
              <a:t>Two Possible Progenitor Models</a:t>
            </a:r>
          </a:p>
        </p:txBody>
      </p:sp>
      <p:sp>
        <p:nvSpPr>
          <p:cNvPr id="6" name="Rectangle 5"/>
          <p:cNvSpPr/>
          <p:nvPr/>
        </p:nvSpPr>
        <p:spPr>
          <a:xfrm>
            <a:off x="502920" y="1344168"/>
            <a:ext cx="10972800" cy="13716"/>
          </a:xfrm>
          <a:prstGeom prst="rect">
            <a:avLst/>
          </a:prstGeom>
          <a:solidFill>
            <a:srgbClr val="D2D7D7"/>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74519"/>
            <a:ext cx="2468880" cy="320040"/>
          </a:xfrm>
          <a:prstGeom prst="rect">
            <a:avLst/>
          </a:prstGeom>
          <a:noFill/>
        </p:spPr>
        <p:txBody>
          <a:bodyPr wrap="square" lIns="36576" tIns="36576" rIns="36576" bIns="36576" anchor="t">
            <a:spAutoFit/>
          </a:bodyPr>
          <a:lstStyle/>
          <a:p>
            <a:pPr algn="l">
              <a:spcAft>
                <a:spcPts val="0"/>
              </a:spcAft>
            </a:pPr>
            <a:r>
              <a:rPr sz="1600" b="1">
                <a:solidFill>
                  <a:srgbClr val="DD5B4A"/>
                </a:solidFill>
                <a:latin typeface="Aptos"/>
              </a:rPr>
              <a:t>YOUNG MAGNETARS</a:t>
            </a:r>
          </a:p>
        </p:txBody>
      </p:sp>
      <p:sp>
        <p:nvSpPr>
          <p:cNvPr id="9" name="TextBox 8"/>
          <p:cNvSpPr txBox="1"/>
          <p:nvPr/>
        </p:nvSpPr>
        <p:spPr>
          <a:xfrm>
            <a:off x="868680" y="2350008"/>
            <a:ext cx="2377440" cy="960120"/>
          </a:xfrm>
          <a:prstGeom prst="rect">
            <a:avLst/>
          </a:prstGeom>
          <a:noFill/>
        </p:spPr>
        <p:txBody>
          <a:bodyPr wrap="square" lIns="36576" tIns="36576" rIns="36576" bIns="36576" anchor="t">
            <a:spAutoFit/>
          </a:bodyPr>
          <a:lstStyle/>
          <a:p>
            <a:pPr algn="l">
              <a:spcAft>
                <a:spcPts val="0"/>
              </a:spcAft>
            </a:pPr>
            <a:r>
              <a:rPr sz="1700" b="0" dirty="0">
                <a:solidFill>
                  <a:srgbClr val="182331"/>
                </a:solidFill>
                <a:latin typeface="Aptos"/>
              </a:rPr>
              <a:t>Active star formation
Short delay time
b₀ = 1.0  |  </a:t>
            </a:r>
            <a:r>
              <a:rPr sz="1700" b="0" dirty="0" err="1">
                <a:solidFill>
                  <a:srgbClr val="182331"/>
                </a:solidFill>
                <a:latin typeface="Aptos"/>
              </a:rPr>
              <a:t>δ</a:t>
            </a:r>
            <a:r>
              <a:rPr sz="1700" b="0" dirty="0">
                <a:solidFill>
                  <a:srgbClr val="182331"/>
                </a:solidFill>
                <a:latin typeface="Aptos"/>
              </a:rPr>
              <a:t> = 0.8</a:t>
            </a:r>
          </a:p>
        </p:txBody>
      </p:sp>
      <p:sp>
        <p:nvSpPr>
          <p:cNvPr id="11" name="TextBox 10"/>
          <p:cNvSpPr txBox="1"/>
          <p:nvPr/>
        </p:nvSpPr>
        <p:spPr>
          <a:xfrm>
            <a:off x="868680" y="3977639"/>
            <a:ext cx="2468880" cy="320040"/>
          </a:xfrm>
          <a:prstGeom prst="rect">
            <a:avLst/>
          </a:prstGeom>
          <a:noFill/>
        </p:spPr>
        <p:txBody>
          <a:bodyPr wrap="square" lIns="36576" tIns="36576" rIns="36576" bIns="36576" anchor="t">
            <a:spAutoFit/>
          </a:bodyPr>
          <a:lstStyle/>
          <a:p>
            <a:pPr algn="l">
              <a:spcAft>
                <a:spcPts val="0"/>
              </a:spcAft>
            </a:pPr>
            <a:r>
              <a:rPr sz="1600" b="1" dirty="0">
                <a:solidFill>
                  <a:srgbClr val="5C9BBD"/>
                </a:solidFill>
                <a:latin typeface="Aptos"/>
              </a:rPr>
              <a:t>DELAYED CHANNELS</a:t>
            </a:r>
          </a:p>
        </p:txBody>
      </p:sp>
      <p:sp>
        <p:nvSpPr>
          <p:cNvPr id="12" name="TextBox 11"/>
          <p:cNvSpPr txBox="1"/>
          <p:nvPr/>
        </p:nvSpPr>
        <p:spPr>
          <a:xfrm>
            <a:off x="914400" y="4297679"/>
            <a:ext cx="2377440" cy="960120"/>
          </a:xfrm>
          <a:prstGeom prst="rect">
            <a:avLst/>
          </a:prstGeom>
          <a:noFill/>
        </p:spPr>
        <p:txBody>
          <a:bodyPr wrap="square" lIns="36576" tIns="36576" rIns="36576" bIns="36576" anchor="t">
            <a:spAutoFit/>
          </a:bodyPr>
          <a:lstStyle/>
          <a:p>
            <a:pPr algn="l">
              <a:spcAft>
                <a:spcPts val="0"/>
              </a:spcAft>
            </a:pPr>
            <a:r>
              <a:rPr sz="1700" b="0" dirty="0">
                <a:solidFill>
                  <a:srgbClr val="182331"/>
                </a:solidFill>
                <a:latin typeface="Aptos"/>
              </a:rPr>
              <a:t>Older populations
Long delay time
b₀ = 1.5  |  </a:t>
            </a:r>
            <a:r>
              <a:rPr sz="1700" b="0" dirty="0" err="1">
                <a:solidFill>
                  <a:srgbClr val="182331"/>
                </a:solidFill>
                <a:latin typeface="Aptos"/>
              </a:rPr>
              <a:t>δ</a:t>
            </a:r>
            <a:r>
              <a:rPr sz="1700" b="0" dirty="0">
                <a:solidFill>
                  <a:srgbClr val="182331"/>
                </a:solidFill>
                <a:latin typeface="Aptos"/>
              </a:rPr>
              <a:t> = 0.2</a:t>
            </a:r>
          </a:p>
        </p:txBody>
      </p:sp>
      <p:pic>
        <p:nvPicPr>
          <p:cNvPr id="13" name="Picture 12" descr="FRB_bias_bz.png"/>
          <p:cNvPicPr>
            <a:picLocks noChangeAspect="1"/>
          </p:cNvPicPr>
          <p:nvPr/>
        </p:nvPicPr>
        <p:blipFill>
          <a:blip r:embed="rId3"/>
          <a:stretch>
            <a:fillRect/>
          </a:stretch>
        </p:blipFill>
        <p:spPr>
          <a:xfrm>
            <a:off x="4565991" y="1508760"/>
            <a:ext cx="6275656" cy="4480560"/>
          </a:xfrm>
          <a:prstGeom prst="rect">
            <a:avLst/>
          </a:prstGeom>
        </p:spPr>
      </p:pic>
      <p:sp>
        <p:nvSpPr>
          <p:cNvPr id="14" name="TextBox 13"/>
          <p:cNvSpPr txBox="1"/>
          <p:nvPr/>
        </p:nvSpPr>
        <p:spPr>
          <a:xfrm>
            <a:off x="6383890" y="6111323"/>
            <a:ext cx="3200400" cy="365760"/>
          </a:xfrm>
          <a:prstGeom prst="rect">
            <a:avLst/>
          </a:prstGeom>
          <a:noFill/>
        </p:spPr>
        <p:txBody>
          <a:bodyPr wrap="square" lIns="27432" tIns="18288" rIns="27432" bIns="18288">
            <a:spAutoFit/>
          </a:bodyPr>
          <a:lstStyle/>
          <a:p>
            <a:pPr algn="ctr">
              <a:spcAft>
                <a:spcPts val="0"/>
              </a:spcAft>
            </a:pPr>
            <a:r>
              <a:rPr sz="1800" b="0" dirty="0">
                <a:solidFill>
                  <a:srgbClr val="5B6771"/>
                </a:solidFill>
                <a:latin typeface="Aptos"/>
              </a:rPr>
              <a:t>Bias model:  </a:t>
            </a:r>
            <a:r>
              <a:rPr sz="1800" b="1" dirty="0">
                <a:solidFill>
                  <a:srgbClr val="1C3750"/>
                </a:solidFill>
                <a:latin typeface="Aptos"/>
              </a:rPr>
              <a:t>b(z) = b₀(1+z)ᵟ</a:t>
            </a:r>
          </a:p>
        </p:txBody>
      </p:sp>
      <p:sp>
        <p:nvSpPr>
          <p:cNvPr id="15" name="TextBox 14"/>
          <p:cNvSpPr txBox="1"/>
          <p:nvPr/>
        </p:nvSpPr>
        <p:spPr>
          <a:xfrm>
            <a:off x="530352" y="6565392"/>
            <a:ext cx="3108960" cy="164592"/>
          </a:xfrm>
          <a:prstGeom prst="rect">
            <a:avLst/>
          </a:prstGeom>
          <a:noFill/>
        </p:spPr>
        <p:txBody>
          <a:bodyPr wrap="square" lIns="36576" tIns="36576" rIns="36576" bIns="36576" anchor="t">
            <a:spAutoFit/>
          </a:bodyPr>
          <a:lstStyle/>
          <a:p>
            <a:pPr algn="l">
              <a:spcAft>
                <a:spcPts val="0"/>
              </a:spcAft>
            </a:pPr>
            <a:r>
              <a:rPr sz="850" b="0">
                <a:solidFill>
                  <a:srgbClr val="5B6771"/>
                </a:solidFill>
                <a:latin typeface="Aptos"/>
              </a:rPr>
              <a:t>Will Ruppert | Bachelor Thesis</a:t>
            </a:r>
          </a:p>
        </p:txBody>
      </p:sp>
      <p:sp>
        <p:nvSpPr>
          <p:cNvPr id="16" name="TextBox 15"/>
          <p:cNvSpPr txBox="1"/>
          <p:nvPr/>
        </p:nvSpPr>
        <p:spPr>
          <a:xfrm>
            <a:off x="11064240" y="6537960"/>
            <a:ext cx="502920" cy="201168"/>
          </a:xfrm>
          <a:prstGeom prst="rect">
            <a:avLst/>
          </a:prstGeom>
          <a:noFill/>
        </p:spPr>
        <p:txBody>
          <a:bodyPr wrap="square" lIns="36576" tIns="36576" rIns="36576" bIns="36576" anchor="t">
            <a:spAutoFit/>
          </a:bodyPr>
          <a:lstStyle/>
          <a:p>
            <a:pPr algn="r">
              <a:spcAft>
                <a:spcPts val="0"/>
              </a:spcAft>
            </a:pPr>
            <a:r>
              <a:rPr sz="900" b="1">
                <a:solidFill>
                  <a:srgbClr val="5B6771"/>
                </a:solidFill>
                <a:latin typeface="Apto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188985"/>
          </a:solidFill>
          <a:ln>
            <a:solidFill>
              <a:srgbClr val="1889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566928" cy="320040"/>
          </a:xfrm>
          <a:prstGeom prst="rect">
            <a:avLst/>
          </a:prstGeom>
          <a:noFill/>
        </p:spPr>
        <p:txBody>
          <a:bodyPr wrap="square" lIns="36576" tIns="36576" rIns="36576" bIns="36576" anchor="t">
            <a:spAutoFit/>
          </a:bodyPr>
          <a:lstStyle/>
          <a:p>
            <a:pPr algn="l">
              <a:spcAft>
                <a:spcPts val="0"/>
              </a:spcAft>
            </a:pPr>
            <a:r>
              <a:rPr sz="1300" b="1">
                <a:solidFill>
                  <a:srgbClr val="DD5B4A"/>
                </a:solidFill>
                <a:latin typeface="Aptos"/>
              </a:rPr>
              <a:t>04</a:t>
            </a:r>
          </a:p>
        </p:txBody>
      </p:sp>
      <p:sp>
        <p:nvSpPr>
          <p:cNvPr id="4" name="TextBox 3"/>
          <p:cNvSpPr txBox="1"/>
          <p:nvPr/>
        </p:nvSpPr>
        <p:spPr>
          <a:xfrm>
            <a:off x="1143000" y="320040"/>
            <a:ext cx="2926080" cy="256032"/>
          </a:xfrm>
          <a:prstGeom prst="rect">
            <a:avLst/>
          </a:prstGeom>
          <a:noFill/>
        </p:spPr>
        <p:txBody>
          <a:bodyPr wrap="square" lIns="36576" tIns="36576" rIns="36576" bIns="36576" anchor="t">
            <a:spAutoFit/>
          </a:bodyPr>
          <a:lstStyle/>
          <a:p>
            <a:pPr algn="l">
              <a:spcAft>
                <a:spcPts val="0"/>
              </a:spcAft>
            </a:pPr>
            <a:r>
              <a:rPr sz="1000" b="1">
                <a:solidFill>
                  <a:srgbClr val="5B6771"/>
                </a:solidFill>
                <a:latin typeface="Aptos"/>
              </a:rPr>
              <a:t>METHOD</a:t>
            </a:r>
          </a:p>
        </p:txBody>
      </p:sp>
      <p:sp>
        <p:nvSpPr>
          <p:cNvPr id="5" name="TextBox 4"/>
          <p:cNvSpPr txBox="1"/>
          <p:nvPr/>
        </p:nvSpPr>
        <p:spPr>
          <a:xfrm>
            <a:off x="502920" y="676656"/>
            <a:ext cx="10881360" cy="566928"/>
          </a:xfrm>
          <a:prstGeom prst="rect">
            <a:avLst/>
          </a:prstGeom>
          <a:noFill/>
        </p:spPr>
        <p:txBody>
          <a:bodyPr wrap="square" lIns="36576" tIns="36576" rIns="36576" bIns="36576" anchor="t">
            <a:spAutoFit/>
          </a:bodyPr>
          <a:lstStyle/>
          <a:p>
            <a:pPr algn="l">
              <a:spcAft>
                <a:spcPts val="0"/>
              </a:spcAft>
            </a:pPr>
            <a:r>
              <a:rPr sz="2800" b="1">
                <a:solidFill>
                  <a:srgbClr val="1C3750"/>
                </a:solidFill>
                <a:latin typeface="Aptos Display"/>
              </a:rPr>
              <a:t>The Basic Idea of Cross-Correlation</a:t>
            </a:r>
          </a:p>
        </p:txBody>
      </p:sp>
      <p:sp>
        <p:nvSpPr>
          <p:cNvPr id="6" name="Rectangle 5"/>
          <p:cNvSpPr/>
          <p:nvPr/>
        </p:nvSpPr>
        <p:spPr>
          <a:xfrm>
            <a:off x="502920" y="1344168"/>
            <a:ext cx="10972800" cy="13716"/>
          </a:xfrm>
          <a:prstGeom prst="rect">
            <a:avLst/>
          </a:prstGeom>
          <a:solidFill>
            <a:srgbClr val="D2D7D7"/>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691640"/>
            <a:ext cx="1920240" cy="274320"/>
          </a:xfrm>
          <a:prstGeom prst="rect">
            <a:avLst/>
          </a:prstGeom>
          <a:noFill/>
        </p:spPr>
        <p:txBody>
          <a:bodyPr wrap="square" lIns="36576" tIns="36576" rIns="36576" bIns="36576" anchor="t">
            <a:spAutoFit/>
          </a:bodyPr>
          <a:lstStyle/>
          <a:p>
            <a:pPr algn="l">
              <a:spcAft>
                <a:spcPts val="0"/>
              </a:spcAft>
            </a:pPr>
            <a:r>
              <a:rPr sz="1200" b="1">
                <a:solidFill>
                  <a:srgbClr val="DD5B4A"/>
                </a:solidFill>
                <a:latin typeface="Aptos"/>
              </a:rPr>
              <a:t>SAME SKY</a:t>
            </a:r>
          </a:p>
        </p:txBody>
      </p:sp>
      <p:sp>
        <p:nvSpPr>
          <p:cNvPr id="8" name="TextBox 7"/>
          <p:cNvSpPr txBox="1"/>
          <p:nvPr/>
        </p:nvSpPr>
        <p:spPr>
          <a:xfrm>
            <a:off x="658368" y="2057400"/>
            <a:ext cx="2926080" cy="914400"/>
          </a:xfrm>
          <a:prstGeom prst="rect">
            <a:avLst/>
          </a:prstGeom>
          <a:noFill/>
        </p:spPr>
        <p:txBody>
          <a:bodyPr wrap="square" lIns="36576" tIns="36576" rIns="36576" bIns="36576" anchor="t">
            <a:spAutoFit/>
          </a:bodyPr>
          <a:lstStyle/>
          <a:p>
            <a:pPr algn="l">
              <a:spcAft>
                <a:spcPts val="0"/>
              </a:spcAft>
            </a:pPr>
            <a:r>
              <a:rPr sz="2100" b="1">
                <a:solidFill>
                  <a:srgbClr val="1C3750"/>
                </a:solidFill>
                <a:latin typeface="Aptos"/>
              </a:rPr>
              <a:t>FRBs and galaxies trace the same underlying matter field.</a:t>
            </a:r>
          </a:p>
        </p:txBody>
      </p:sp>
      <p:sp>
        <p:nvSpPr>
          <p:cNvPr id="9" name="TextBox 8"/>
          <p:cNvSpPr txBox="1"/>
          <p:nvPr/>
        </p:nvSpPr>
        <p:spPr>
          <a:xfrm>
            <a:off x="658368" y="3246120"/>
            <a:ext cx="2971800" cy="1005840"/>
          </a:xfrm>
          <a:prstGeom prst="rect">
            <a:avLst/>
          </a:prstGeom>
          <a:noFill/>
        </p:spPr>
        <p:txBody>
          <a:bodyPr wrap="square" lIns="36576" tIns="36576" rIns="36576" bIns="36576" anchor="t">
            <a:spAutoFit/>
          </a:bodyPr>
          <a:lstStyle/>
          <a:p>
            <a:pPr algn="l">
              <a:spcAft>
                <a:spcPts val="0"/>
              </a:spcAft>
            </a:pPr>
            <a:r>
              <a:rPr sz="1700" b="0">
                <a:solidFill>
                  <a:srgbClr val="5B6771"/>
                </a:solidFill>
                <a:latin typeface="Aptos"/>
              </a:rPr>
              <a:t>A cross-signal appears only where their redshift distributions overlap.</a:t>
            </a:r>
          </a:p>
        </p:txBody>
      </p:sp>
      <p:sp>
        <p:nvSpPr>
          <p:cNvPr id="10" name="Rounded Rectangle 9"/>
          <p:cNvSpPr/>
          <p:nvPr/>
        </p:nvSpPr>
        <p:spPr>
          <a:xfrm>
            <a:off x="4069080" y="1645920"/>
            <a:ext cx="7360920" cy="416052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89120" y="2057400"/>
            <a:ext cx="676656" cy="3337560"/>
          </a:xfrm>
          <a:prstGeom prst="roundRect">
            <a:avLst>
              <a:gd name="adj" fmla="val 8000"/>
            </a:avLst>
          </a:prstGeom>
          <a:solidFill>
            <a:srgbClr val="E2EDF4"/>
          </a:solidFill>
          <a:ln>
            <a:solidFill>
              <a:srgbClr val="E2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349240" y="2057400"/>
            <a:ext cx="676656" cy="3337560"/>
          </a:xfrm>
          <a:prstGeom prst="roundRect">
            <a:avLst>
              <a:gd name="adj" fmla="val 8000"/>
            </a:avLst>
          </a:prstGeom>
          <a:solidFill>
            <a:srgbClr val="E0EFEB"/>
          </a:solidFill>
          <a:ln>
            <a:solidFill>
              <a:srgbClr val="E0E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309360" y="2057400"/>
            <a:ext cx="676656" cy="3337560"/>
          </a:xfrm>
          <a:prstGeom prst="roundRect">
            <a:avLst>
              <a:gd name="adj" fmla="val 8000"/>
            </a:avLst>
          </a:prstGeom>
          <a:solidFill>
            <a:srgbClr val="F0EAD6"/>
          </a:solidFill>
          <a:ln>
            <a:solidFill>
              <a:srgbClr val="F0EA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269480" y="2057400"/>
            <a:ext cx="676656" cy="3337560"/>
          </a:xfrm>
          <a:prstGeom prst="roundRect">
            <a:avLst>
              <a:gd name="adj" fmla="val 8000"/>
            </a:avLst>
          </a:prstGeom>
          <a:solidFill>
            <a:srgbClr val="F7E4DD"/>
          </a:solidFill>
          <a:ln>
            <a:solidFill>
              <a:srgbClr val="F7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89120" y="5376672"/>
            <a:ext cx="3474720" cy="274320"/>
          </a:xfrm>
          <a:prstGeom prst="rect">
            <a:avLst/>
          </a:prstGeom>
          <a:noFill/>
        </p:spPr>
        <p:txBody>
          <a:bodyPr wrap="square" lIns="36576" tIns="36576" rIns="36576" bIns="36576" anchor="t">
            <a:spAutoFit/>
          </a:bodyPr>
          <a:lstStyle/>
          <a:p>
            <a:pPr algn="l">
              <a:spcAft>
                <a:spcPts val="0"/>
              </a:spcAft>
            </a:pPr>
            <a:r>
              <a:rPr sz="1100" b="0">
                <a:solidFill>
                  <a:srgbClr val="5B6771"/>
                </a:solidFill>
                <a:latin typeface="Aptos"/>
              </a:rPr>
              <a:t>redshift →</a:t>
            </a:r>
          </a:p>
        </p:txBody>
      </p:sp>
      <p:sp>
        <p:nvSpPr>
          <p:cNvPr id="16" name="Oval 15"/>
          <p:cNvSpPr/>
          <p:nvPr/>
        </p:nvSpPr>
        <p:spPr>
          <a:xfrm>
            <a:off x="5029200" y="2697480"/>
            <a:ext cx="173736" cy="173736"/>
          </a:xfrm>
          <a:prstGeom prst="ellipse">
            <a:avLst/>
          </a:prstGeom>
          <a:solidFill>
            <a:srgbClr val="18898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57800" y="2651759"/>
            <a:ext cx="731520" cy="228600"/>
          </a:xfrm>
          <a:prstGeom prst="rect">
            <a:avLst/>
          </a:prstGeom>
          <a:noFill/>
        </p:spPr>
        <p:txBody>
          <a:bodyPr wrap="square" lIns="36576" tIns="36576" rIns="36576" bIns="36576" anchor="t">
            <a:spAutoFit/>
          </a:bodyPr>
          <a:lstStyle/>
          <a:p>
            <a:pPr algn="l">
              <a:spcAft>
                <a:spcPts val="0"/>
              </a:spcAft>
            </a:pPr>
            <a:r>
              <a:rPr sz="1000" b="1">
                <a:solidFill>
                  <a:srgbClr val="188985"/>
                </a:solidFill>
                <a:latin typeface="Aptos"/>
              </a:rPr>
              <a:t>FRB</a:t>
            </a:r>
          </a:p>
        </p:txBody>
      </p:sp>
      <p:sp>
        <p:nvSpPr>
          <p:cNvPr id="18" name="Oval 17"/>
          <p:cNvSpPr/>
          <p:nvPr/>
        </p:nvSpPr>
        <p:spPr>
          <a:xfrm>
            <a:off x="5897880" y="4114800"/>
            <a:ext cx="173736" cy="173736"/>
          </a:xfrm>
          <a:prstGeom prst="ellipse">
            <a:avLst/>
          </a:prstGeom>
          <a:solidFill>
            <a:srgbClr val="18898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040880" y="3200400"/>
            <a:ext cx="173736" cy="173736"/>
          </a:xfrm>
          <a:prstGeom prst="ellipse">
            <a:avLst/>
          </a:prstGeom>
          <a:solidFill>
            <a:srgbClr val="18898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955280" y="4251960"/>
            <a:ext cx="173736" cy="173736"/>
          </a:xfrm>
          <a:prstGeom prst="ellipse">
            <a:avLst/>
          </a:prstGeom>
          <a:solidFill>
            <a:srgbClr val="18898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823960" y="2834640"/>
            <a:ext cx="173736" cy="173736"/>
          </a:xfrm>
          <a:prstGeom prst="ellipse">
            <a:avLst/>
          </a:prstGeom>
          <a:solidFill>
            <a:srgbClr val="18898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149840" y="3794760"/>
            <a:ext cx="173736" cy="173736"/>
          </a:xfrm>
          <a:prstGeom prst="ellipse">
            <a:avLst/>
          </a:prstGeom>
          <a:solidFill>
            <a:srgbClr val="18898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394960" y="3520439"/>
            <a:ext cx="173736" cy="173736"/>
          </a:xfrm>
          <a:prstGeom prst="ellipse">
            <a:avLst/>
          </a:prstGeom>
          <a:solidFill>
            <a:srgbClr val="DD5B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23560" y="3474719"/>
            <a:ext cx="731520" cy="228600"/>
          </a:xfrm>
          <a:prstGeom prst="rect">
            <a:avLst/>
          </a:prstGeom>
          <a:noFill/>
        </p:spPr>
        <p:txBody>
          <a:bodyPr wrap="square" lIns="36576" tIns="36576" rIns="36576" bIns="36576" anchor="t">
            <a:spAutoFit/>
          </a:bodyPr>
          <a:lstStyle/>
          <a:p>
            <a:pPr algn="l">
              <a:spcAft>
                <a:spcPts val="0"/>
              </a:spcAft>
            </a:pPr>
            <a:r>
              <a:rPr sz="1000" b="1">
                <a:solidFill>
                  <a:srgbClr val="DD5B4A"/>
                </a:solidFill>
                <a:latin typeface="Aptos"/>
              </a:rPr>
              <a:t>Galaxy</a:t>
            </a:r>
          </a:p>
        </p:txBody>
      </p:sp>
      <p:sp>
        <p:nvSpPr>
          <p:cNvPr id="25" name="Oval 24"/>
          <p:cNvSpPr/>
          <p:nvPr/>
        </p:nvSpPr>
        <p:spPr>
          <a:xfrm>
            <a:off x="6492240" y="2606040"/>
            <a:ext cx="173736" cy="173736"/>
          </a:xfrm>
          <a:prstGeom prst="ellipse">
            <a:avLst/>
          </a:prstGeom>
          <a:solidFill>
            <a:srgbClr val="DD5B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452360" y="4069080"/>
            <a:ext cx="173736" cy="173736"/>
          </a:xfrm>
          <a:prstGeom prst="ellipse">
            <a:avLst/>
          </a:prstGeom>
          <a:solidFill>
            <a:srgbClr val="DD5B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03920" y="3429000"/>
            <a:ext cx="173736" cy="173736"/>
          </a:xfrm>
          <a:prstGeom prst="ellipse">
            <a:avLst/>
          </a:prstGeom>
          <a:solidFill>
            <a:srgbClr val="DD5B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9464040" y="4343400"/>
            <a:ext cx="173736" cy="173736"/>
          </a:xfrm>
          <a:prstGeom prst="ellipse">
            <a:avLst/>
          </a:prstGeom>
          <a:solidFill>
            <a:srgbClr val="DD5B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0424160" y="2743200"/>
            <a:ext cx="173736" cy="173736"/>
          </a:xfrm>
          <a:prstGeom prst="ellipse">
            <a:avLst/>
          </a:prstGeom>
          <a:solidFill>
            <a:srgbClr val="DD5B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297680" y="5961888"/>
            <a:ext cx="6766560" cy="347472"/>
          </a:xfrm>
          <a:prstGeom prst="rect">
            <a:avLst/>
          </a:prstGeom>
          <a:noFill/>
        </p:spPr>
        <p:txBody>
          <a:bodyPr wrap="square" lIns="27432" tIns="18288" rIns="27432" bIns="18288">
            <a:spAutoFit/>
          </a:bodyPr>
          <a:lstStyle/>
          <a:p>
            <a:pPr algn="ctr">
              <a:spcAft>
                <a:spcPts val="0"/>
              </a:spcAft>
            </a:pPr>
            <a:r>
              <a:rPr sz="1600" b="1">
                <a:solidFill>
                  <a:srgbClr val="188985"/>
                </a:solidFill>
                <a:latin typeface="Aptos"/>
              </a:rPr>
              <a:t>tomography  </a:t>
            </a:r>
            <a:r>
              <a:rPr sz="1600" b="0">
                <a:solidFill>
                  <a:srgbClr val="182331"/>
                </a:solidFill>
                <a:latin typeface="Aptos"/>
              </a:rPr>
              <a:t>separates amplitude b₀ from evolution δ</a:t>
            </a:r>
          </a:p>
        </p:txBody>
      </p:sp>
      <p:sp>
        <p:nvSpPr>
          <p:cNvPr id="31" name="TextBox 30"/>
          <p:cNvSpPr txBox="1"/>
          <p:nvPr/>
        </p:nvSpPr>
        <p:spPr>
          <a:xfrm>
            <a:off x="530352" y="6565392"/>
            <a:ext cx="3108960" cy="164592"/>
          </a:xfrm>
          <a:prstGeom prst="rect">
            <a:avLst/>
          </a:prstGeom>
          <a:noFill/>
        </p:spPr>
        <p:txBody>
          <a:bodyPr wrap="square" lIns="36576" tIns="36576" rIns="36576" bIns="36576" anchor="t">
            <a:spAutoFit/>
          </a:bodyPr>
          <a:lstStyle/>
          <a:p>
            <a:pPr algn="l">
              <a:spcAft>
                <a:spcPts val="0"/>
              </a:spcAft>
            </a:pPr>
            <a:r>
              <a:rPr sz="850" b="0">
                <a:solidFill>
                  <a:srgbClr val="5B6771"/>
                </a:solidFill>
                <a:latin typeface="Aptos"/>
              </a:rPr>
              <a:t>Will Ruppert | Bachelor Thesis</a:t>
            </a:r>
          </a:p>
        </p:txBody>
      </p:sp>
      <p:sp>
        <p:nvSpPr>
          <p:cNvPr id="32" name="TextBox 31"/>
          <p:cNvSpPr txBox="1"/>
          <p:nvPr/>
        </p:nvSpPr>
        <p:spPr>
          <a:xfrm>
            <a:off x="11064240" y="6537960"/>
            <a:ext cx="502920" cy="201168"/>
          </a:xfrm>
          <a:prstGeom prst="rect">
            <a:avLst/>
          </a:prstGeom>
          <a:noFill/>
        </p:spPr>
        <p:txBody>
          <a:bodyPr wrap="square" lIns="36576" tIns="36576" rIns="36576" bIns="36576" anchor="t">
            <a:spAutoFit/>
          </a:bodyPr>
          <a:lstStyle/>
          <a:p>
            <a:pPr algn="r">
              <a:spcAft>
                <a:spcPts val="0"/>
              </a:spcAft>
            </a:pPr>
            <a:r>
              <a:rPr sz="900" b="1">
                <a:solidFill>
                  <a:srgbClr val="5B6771"/>
                </a:solidFill>
                <a:latin typeface="Apto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188985"/>
          </a:solidFill>
          <a:ln>
            <a:solidFill>
              <a:srgbClr val="1889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566928" cy="320040"/>
          </a:xfrm>
          <a:prstGeom prst="rect">
            <a:avLst/>
          </a:prstGeom>
          <a:noFill/>
        </p:spPr>
        <p:txBody>
          <a:bodyPr wrap="square" lIns="36576" tIns="36576" rIns="36576" bIns="36576" anchor="t">
            <a:spAutoFit/>
          </a:bodyPr>
          <a:lstStyle/>
          <a:p>
            <a:pPr algn="l">
              <a:spcAft>
                <a:spcPts val="0"/>
              </a:spcAft>
            </a:pPr>
            <a:r>
              <a:rPr sz="1300" b="1">
                <a:solidFill>
                  <a:srgbClr val="DD5B4A"/>
                </a:solidFill>
                <a:latin typeface="Aptos"/>
              </a:rPr>
              <a:t>05</a:t>
            </a:r>
          </a:p>
        </p:txBody>
      </p:sp>
      <p:sp>
        <p:nvSpPr>
          <p:cNvPr id="4" name="TextBox 3"/>
          <p:cNvSpPr txBox="1"/>
          <p:nvPr/>
        </p:nvSpPr>
        <p:spPr>
          <a:xfrm>
            <a:off x="1143000" y="320040"/>
            <a:ext cx="2926080" cy="256032"/>
          </a:xfrm>
          <a:prstGeom prst="rect">
            <a:avLst/>
          </a:prstGeom>
          <a:noFill/>
        </p:spPr>
        <p:txBody>
          <a:bodyPr wrap="square" lIns="36576" tIns="36576" rIns="36576" bIns="36576" anchor="t">
            <a:spAutoFit/>
          </a:bodyPr>
          <a:lstStyle/>
          <a:p>
            <a:pPr algn="l">
              <a:spcAft>
                <a:spcPts val="0"/>
              </a:spcAft>
            </a:pPr>
            <a:r>
              <a:rPr sz="1000" b="1">
                <a:solidFill>
                  <a:srgbClr val="5B6771"/>
                </a:solidFill>
                <a:latin typeface="Aptos"/>
              </a:rPr>
              <a:t>INPUTS</a:t>
            </a:r>
          </a:p>
        </p:txBody>
      </p:sp>
      <p:sp>
        <p:nvSpPr>
          <p:cNvPr id="5" name="TextBox 4"/>
          <p:cNvSpPr txBox="1"/>
          <p:nvPr/>
        </p:nvSpPr>
        <p:spPr>
          <a:xfrm>
            <a:off x="502920" y="676656"/>
            <a:ext cx="10881360" cy="566928"/>
          </a:xfrm>
          <a:prstGeom prst="rect">
            <a:avLst/>
          </a:prstGeom>
          <a:noFill/>
        </p:spPr>
        <p:txBody>
          <a:bodyPr wrap="square" lIns="36576" tIns="36576" rIns="36576" bIns="36576" anchor="t">
            <a:spAutoFit/>
          </a:bodyPr>
          <a:lstStyle/>
          <a:p>
            <a:pPr algn="l">
              <a:spcAft>
                <a:spcPts val="0"/>
              </a:spcAft>
            </a:pPr>
            <a:r>
              <a:rPr sz="2800" b="1" dirty="0">
                <a:solidFill>
                  <a:srgbClr val="1C3750"/>
                </a:solidFill>
                <a:latin typeface="Aptos Display"/>
              </a:rPr>
              <a:t>Data and Survey Scenarios</a:t>
            </a:r>
          </a:p>
        </p:txBody>
      </p:sp>
      <p:sp>
        <p:nvSpPr>
          <p:cNvPr id="6" name="Rectangle 5"/>
          <p:cNvSpPr/>
          <p:nvPr/>
        </p:nvSpPr>
        <p:spPr>
          <a:xfrm>
            <a:off x="502920" y="1344168"/>
            <a:ext cx="10972800" cy="13716"/>
          </a:xfrm>
          <a:prstGeom prst="rect">
            <a:avLst/>
          </a:prstGeom>
          <a:solidFill>
            <a:srgbClr val="D2D7D7"/>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RB_nz_shallow_deep.png"/>
          <p:cNvPicPr>
            <a:picLocks noChangeAspect="1"/>
          </p:cNvPicPr>
          <p:nvPr/>
        </p:nvPicPr>
        <p:blipFill>
          <a:blip r:embed="rId3"/>
          <a:stretch>
            <a:fillRect/>
          </a:stretch>
        </p:blipFill>
        <p:spPr>
          <a:xfrm>
            <a:off x="785226" y="1554480"/>
            <a:ext cx="5058947" cy="3611880"/>
          </a:xfrm>
          <a:prstGeom prst="rect">
            <a:avLst/>
          </a:prstGeom>
        </p:spPr>
      </p:pic>
      <p:pic>
        <p:nvPicPr>
          <p:cNvPr id="8" name="Picture 7" descr="Galaxy_nz_bins.png"/>
          <p:cNvPicPr>
            <a:picLocks noChangeAspect="1"/>
          </p:cNvPicPr>
          <p:nvPr/>
        </p:nvPicPr>
        <p:blipFill>
          <a:blip r:embed="rId4"/>
          <a:stretch>
            <a:fillRect/>
          </a:stretch>
        </p:blipFill>
        <p:spPr>
          <a:xfrm>
            <a:off x="6108192" y="1632094"/>
            <a:ext cx="5532120" cy="3456651"/>
          </a:xfrm>
          <a:prstGeom prst="rect">
            <a:avLst/>
          </a:prstGeom>
        </p:spPr>
      </p:pic>
      <p:sp>
        <p:nvSpPr>
          <p:cNvPr id="9" name="Rounded Rectangle 8"/>
          <p:cNvSpPr/>
          <p:nvPr/>
        </p:nvSpPr>
        <p:spPr>
          <a:xfrm>
            <a:off x="658368" y="5285232"/>
            <a:ext cx="2423160" cy="96012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5413248"/>
            <a:ext cx="2093976" cy="384048"/>
          </a:xfrm>
          <a:prstGeom prst="rect">
            <a:avLst/>
          </a:prstGeom>
          <a:noFill/>
        </p:spPr>
        <p:txBody>
          <a:bodyPr wrap="square" lIns="36576" tIns="36576" rIns="36576" bIns="36576" anchor="t">
            <a:spAutoFit/>
          </a:bodyPr>
          <a:lstStyle/>
          <a:p>
            <a:pPr algn="l">
              <a:spcAft>
                <a:spcPts val="0"/>
              </a:spcAft>
            </a:pPr>
            <a:r>
              <a:rPr sz="2400" b="1" dirty="0">
                <a:solidFill>
                  <a:srgbClr val="DD5B4A"/>
                </a:solidFill>
                <a:latin typeface="Aptos Display"/>
              </a:rPr>
              <a:t>5,000</a:t>
            </a:r>
          </a:p>
        </p:txBody>
      </p:sp>
      <p:sp>
        <p:nvSpPr>
          <p:cNvPr id="11" name="TextBox 10"/>
          <p:cNvSpPr txBox="1"/>
          <p:nvPr/>
        </p:nvSpPr>
        <p:spPr>
          <a:xfrm>
            <a:off x="822960" y="5852160"/>
            <a:ext cx="2093976" cy="219456"/>
          </a:xfrm>
          <a:prstGeom prst="rect">
            <a:avLst/>
          </a:prstGeom>
          <a:noFill/>
        </p:spPr>
        <p:txBody>
          <a:bodyPr wrap="square" lIns="36576" tIns="36576" rIns="36576" bIns="36576" anchor="t">
            <a:spAutoFit/>
          </a:bodyPr>
          <a:lstStyle/>
          <a:p>
            <a:pPr algn="l">
              <a:spcAft>
                <a:spcPts val="0"/>
              </a:spcAft>
            </a:pPr>
            <a:r>
              <a:rPr sz="1000" b="1">
                <a:solidFill>
                  <a:srgbClr val="5B6771"/>
                </a:solidFill>
                <a:latin typeface="Aptos"/>
              </a:rPr>
              <a:t>SHALLOW FRBs | α = 3.5</a:t>
            </a:r>
          </a:p>
        </p:txBody>
      </p:sp>
      <p:sp>
        <p:nvSpPr>
          <p:cNvPr id="12" name="Rounded Rectangle 11"/>
          <p:cNvSpPr/>
          <p:nvPr/>
        </p:nvSpPr>
        <p:spPr>
          <a:xfrm>
            <a:off x="3273552" y="5285232"/>
            <a:ext cx="2423160" cy="96012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38144" y="5413248"/>
            <a:ext cx="2093976" cy="384048"/>
          </a:xfrm>
          <a:prstGeom prst="rect">
            <a:avLst/>
          </a:prstGeom>
          <a:noFill/>
        </p:spPr>
        <p:txBody>
          <a:bodyPr wrap="square" lIns="36576" tIns="36576" rIns="36576" bIns="36576" anchor="t">
            <a:spAutoFit/>
          </a:bodyPr>
          <a:lstStyle/>
          <a:p>
            <a:pPr algn="l">
              <a:spcAft>
                <a:spcPts val="0"/>
              </a:spcAft>
            </a:pPr>
            <a:r>
              <a:rPr sz="2400" b="1" dirty="0">
                <a:solidFill>
                  <a:srgbClr val="188985"/>
                </a:solidFill>
                <a:latin typeface="Aptos Display"/>
              </a:rPr>
              <a:t>50,000</a:t>
            </a:r>
          </a:p>
        </p:txBody>
      </p:sp>
      <p:sp>
        <p:nvSpPr>
          <p:cNvPr id="14" name="TextBox 13"/>
          <p:cNvSpPr txBox="1"/>
          <p:nvPr/>
        </p:nvSpPr>
        <p:spPr>
          <a:xfrm>
            <a:off x="3438144" y="5852160"/>
            <a:ext cx="2093976" cy="219456"/>
          </a:xfrm>
          <a:prstGeom prst="rect">
            <a:avLst/>
          </a:prstGeom>
          <a:noFill/>
        </p:spPr>
        <p:txBody>
          <a:bodyPr wrap="square" lIns="36576" tIns="36576" rIns="36576" bIns="36576" anchor="t">
            <a:spAutoFit/>
          </a:bodyPr>
          <a:lstStyle/>
          <a:p>
            <a:pPr algn="l">
              <a:spcAft>
                <a:spcPts val="0"/>
              </a:spcAft>
            </a:pPr>
            <a:r>
              <a:rPr sz="1000" b="1" dirty="0">
                <a:solidFill>
                  <a:srgbClr val="5B6771"/>
                </a:solidFill>
                <a:latin typeface="Aptos"/>
              </a:rPr>
              <a:t>DEEP FRBs | α = 2.0</a:t>
            </a:r>
          </a:p>
        </p:txBody>
      </p:sp>
      <p:sp>
        <p:nvSpPr>
          <p:cNvPr id="15" name="Rounded Rectangle 14"/>
          <p:cNvSpPr/>
          <p:nvPr/>
        </p:nvSpPr>
        <p:spPr>
          <a:xfrm>
            <a:off x="6675120" y="5285232"/>
            <a:ext cx="2423160" cy="96012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39712" y="5413248"/>
            <a:ext cx="2093976" cy="384048"/>
          </a:xfrm>
          <a:prstGeom prst="rect">
            <a:avLst/>
          </a:prstGeom>
          <a:noFill/>
        </p:spPr>
        <p:txBody>
          <a:bodyPr wrap="square" lIns="36576" tIns="36576" rIns="36576" bIns="36576" anchor="t">
            <a:spAutoFit/>
          </a:bodyPr>
          <a:lstStyle/>
          <a:p>
            <a:pPr algn="l">
              <a:spcAft>
                <a:spcPts val="0"/>
              </a:spcAft>
            </a:pPr>
            <a:r>
              <a:rPr sz="2400" b="1">
                <a:solidFill>
                  <a:srgbClr val="5C9BBD"/>
                </a:solidFill>
                <a:latin typeface="Aptos Display"/>
              </a:rPr>
              <a:t>1,347 deg²</a:t>
            </a:r>
          </a:p>
        </p:txBody>
      </p:sp>
      <p:sp>
        <p:nvSpPr>
          <p:cNvPr id="17" name="TextBox 16"/>
          <p:cNvSpPr txBox="1"/>
          <p:nvPr/>
        </p:nvSpPr>
        <p:spPr>
          <a:xfrm>
            <a:off x="6839712" y="5852160"/>
            <a:ext cx="2093976" cy="219456"/>
          </a:xfrm>
          <a:prstGeom prst="rect">
            <a:avLst/>
          </a:prstGeom>
          <a:noFill/>
        </p:spPr>
        <p:txBody>
          <a:bodyPr wrap="square" lIns="36576" tIns="36576" rIns="36576" bIns="36576" anchor="t">
            <a:spAutoFit/>
          </a:bodyPr>
          <a:lstStyle/>
          <a:p>
            <a:pPr algn="l">
              <a:spcAft>
                <a:spcPts val="0"/>
              </a:spcAft>
            </a:pPr>
            <a:r>
              <a:rPr sz="1000" b="1">
                <a:solidFill>
                  <a:srgbClr val="5B6771"/>
                </a:solidFill>
                <a:latin typeface="Aptos"/>
              </a:rPr>
              <a:t>KiDS DR5 | 6 BINS</a:t>
            </a:r>
          </a:p>
        </p:txBody>
      </p:sp>
      <p:sp>
        <p:nvSpPr>
          <p:cNvPr id="18" name="TextBox 17"/>
          <p:cNvSpPr txBox="1"/>
          <p:nvPr/>
        </p:nvSpPr>
        <p:spPr>
          <a:xfrm>
            <a:off x="9235440" y="5413248"/>
            <a:ext cx="2057400" cy="685800"/>
          </a:xfrm>
          <a:prstGeom prst="rect">
            <a:avLst/>
          </a:prstGeom>
          <a:noFill/>
        </p:spPr>
        <p:txBody>
          <a:bodyPr wrap="square" lIns="36576" tIns="36576" rIns="36576" bIns="36576" anchor="t">
            <a:spAutoFit/>
          </a:bodyPr>
          <a:lstStyle/>
          <a:p>
            <a:pPr algn="l">
              <a:spcAft>
                <a:spcPts val="0"/>
              </a:spcAft>
            </a:pPr>
            <a:r>
              <a:rPr sz="1400" b="1" dirty="0">
                <a:solidFill>
                  <a:srgbClr val="1C3750"/>
                </a:solidFill>
                <a:latin typeface="Aptos"/>
              </a:rPr>
              <a:t>Radial overlap determines the available cross-signal.</a:t>
            </a:r>
          </a:p>
        </p:txBody>
      </p:sp>
      <p:sp>
        <p:nvSpPr>
          <p:cNvPr id="19" name="TextBox 18"/>
          <p:cNvSpPr txBox="1"/>
          <p:nvPr/>
        </p:nvSpPr>
        <p:spPr>
          <a:xfrm>
            <a:off x="530352" y="6565392"/>
            <a:ext cx="3108960" cy="164592"/>
          </a:xfrm>
          <a:prstGeom prst="rect">
            <a:avLst/>
          </a:prstGeom>
          <a:noFill/>
        </p:spPr>
        <p:txBody>
          <a:bodyPr wrap="square" lIns="36576" tIns="36576" rIns="36576" bIns="36576" anchor="t">
            <a:spAutoFit/>
          </a:bodyPr>
          <a:lstStyle/>
          <a:p>
            <a:pPr algn="l">
              <a:spcAft>
                <a:spcPts val="0"/>
              </a:spcAft>
            </a:pPr>
            <a:r>
              <a:rPr sz="850" b="0">
                <a:solidFill>
                  <a:srgbClr val="5B6771"/>
                </a:solidFill>
                <a:latin typeface="Aptos"/>
              </a:rPr>
              <a:t>Will Ruppert | Bachelor Thesis</a:t>
            </a:r>
          </a:p>
        </p:txBody>
      </p:sp>
      <p:sp>
        <p:nvSpPr>
          <p:cNvPr id="20" name="TextBox 19"/>
          <p:cNvSpPr txBox="1"/>
          <p:nvPr/>
        </p:nvSpPr>
        <p:spPr>
          <a:xfrm>
            <a:off x="11064240" y="6537960"/>
            <a:ext cx="502920" cy="201168"/>
          </a:xfrm>
          <a:prstGeom prst="rect">
            <a:avLst/>
          </a:prstGeom>
          <a:noFill/>
        </p:spPr>
        <p:txBody>
          <a:bodyPr wrap="square" lIns="36576" tIns="36576" rIns="36576" bIns="36576" anchor="t">
            <a:spAutoFit/>
          </a:bodyPr>
          <a:lstStyle/>
          <a:p>
            <a:pPr algn="r">
              <a:spcAft>
                <a:spcPts val="0"/>
              </a:spcAft>
            </a:pPr>
            <a:r>
              <a:rPr sz="900" b="1">
                <a:solidFill>
                  <a:srgbClr val="5B6771"/>
                </a:solidFill>
                <a:latin typeface="Apto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188985"/>
          </a:solidFill>
          <a:ln>
            <a:solidFill>
              <a:srgbClr val="1889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566928" cy="320040"/>
          </a:xfrm>
          <a:prstGeom prst="rect">
            <a:avLst/>
          </a:prstGeom>
          <a:noFill/>
        </p:spPr>
        <p:txBody>
          <a:bodyPr wrap="square" lIns="36576" tIns="36576" rIns="36576" bIns="36576" anchor="t">
            <a:spAutoFit/>
          </a:bodyPr>
          <a:lstStyle/>
          <a:p>
            <a:pPr algn="l">
              <a:spcAft>
                <a:spcPts val="0"/>
              </a:spcAft>
            </a:pPr>
            <a:r>
              <a:rPr sz="1300" b="1">
                <a:solidFill>
                  <a:srgbClr val="DD5B4A"/>
                </a:solidFill>
                <a:latin typeface="Aptos"/>
              </a:rPr>
              <a:t>06</a:t>
            </a:r>
          </a:p>
        </p:txBody>
      </p:sp>
      <p:sp>
        <p:nvSpPr>
          <p:cNvPr id="4" name="TextBox 3"/>
          <p:cNvSpPr txBox="1"/>
          <p:nvPr/>
        </p:nvSpPr>
        <p:spPr>
          <a:xfrm>
            <a:off x="1143000" y="320040"/>
            <a:ext cx="2926080" cy="256032"/>
          </a:xfrm>
          <a:prstGeom prst="rect">
            <a:avLst/>
          </a:prstGeom>
          <a:noFill/>
        </p:spPr>
        <p:txBody>
          <a:bodyPr wrap="square" lIns="36576" tIns="36576" rIns="36576" bIns="36576" anchor="t">
            <a:spAutoFit/>
          </a:bodyPr>
          <a:lstStyle/>
          <a:p>
            <a:pPr algn="l">
              <a:spcAft>
                <a:spcPts val="0"/>
              </a:spcAft>
            </a:pPr>
            <a:r>
              <a:rPr sz="1000" b="1">
                <a:solidFill>
                  <a:srgbClr val="5B6771"/>
                </a:solidFill>
                <a:latin typeface="Aptos"/>
              </a:rPr>
              <a:t>COMPUTATION</a:t>
            </a:r>
          </a:p>
        </p:txBody>
      </p:sp>
      <p:sp>
        <p:nvSpPr>
          <p:cNvPr id="5" name="TextBox 4"/>
          <p:cNvSpPr txBox="1"/>
          <p:nvPr/>
        </p:nvSpPr>
        <p:spPr>
          <a:xfrm>
            <a:off x="502920" y="676656"/>
            <a:ext cx="10881360" cy="566928"/>
          </a:xfrm>
          <a:prstGeom prst="rect">
            <a:avLst/>
          </a:prstGeom>
          <a:noFill/>
        </p:spPr>
        <p:txBody>
          <a:bodyPr wrap="square" lIns="36576" tIns="36576" rIns="36576" bIns="36576" anchor="t">
            <a:spAutoFit/>
          </a:bodyPr>
          <a:lstStyle/>
          <a:p>
            <a:pPr algn="l">
              <a:spcAft>
                <a:spcPts val="0"/>
              </a:spcAft>
            </a:pPr>
            <a:r>
              <a:rPr sz="2800" b="1">
                <a:solidFill>
                  <a:srgbClr val="1C3750"/>
                </a:solidFill>
                <a:latin typeface="Aptos Display"/>
              </a:rPr>
              <a:t>Numerical Pipeline</a:t>
            </a:r>
          </a:p>
        </p:txBody>
      </p:sp>
      <p:sp>
        <p:nvSpPr>
          <p:cNvPr id="6" name="Rectangle 5"/>
          <p:cNvSpPr/>
          <p:nvPr/>
        </p:nvSpPr>
        <p:spPr>
          <a:xfrm>
            <a:off x="502920" y="1344168"/>
            <a:ext cx="10972800" cy="13716"/>
          </a:xfrm>
          <a:prstGeom prst="rect">
            <a:avLst/>
          </a:prstGeom>
          <a:solidFill>
            <a:srgbClr val="D2D7D7"/>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66928" y="1691640"/>
            <a:ext cx="1920240" cy="128016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22376" y="1874519"/>
            <a:ext cx="384048" cy="274320"/>
          </a:xfrm>
          <a:prstGeom prst="rect">
            <a:avLst/>
          </a:prstGeom>
          <a:noFill/>
        </p:spPr>
        <p:txBody>
          <a:bodyPr wrap="square" lIns="36576" tIns="36576" rIns="36576" bIns="36576" anchor="t">
            <a:spAutoFit/>
          </a:bodyPr>
          <a:lstStyle/>
          <a:p>
            <a:pPr algn="l">
              <a:spcAft>
                <a:spcPts val="0"/>
              </a:spcAft>
            </a:pPr>
            <a:r>
              <a:rPr sz="1100" b="1">
                <a:solidFill>
                  <a:srgbClr val="1C3750"/>
                </a:solidFill>
                <a:latin typeface="Aptos"/>
              </a:rPr>
              <a:t>01</a:t>
            </a:r>
          </a:p>
        </p:txBody>
      </p:sp>
      <p:sp>
        <p:nvSpPr>
          <p:cNvPr id="9" name="TextBox 8"/>
          <p:cNvSpPr txBox="1"/>
          <p:nvPr/>
        </p:nvSpPr>
        <p:spPr>
          <a:xfrm>
            <a:off x="722376" y="2212848"/>
            <a:ext cx="1600200" cy="274320"/>
          </a:xfrm>
          <a:prstGeom prst="rect">
            <a:avLst/>
          </a:prstGeom>
          <a:noFill/>
        </p:spPr>
        <p:txBody>
          <a:bodyPr wrap="square" lIns="36576" tIns="36576" rIns="36576" bIns="36576" anchor="t">
            <a:spAutoFit/>
          </a:bodyPr>
          <a:lstStyle/>
          <a:p>
            <a:pPr algn="l">
              <a:spcAft>
                <a:spcPts val="0"/>
              </a:spcAft>
            </a:pPr>
            <a:r>
              <a:rPr sz="1500" b="1">
                <a:solidFill>
                  <a:srgbClr val="1C3750"/>
                </a:solidFill>
                <a:latin typeface="Aptos"/>
              </a:rPr>
              <a:t>Planck 2018</a:t>
            </a:r>
          </a:p>
        </p:txBody>
      </p:sp>
      <p:sp>
        <p:nvSpPr>
          <p:cNvPr id="10" name="TextBox 9"/>
          <p:cNvSpPr txBox="1"/>
          <p:nvPr/>
        </p:nvSpPr>
        <p:spPr>
          <a:xfrm>
            <a:off x="722376" y="2578608"/>
            <a:ext cx="1600200" cy="228600"/>
          </a:xfrm>
          <a:prstGeom prst="rect">
            <a:avLst/>
          </a:prstGeom>
          <a:noFill/>
        </p:spPr>
        <p:txBody>
          <a:bodyPr wrap="square" lIns="36576" tIns="36576" rIns="36576" bIns="36576" anchor="t">
            <a:spAutoFit/>
          </a:bodyPr>
          <a:lstStyle/>
          <a:p>
            <a:pPr algn="l">
              <a:spcAft>
                <a:spcPts val="0"/>
              </a:spcAft>
            </a:pPr>
            <a:r>
              <a:rPr sz="1100" b="0">
                <a:solidFill>
                  <a:srgbClr val="5B6771"/>
                </a:solidFill>
                <a:latin typeface="Aptos"/>
              </a:rPr>
              <a:t>ΛCDM cosmology</a:t>
            </a:r>
          </a:p>
        </p:txBody>
      </p:sp>
      <p:sp>
        <p:nvSpPr>
          <p:cNvPr id="11" name="TextBox 10"/>
          <p:cNvSpPr txBox="1"/>
          <p:nvPr/>
        </p:nvSpPr>
        <p:spPr>
          <a:xfrm>
            <a:off x="2505456" y="2121408"/>
            <a:ext cx="347472" cy="411480"/>
          </a:xfrm>
          <a:prstGeom prst="rect">
            <a:avLst/>
          </a:prstGeom>
          <a:noFill/>
        </p:spPr>
        <p:txBody>
          <a:bodyPr wrap="square" lIns="36576" tIns="36576" rIns="36576" bIns="36576" anchor="t">
            <a:spAutoFit/>
          </a:bodyPr>
          <a:lstStyle/>
          <a:p>
            <a:pPr algn="ctr">
              <a:spcAft>
                <a:spcPts val="0"/>
              </a:spcAft>
            </a:pPr>
            <a:r>
              <a:rPr sz="2200" b="1">
                <a:solidFill>
                  <a:srgbClr val="D2D7D7"/>
                </a:solidFill>
                <a:latin typeface="Aptos"/>
              </a:rPr>
              <a:t>→</a:t>
            </a:r>
          </a:p>
        </p:txBody>
      </p:sp>
      <p:sp>
        <p:nvSpPr>
          <p:cNvPr id="12" name="Rounded Rectangle 11"/>
          <p:cNvSpPr/>
          <p:nvPr/>
        </p:nvSpPr>
        <p:spPr>
          <a:xfrm>
            <a:off x="2871216" y="1691640"/>
            <a:ext cx="1920240" cy="128016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26664" y="1874519"/>
            <a:ext cx="384048" cy="274320"/>
          </a:xfrm>
          <a:prstGeom prst="rect">
            <a:avLst/>
          </a:prstGeom>
          <a:noFill/>
        </p:spPr>
        <p:txBody>
          <a:bodyPr wrap="square" lIns="36576" tIns="36576" rIns="36576" bIns="36576" anchor="t">
            <a:spAutoFit/>
          </a:bodyPr>
          <a:lstStyle/>
          <a:p>
            <a:pPr algn="l">
              <a:spcAft>
                <a:spcPts val="0"/>
              </a:spcAft>
            </a:pPr>
            <a:r>
              <a:rPr sz="1100" b="1">
                <a:solidFill>
                  <a:srgbClr val="188985"/>
                </a:solidFill>
                <a:latin typeface="Aptos"/>
              </a:rPr>
              <a:t>02</a:t>
            </a:r>
          </a:p>
        </p:txBody>
      </p:sp>
      <p:sp>
        <p:nvSpPr>
          <p:cNvPr id="14" name="TextBox 13"/>
          <p:cNvSpPr txBox="1"/>
          <p:nvPr/>
        </p:nvSpPr>
        <p:spPr>
          <a:xfrm>
            <a:off x="3026664" y="2212848"/>
            <a:ext cx="1600200" cy="274320"/>
          </a:xfrm>
          <a:prstGeom prst="rect">
            <a:avLst/>
          </a:prstGeom>
          <a:noFill/>
        </p:spPr>
        <p:txBody>
          <a:bodyPr wrap="square" lIns="36576" tIns="36576" rIns="36576" bIns="36576" anchor="t">
            <a:spAutoFit/>
          </a:bodyPr>
          <a:lstStyle/>
          <a:p>
            <a:pPr algn="l">
              <a:spcAft>
                <a:spcPts val="0"/>
              </a:spcAft>
            </a:pPr>
            <a:r>
              <a:rPr sz="1500" b="1">
                <a:solidFill>
                  <a:srgbClr val="1C3750"/>
                </a:solidFill>
                <a:latin typeface="Aptos"/>
              </a:rPr>
              <a:t>Matter field</a:t>
            </a:r>
          </a:p>
        </p:txBody>
      </p:sp>
      <p:sp>
        <p:nvSpPr>
          <p:cNvPr id="15" name="TextBox 14"/>
          <p:cNvSpPr txBox="1"/>
          <p:nvPr/>
        </p:nvSpPr>
        <p:spPr>
          <a:xfrm>
            <a:off x="3026664" y="2578608"/>
            <a:ext cx="1600200" cy="228600"/>
          </a:xfrm>
          <a:prstGeom prst="rect">
            <a:avLst/>
          </a:prstGeom>
          <a:noFill/>
        </p:spPr>
        <p:txBody>
          <a:bodyPr wrap="square" lIns="36576" tIns="36576" rIns="36576" bIns="36576" anchor="t">
            <a:spAutoFit/>
          </a:bodyPr>
          <a:lstStyle/>
          <a:p>
            <a:pPr algn="l">
              <a:spcAft>
                <a:spcPts val="0"/>
              </a:spcAft>
            </a:pPr>
            <a:r>
              <a:rPr sz="1100" b="0">
                <a:solidFill>
                  <a:srgbClr val="5B6771"/>
                </a:solidFill>
                <a:latin typeface="Aptos"/>
              </a:rPr>
              <a:t>non-linear P(k,z)</a:t>
            </a:r>
          </a:p>
        </p:txBody>
      </p:sp>
      <p:sp>
        <p:nvSpPr>
          <p:cNvPr id="16" name="TextBox 15"/>
          <p:cNvSpPr txBox="1"/>
          <p:nvPr/>
        </p:nvSpPr>
        <p:spPr>
          <a:xfrm>
            <a:off x="4809744" y="2121408"/>
            <a:ext cx="347472" cy="411480"/>
          </a:xfrm>
          <a:prstGeom prst="rect">
            <a:avLst/>
          </a:prstGeom>
          <a:noFill/>
        </p:spPr>
        <p:txBody>
          <a:bodyPr wrap="square" lIns="36576" tIns="36576" rIns="36576" bIns="36576" anchor="t">
            <a:spAutoFit/>
          </a:bodyPr>
          <a:lstStyle/>
          <a:p>
            <a:pPr algn="ctr">
              <a:spcAft>
                <a:spcPts val="0"/>
              </a:spcAft>
            </a:pPr>
            <a:r>
              <a:rPr sz="2200" b="1">
                <a:solidFill>
                  <a:srgbClr val="D2D7D7"/>
                </a:solidFill>
                <a:latin typeface="Aptos"/>
              </a:rPr>
              <a:t>→</a:t>
            </a:r>
          </a:p>
        </p:txBody>
      </p:sp>
      <p:sp>
        <p:nvSpPr>
          <p:cNvPr id="17" name="Rounded Rectangle 16"/>
          <p:cNvSpPr/>
          <p:nvPr/>
        </p:nvSpPr>
        <p:spPr>
          <a:xfrm>
            <a:off x="5175504" y="1691640"/>
            <a:ext cx="1920240" cy="128016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330952" y="1874519"/>
            <a:ext cx="384048" cy="274320"/>
          </a:xfrm>
          <a:prstGeom prst="rect">
            <a:avLst/>
          </a:prstGeom>
          <a:noFill/>
        </p:spPr>
        <p:txBody>
          <a:bodyPr wrap="square" lIns="36576" tIns="36576" rIns="36576" bIns="36576" anchor="t">
            <a:spAutoFit/>
          </a:bodyPr>
          <a:lstStyle/>
          <a:p>
            <a:pPr algn="l">
              <a:spcAft>
                <a:spcPts val="0"/>
              </a:spcAft>
            </a:pPr>
            <a:r>
              <a:rPr sz="1100" b="1">
                <a:solidFill>
                  <a:srgbClr val="DD5B4A"/>
                </a:solidFill>
                <a:latin typeface="Aptos"/>
              </a:rPr>
              <a:t>03</a:t>
            </a:r>
          </a:p>
        </p:txBody>
      </p:sp>
      <p:sp>
        <p:nvSpPr>
          <p:cNvPr id="19" name="TextBox 18"/>
          <p:cNvSpPr txBox="1"/>
          <p:nvPr/>
        </p:nvSpPr>
        <p:spPr>
          <a:xfrm>
            <a:off x="5330952" y="2212848"/>
            <a:ext cx="1600200" cy="274320"/>
          </a:xfrm>
          <a:prstGeom prst="rect">
            <a:avLst/>
          </a:prstGeom>
          <a:noFill/>
        </p:spPr>
        <p:txBody>
          <a:bodyPr wrap="square" lIns="36576" tIns="36576" rIns="36576" bIns="36576" anchor="t">
            <a:spAutoFit/>
          </a:bodyPr>
          <a:lstStyle/>
          <a:p>
            <a:pPr algn="l">
              <a:spcAft>
                <a:spcPts val="0"/>
              </a:spcAft>
            </a:pPr>
            <a:r>
              <a:rPr sz="1500" b="1">
                <a:solidFill>
                  <a:srgbClr val="1C3750"/>
                </a:solidFill>
                <a:latin typeface="Aptos"/>
              </a:rPr>
              <a:t>Radial kernels</a:t>
            </a:r>
          </a:p>
        </p:txBody>
      </p:sp>
      <p:sp>
        <p:nvSpPr>
          <p:cNvPr id="20" name="TextBox 19"/>
          <p:cNvSpPr txBox="1"/>
          <p:nvPr/>
        </p:nvSpPr>
        <p:spPr>
          <a:xfrm>
            <a:off x="5330952" y="2578608"/>
            <a:ext cx="1600200" cy="228600"/>
          </a:xfrm>
          <a:prstGeom prst="rect">
            <a:avLst/>
          </a:prstGeom>
          <a:noFill/>
        </p:spPr>
        <p:txBody>
          <a:bodyPr wrap="square" lIns="36576" tIns="36576" rIns="36576" bIns="36576" anchor="t">
            <a:spAutoFit/>
          </a:bodyPr>
          <a:lstStyle/>
          <a:p>
            <a:pPr algn="l">
              <a:spcAft>
                <a:spcPts val="0"/>
              </a:spcAft>
            </a:pPr>
            <a:r>
              <a:rPr sz="1100" b="0">
                <a:solidFill>
                  <a:srgbClr val="5B6771"/>
                </a:solidFill>
                <a:latin typeface="Aptos"/>
              </a:rPr>
              <a:t>selection × bias</a:t>
            </a:r>
          </a:p>
        </p:txBody>
      </p:sp>
      <p:sp>
        <p:nvSpPr>
          <p:cNvPr id="21" name="TextBox 20"/>
          <p:cNvSpPr txBox="1"/>
          <p:nvPr/>
        </p:nvSpPr>
        <p:spPr>
          <a:xfrm>
            <a:off x="7114032" y="2121408"/>
            <a:ext cx="347472" cy="411480"/>
          </a:xfrm>
          <a:prstGeom prst="rect">
            <a:avLst/>
          </a:prstGeom>
          <a:noFill/>
        </p:spPr>
        <p:txBody>
          <a:bodyPr wrap="square" lIns="36576" tIns="36576" rIns="36576" bIns="36576" anchor="t">
            <a:spAutoFit/>
          </a:bodyPr>
          <a:lstStyle/>
          <a:p>
            <a:pPr algn="ctr">
              <a:spcAft>
                <a:spcPts val="0"/>
              </a:spcAft>
            </a:pPr>
            <a:r>
              <a:rPr sz="2200" b="1">
                <a:solidFill>
                  <a:srgbClr val="D2D7D7"/>
                </a:solidFill>
                <a:latin typeface="Aptos"/>
              </a:rPr>
              <a:t>→</a:t>
            </a:r>
          </a:p>
        </p:txBody>
      </p:sp>
      <p:sp>
        <p:nvSpPr>
          <p:cNvPr id="22" name="Rounded Rectangle 21"/>
          <p:cNvSpPr/>
          <p:nvPr/>
        </p:nvSpPr>
        <p:spPr>
          <a:xfrm>
            <a:off x="7479792" y="1691640"/>
            <a:ext cx="1920240" cy="128016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635240" y="1874519"/>
            <a:ext cx="384048" cy="274320"/>
          </a:xfrm>
          <a:prstGeom prst="rect">
            <a:avLst/>
          </a:prstGeom>
          <a:noFill/>
        </p:spPr>
        <p:txBody>
          <a:bodyPr wrap="square" lIns="36576" tIns="36576" rIns="36576" bIns="36576" anchor="t">
            <a:spAutoFit/>
          </a:bodyPr>
          <a:lstStyle/>
          <a:p>
            <a:pPr algn="l">
              <a:spcAft>
                <a:spcPts val="0"/>
              </a:spcAft>
            </a:pPr>
            <a:r>
              <a:rPr sz="1100" b="1">
                <a:solidFill>
                  <a:srgbClr val="DDA33A"/>
                </a:solidFill>
                <a:latin typeface="Aptos"/>
              </a:rPr>
              <a:t>04</a:t>
            </a:r>
          </a:p>
        </p:txBody>
      </p:sp>
      <p:sp>
        <p:nvSpPr>
          <p:cNvPr id="24" name="TextBox 23"/>
          <p:cNvSpPr txBox="1"/>
          <p:nvPr/>
        </p:nvSpPr>
        <p:spPr>
          <a:xfrm>
            <a:off x="7635240" y="2212848"/>
            <a:ext cx="1600200" cy="274320"/>
          </a:xfrm>
          <a:prstGeom prst="rect">
            <a:avLst/>
          </a:prstGeom>
          <a:noFill/>
        </p:spPr>
        <p:txBody>
          <a:bodyPr wrap="square" lIns="36576" tIns="36576" rIns="36576" bIns="36576" anchor="t">
            <a:spAutoFit/>
          </a:bodyPr>
          <a:lstStyle/>
          <a:p>
            <a:pPr algn="l">
              <a:spcAft>
                <a:spcPts val="0"/>
              </a:spcAft>
            </a:pPr>
            <a:r>
              <a:rPr sz="1500" b="1">
                <a:solidFill>
                  <a:srgbClr val="1C3750"/>
                </a:solidFill>
                <a:latin typeface="Aptos"/>
              </a:rPr>
              <a:t>Projection</a:t>
            </a:r>
          </a:p>
        </p:txBody>
      </p:sp>
      <p:sp>
        <p:nvSpPr>
          <p:cNvPr id="25" name="TextBox 24"/>
          <p:cNvSpPr txBox="1"/>
          <p:nvPr/>
        </p:nvSpPr>
        <p:spPr>
          <a:xfrm>
            <a:off x="7635240" y="2578608"/>
            <a:ext cx="1600200" cy="228600"/>
          </a:xfrm>
          <a:prstGeom prst="rect">
            <a:avLst/>
          </a:prstGeom>
          <a:noFill/>
        </p:spPr>
        <p:txBody>
          <a:bodyPr wrap="square" lIns="36576" tIns="36576" rIns="36576" bIns="36576" anchor="t">
            <a:spAutoFit/>
          </a:bodyPr>
          <a:lstStyle/>
          <a:p>
            <a:pPr algn="l">
              <a:spcAft>
                <a:spcPts val="0"/>
              </a:spcAft>
            </a:pPr>
            <a:r>
              <a:rPr sz="1100" b="0">
                <a:solidFill>
                  <a:srgbClr val="5B6771"/>
                </a:solidFill>
                <a:latin typeface="Aptos"/>
              </a:rPr>
              <a:t>Limber → Cℓ</a:t>
            </a:r>
          </a:p>
        </p:txBody>
      </p:sp>
      <p:sp>
        <p:nvSpPr>
          <p:cNvPr id="26" name="TextBox 25"/>
          <p:cNvSpPr txBox="1"/>
          <p:nvPr/>
        </p:nvSpPr>
        <p:spPr>
          <a:xfrm>
            <a:off x="9418320" y="2121408"/>
            <a:ext cx="347472" cy="411480"/>
          </a:xfrm>
          <a:prstGeom prst="rect">
            <a:avLst/>
          </a:prstGeom>
          <a:noFill/>
        </p:spPr>
        <p:txBody>
          <a:bodyPr wrap="square" lIns="36576" tIns="36576" rIns="36576" bIns="36576" anchor="t">
            <a:spAutoFit/>
          </a:bodyPr>
          <a:lstStyle/>
          <a:p>
            <a:pPr algn="ctr">
              <a:spcAft>
                <a:spcPts val="0"/>
              </a:spcAft>
            </a:pPr>
            <a:r>
              <a:rPr sz="2200" b="1">
                <a:solidFill>
                  <a:srgbClr val="D2D7D7"/>
                </a:solidFill>
                <a:latin typeface="Aptos"/>
              </a:rPr>
              <a:t>→</a:t>
            </a:r>
          </a:p>
        </p:txBody>
      </p:sp>
      <p:sp>
        <p:nvSpPr>
          <p:cNvPr id="27" name="Rounded Rectangle 26"/>
          <p:cNvSpPr/>
          <p:nvPr/>
        </p:nvSpPr>
        <p:spPr>
          <a:xfrm>
            <a:off x="9784080" y="1691640"/>
            <a:ext cx="1920240" cy="128016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939528" y="1874519"/>
            <a:ext cx="384048" cy="274320"/>
          </a:xfrm>
          <a:prstGeom prst="rect">
            <a:avLst/>
          </a:prstGeom>
          <a:noFill/>
        </p:spPr>
        <p:txBody>
          <a:bodyPr wrap="square" lIns="36576" tIns="36576" rIns="36576" bIns="36576" anchor="t">
            <a:spAutoFit/>
          </a:bodyPr>
          <a:lstStyle/>
          <a:p>
            <a:pPr algn="l">
              <a:spcAft>
                <a:spcPts val="0"/>
              </a:spcAft>
            </a:pPr>
            <a:r>
              <a:rPr sz="1100" b="1">
                <a:solidFill>
                  <a:srgbClr val="5C9BBD"/>
                </a:solidFill>
                <a:latin typeface="Aptos"/>
              </a:rPr>
              <a:t>05</a:t>
            </a:r>
          </a:p>
        </p:txBody>
      </p:sp>
      <p:sp>
        <p:nvSpPr>
          <p:cNvPr id="29" name="TextBox 28"/>
          <p:cNvSpPr txBox="1"/>
          <p:nvPr/>
        </p:nvSpPr>
        <p:spPr>
          <a:xfrm>
            <a:off x="9939528" y="2212848"/>
            <a:ext cx="1600200" cy="274320"/>
          </a:xfrm>
          <a:prstGeom prst="rect">
            <a:avLst/>
          </a:prstGeom>
          <a:noFill/>
        </p:spPr>
        <p:txBody>
          <a:bodyPr wrap="square" lIns="36576" tIns="36576" rIns="36576" bIns="36576" anchor="t">
            <a:spAutoFit/>
          </a:bodyPr>
          <a:lstStyle/>
          <a:p>
            <a:pPr algn="l">
              <a:spcAft>
                <a:spcPts val="0"/>
              </a:spcAft>
            </a:pPr>
            <a:r>
              <a:rPr sz="1500" b="1">
                <a:solidFill>
                  <a:srgbClr val="1C3750"/>
                </a:solidFill>
                <a:latin typeface="Aptos"/>
              </a:rPr>
              <a:t>Forecast</a:t>
            </a:r>
          </a:p>
        </p:txBody>
      </p:sp>
      <p:sp>
        <p:nvSpPr>
          <p:cNvPr id="30" name="TextBox 29"/>
          <p:cNvSpPr txBox="1"/>
          <p:nvPr/>
        </p:nvSpPr>
        <p:spPr>
          <a:xfrm>
            <a:off x="9939528" y="2578608"/>
            <a:ext cx="1600200" cy="228600"/>
          </a:xfrm>
          <a:prstGeom prst="rect">
            <a:avLst/>
          </a:prstGeom>
          <a:noFill/>
        </p:spPr>
        <p:txBody>
          <a:bodyPr wrap="square" lIns="36576" tIns="36576" rIns="36576" bIns="36576" anchor="t">
            <a:spAutoFit/>
          </a:bodyPr>
          <a:lstStyle/>
          <a:p>
            <a:pPr algn="l">
              <a:spcAft>
                <a:spcPts val="0"/>
              </a:spcAft>
            </a:pPr>
            <a:r>
              <a:rPr sz="1100" b="0">
                <a:solidFill>
                  <a:srgbClr val="5B6771"/>
                </a:solidFill>
                <a:latin typeface="Aptos"/>
              </a:rPr>
              <a:t>noise + Fisher</a:t>
            </a:r>
          </a:p>
        </p:txBody>
      </p:sp>
      <p:sp>
        <p:nvSpPr>
          <p:cNvPr id="31" name="Rounded Rectangle 30"/>
          <p:cNvSpPr/>
          <p:nvPr/>
        </p:nvSpPr>
        <p:spPr>
          <a:xfrm>
            <a:off x="658368" y="3401568"/>
            <a:ext cx="6537960" cy="2130552"/>
          </a:xfrm>
          <a:prstGeom prst="roundRect">
            <a:avLst>
              <a:gd name="adj" fmla="val 8000"/>
            </a:avLst>
          </a:prstGeom>
          <a:solidFill>
            <a:srgbClr val="E2EDF4"/>
          </a:solidFill>
          <a:ln>
            <a:solidFill>
              <a:srgbClr val="E2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60120" y="3703320"/>
            <a:ext cx="1920240" cy="274320"/>
          </a:xfrm>
          <a:prstGeom prst="rect">
            <a:avLst/>
          </a:prstGeom>
          <a:noFill/>
        </p:spPr>
        <p:txBody>
          <a:bodyPr wrap="square" lIns="36576" tIns="36576" rIns="36576" bIns="36576" anchor="t">
            <a:spAutoFit/>
          </a:bodyPr>
          <a:lstStyle/>
          <a:p>
            <a:pPr algn="l">
              <a:spcAft>
                <a:spcPts val="0"/>
              </a:spcAft>
            </a:pPr>
            <a:r>
              <a:rPr sz="1100" b="1">
                <a:solidFill>
                  <a:srgbClr val="5C9BBD"/>
                </a:solidFill>
                <a:latin typeface="Aptos"/>
              </a:rPr>
              <a:t>LIMBER PROJECTION</a:t>
            </a:r>
          </a:p>
        </p:txBody>
      </p:sp>
      <p:sp>
        <p:nvSpPr>
          <p:cNvPr id="33" name="TextBox 32"/>
          <p:cNvSpPr txBox="1"/>
          <p:nvPr/>
        </p:nvSpPr>
        <p:spPr>
          <a:xfrm>
            <a:off x="960120" y="4160520"/>
            <a:ext cx="6135624" cy="412421"/>
          </a:xfrm>
          <a:prstGeom prst="rect">
            <a:avLst/>
          </a:prstGeom>
          <a:noFill/>
        </p:spPr>
        <p:txBody>
          <a:bodyPr wrap="square" lIns="36576" tIns="36576" rIns="36576" bIns="36576" anchor="t">
            <a:spAutoFit/>
          </a:bodyPr>
          <a:lstStyle/>
          <a:p>
            <a:r>
              <a:rPr sz="2200" b="1" dirty="0">
                <a:solidFill>
                  <a:srgbClr val="1C3750"/>
                </a:solidFill>
                <a:latin typeface="Aptos Display"/>
              </a:rPr>
              <a:t>Cℓᴬᴮ ≈ ∫ </a:t>
            </a:r>
            <a:r>
              <a:rPr sz="2200" b="1" dirty="0" err="1">
                <a:solidFill>
                  <a:srgbClr val="1C3750"/>
                </a:solidFill>
                <a:latin typeface="Aptos Display"/>
              </a:rPr>
              <a:t>dχ</a:t>
            </a:r>
            <a:r>
              <a:rPr sz="2200" b="1" dirty="0">
                <a:solidFill>
                  <a:srgbClr val="1C3750"/>
                </a:solidFill>
                <a:latin typeface="Aptos Display"/>
              </a:rPr>
              <a:t> / χ²  W</a:t>
            </a:r>
            <a:r>
              <a:rPr lang="en-GB" sz="2200" b="1" dirty="0">
                <a:solidFill>
                  <a:srgbClr val="1C3750"/>
                </a:solidFill>
                <a:latin typeface="Aptos Display"/>
              </a:rPr>
              <a:t>ᴬ</a:t>
            </a:r>
            <a:r>
              <a:rPr sz="2200" b="1" dirty="0">
                <a:solidFill>
                  <a:srgbClr val="1C3750"/>
                </a:solidFill>
                <a:latin typeface="Aptos Display"/>
              </a:rPr>
              <a:t>(</a:t>
            </a:r>
            <a:r>
              <a:rPr sz="2200" b="1" dirty="0" err="1">
                <a:solidFill>
                  <a:srgbClr val="1C3750"/>
                </a:solidFill>
                <a:latin typeface="Aptos Display"/>
              </a:rPr>
              <a:t>χ</a:t>
            </a:r>
            <a:r>
              <a:rPr sz="2200" b="1" dirty="0">
                <a:solidFill>
                  <a:srgbClr val="1C3750"/>
                </a:solidFill>
                <a:latin typeface="Aptos Display"/>
              </a:rPr>
              <a:t>) Wᴮ(</a:t>
            </a:r>
            <a:r>
              <a:rPr sz="2200" b="1" dirty="0" err="1">
                <a:solidFill>
                  <a:srgbClr val="1C3750"/>
                </a:solidFill>
                <a:latin typeface="Aptos Display"/>
              </a:rPr>
              <a:t>χ</a:t>
            </a:r>
            <a:r>
              <a:rPr lang="nl-NL" sz="2200" b="1" dirty="0">
                <a:solidFill>
                  <a:srgbClr val="1C3750"/>
                </a:solidFill>
                <a:latin typeface="Aptos Display"/>
              </a:rPr>
              <a:t>) </a:t>
            </a:r>
            <a:r>
              <a:rPr sz="2200" b="1" dirty="0">
                <a:solidFill>
                  <a:srgbClr val="1C3750"/>
                </a:solidFill>
                <a:latin typeface="Aptos Display"/>
              </a:rPr>
              <a:t>× P((ℓ + 1/2) / </a:t>
            </a:r>
            <a:r>
              <a:rPr sz="2200" b="1" dirty="0" err="1">
                <a:solidFill>
                  <a:srgbClr val="1C3750"/>
                </a:solidFill>
                <a:latin typeface="Aptos Display"/>
              </a:rPr>
              <a:t>χ</a:t>
            </a:r>
            <a:r>
              <a:rPr sz="2200" b="1" dirty="0">
                <a:solidFill>
                  <a:srgbClr val="1C3750"/>
                </a:solidFill>
                <a:latin typeface="Aptos Display"/>
              </a:rPr>
              <a:t>, z)</a:t>
            </a:r>
          </a:p>
        </p:txBody>
      </p:sp>
      <p:pic>
        <p:nvPicPr>
          <p:cNvPr id="34" name="Picture 33" descr="Pk_nonlinear.png"/>
          <p:cNvPicPr>
            <a:picLocks noChangeAspect="1"/>
          </p:cNvPicPr>
          <p:nvPr/>
        </p:nvPicPr>
        <p:blipFill>
          <a:blip r:embed="rId3"/>
          <a:stretch>
            <a:fillRect/>
          </a:stretch>
        </p:blipFill>
        <p:spPr>
          <a:xfrm>
            <a:off x="7572745" y="3246120"/>
            <a:ext cx="3910605" cy="2514600"/>
          </a:xfrm>
          <a:prstGeom prst="rect">
            <a:avLst/>
          </a:prstGeom>
        </p:spPr>
      </p:pic>
      <p:sp>
        <p:nvSpPr>
          <p:cNvPr id="35" name="TextBox 34"/>
          <p:cNvSpPr txBox="1"/>
          <p:nvPr/>
        </p:nvSpPr>
        <p:spPr>
          <a:xfrm>
            <a:off x="7818120" y="5760720"/>
            <a:ext cx="3383280" cy="274320"/>
          </a:xfrm>
          <a:prstGeom prst="rect">
            <a:avLst/>
          </a:prstGeom>
          <a:noFill/>
        </p:spPr>
        <p:txBody>
          <a:bodyPr wrap="square" lIns="36576" tIns="36576" rIns="36576" bIns="36576" anchor="t">
            <a:spAutoFit/>
          </a:bodyPr>
          <a:lstStyle/>
          <a:p>
            <a:pPr algn="ctr">
              <a:spcAft>
                <a:spcPts val="0"/>
              </a:spcAft>
            </a:pPr>
            <a:r>
              <a:rPr sz="1300" b="1">
                <a:solidFill>
                  <a:srgbClr val="5B6771"/>
                </a:solidFill>
                <a:latin typeface="Aptos"/>
              </a:rPr>
              <a:t>ℓ = 10 ... 1,000  |  24 cross-spectra</a:t>
            </a:r>
          </a:p>
        </p:txBody>
      </p:sp>
      <p:sp>
        <p:nvSpPr>
          <p:cNvPr id="36" name="TextBox 35"/>
          <p:cNvSpPr txBox="1"/>
          <p:nvPr/>
        </p:nvSpPr>
        <p:spPr>
          <a:xfrm>
            <a:off x="530352" y="6565392"/>
            <a:ext cx="3108960" cy="164592"/>
          </a:xfrm>
          <a:prstGeom prst="rect">
            <a:avLst/>
          </a:prstGeom>
          <a:noFill/>
        </p:spPr>
        <p:txBody>
          <a:bodyPr wrap="square" lIns="36576" tIns="36576" rIns="36576" bIns="36576" anchor="t">
            <a:spAutoFit/>
          </a:bodyPr>
          <a:lstStyle/>
          <a:p>
            <a:pPr algn="l">
              <a:spcAft>
                <a:spcPts val="0"/>
              </a:spcAft>
            </a:pPr>
            <a:r>
              <a:rPr sz="850" b="0">
                <a:solidFill>
                  <a:srgbClr val="5B6771"/>
                </a:solidFill>
                <a:latin typeface="Aptos"/>
              </a:rPr>
              <a:t>Will Ruppert | Bachelor Thesis</a:t>
            </a:r>
          </a:p>
        </p:txBody>
      </p:sp>
      <p:sp>
        <p:nvSpPr>
          <p:cNvPr id="37" name="TextBox 36"/>
          <p:cNvSpPr txBox="1"/>
          <p:nvPr/>
        </p:nvSpPr>
        <p:spPr>
          <a:xfrm>
            <a:off x="11064240" y="6537960"/>
            <a:ext cx="502920" cy="201168"/>
          </a:xfrm>
          <a:prstGeom prst="rect">
            <a:avLst/>
          </a:prstGeom>
          <a:noFill/>
        </p:spPr>
        <p:txBody>
          <a:bodyPr wrap="square" lIns="36576" tIns="36576" rIns="36576" bIns="36576" anchor="t">
            <a:spAutoFit/>
          </a:bodyPr>
          <a:lstStyle/>
          <a:p>
            <a:pPr algn="r">
              <a:spcAft>
                <a:spcPts val="0"/>
              </a:spcAft>
            </a:pPr>
            <a:r>
              <a:rPr sz="900" b="1">
                <a:solidFill>
                  <a:srgbClr val="5B6771"/>
                </a:solidFill>
                <a:latin typeface="Apto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188985"/>
          </a:solidFill>
          <a:ln>
            <a:solidFill>
              <a:srgbClr val="1889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566928" cy="320040"/>
          </a:xfrm>
          <a:prstGeom prst="rect">
            <a:avLst/>
          </a:prstGeom>
          <a:noFill/>
        </p:spPr>
        <p:txBody>
          <a:bodyPr wrap="square" lIns="36576" tIns="36576" rIns="36576" bIns="36576" anchor="t">
            <a:spAutoFit/>
          </a:bodyPr>
          <a:lstStyle/>
          <a:p>
            <a:pPr algn="l">
              <a:spcAft>
                <a:spcPts val="0"/>
              </a:spcAft>
            </a:pPr>
            <a:r>
              <a:rPr sz="1300" b="1">
                <a:solidFill>
                  <a:srgbClr val="DD5B4A"/>
                </a:solidFill>
                <a:latin typeface="Aptos"/>
              </a:rPr>
              <a:t>07</a:t>
            </a:r>
          </a:p>
        </p:txBody>
      </p:sp>
      <p:sp>
        <p:nvSpPr>
          <p:cNvPr id="4" name="TextBox 3"/>
          <p:cNvSpPr txBox="1"/>
          <p:nvPr/>
        </p:nvSpPr>
        <p:spPr>
          <a:xfrm>
            <a:off x="1143000" y="320040"/>
            <a:ext cx="2926080" cy="256032"/>
          </a:xfrm>
          <a:prstGeom prst="rect">
            <a:avLst/>
          </a:prstGeom>
          <a:noFill/>
        </p:spPr>
        <p:txBody>
          <a:bodyPr wrap="square" lIns="36576" tIns="36576" rIns="36576" bIns="36576" anchor="t">
            <a:spAutoFit/>
          </a:bodyPr>
          <a:lstStyle/>
          <a:p>
            <a:pPr algn="l">
              <a:spcAft>
                <a:spcPts val="0"/>
              </a:spcAft>
            </a:pPr>
            <a:r>
              <a:rPr sz="1000" b="1">
                <a:solidFill>
                  <a:srgbClr val="5B6771"/>
                </a:solidFill>
                <a:latin typeface="Aptos"/>
              </a:rPr>
              <a:t>NOISE FLOOR</a:t>
            </a:r>
          </a:p>
        </p:txBody>
      </p:sp>
      <p:sp>
        <p:nvSpPr>
          <p:cNvPr id="5" name="TextBox 4"/>
          <p:cNvSpPr txBox="1"/>
          <p:nvPr/>
        </p:nvSpPr>
        <p:spPr>
          <a:xfrm>
            <a:off x="502920" y="676656"/>
            <a:ext cx="10881360" cy="566928"/>
          </a:xfrm>
          <a:prstGeom prst="rect">
            <a:avLst/>
          </a:prstGeom>
          <a:noFill/>
        </p:spPr>
        <p:txBody>
          <a:bodyPr wrap="square" lIns="36576" tIns="36576" rIns="36576" bIns="36576" anchor="t">
            <a:spAutoFit/>
          </a:bodyPr>
          <a:lstStyle/>
          <a:p>
            <a:pPr algn="l">
              <a:spcAft>
                <a:spcPts val="0"/>
              </a:spcAft>
            </a:pPr>
            <a:r>
              <a:rPr sz="2800" b="1">
                <a:solidFill>
                  <a:srgbClr val="1C3750"/>
                </a:solidFill>
                <a:latin typeface="Aptos Display"/>
              </a:rPr>
              <a:t>Why FRB Auto-Correlation Is Not Enough</a:t>
            </a:r>
          </a:p>
        </p:txBody>
      </p:sp>
      <p:sp>
        <p:nvSpPr>
          <p:cNvPr id="6" name="Rectangle 5"/>
          <p:cNvSpPr/>
          <p:nvPr/>
        </p:nvSpPr>
        <p:spPr>
          <a:xfrm>
            <a:off x="502920" y="1344168"/>
            <a:ext cx="10972800" cy="13716"/>
          </a:xfrm>
          <a:prstGeom prst="rect">
            <a:avLst/>
          </a:prstGeom>
          <a:solidFill>
            <a:srgbClr val="D2D7D7"/>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RB_magnetar_Cell_shallow_shotnoise.png"/>
          <p:cNvPicPr>
            <a:picLocks noChangeAspect="1"/>
          </p:cNvPicPr>
          <p:nvPr/>
        </p:nvPicPr>
        <p:blipFill>
          <a:blip r:embed="rId3"/>
          <a:stretch>
            <a:fillRect/>
          </a:stretch>
        </p:blipFill>
        <p:spPr>
          <a:xfrm>
            <a:off x="1114131" y="1527048"/>
            <a:ext cx="6275656" cy="4480560"/>
          </a:xfrm>
          <a:prstGeom prst="rect">
            <a:avLst/>
          </a:prstGeom>
        </p:spPr>
      </p:pic>
      <p:sp>
        <p:nvSpPr>
          <p:cNvPr id="8" name="Rounded Rectangle 7"/>
          <p:cNvSpPr/>
          <p:nvPr/>
        </p:nvSpPr>
        <p:spPr>
          <a:xfrm>
            <a:off x="8183879" y="1755648"/>
            <a:ext cx="3383280" cy="3886200"/>
          </a:xfrm>
          <a:prstGeom prst="roundRect">
            <a:avLst>
              <a:gd name="adj" fmla="val 8000"/>
            </a:avLst>
          </a:prstGeom>
          <a:solidFill>
            <a:srgbClr val="1C3750"/>
          </a:solidFill>
          <a:ln>
            <a:solidFill>
              <a:srgbClr val="1C37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85632" y="2084831"/>
            <a:ext cx="2651760" cy="320040"/>
          </a:xfrm>
          <a:prstGeom prst="rect">
            <a:avLst/>
          </a:prstGeom>
          <a:noFill/>
        </p:spPr>
        <p:txBody>
          <a:bodyPr wrap="square" lIns="36576" tIns="36576" rIns="36576" bIns="36576" anchor="t">
            <a:spAutoFit/>
          </a:bodyPr>
          <a:lstStyle/>
          <a:p>
            <a:pPr algn="l">
              <a:spcAft>
                <a:spcPts val="0"/>
              </a:spcAft>
            </a:pPr>
            <a:r>
              <a:rPr sz="1300" b="1">
                <a:solidFill>
                  <a:srgbClr val="DDA33A"/>
                </a:solidFill>
                <a:latin typeface="Aptos"/>
              </a:rPr>
              <a:t>SHOT NOISE</a:t>
            </a:r>
          </a:p>
        </p:txBody>
      </p:sp>
      <p:sp>
        <p:nvSpPr>
          <p:cNvPr id="10" name="TextBox 9"/>
          <p:cNvSpPr txBox="1"/>
          <p:nvPr/>
        </p:nvSpPr>
        <p:spPr>
          <a:xfrm>
            <a:off x="8485632" y="2670048"/>
            <a:ext cx="2651760" cy="594360"/>
          </a:xfrm>
          <a:prstGeom prst="rect">
            <a:avLst/>
          </a:prstGeom>
          <a:noFill/>
        </p:spPr>
        <p:txBody>
          <a:bodyPr wrap="square" lIns="36576" tIns="36576" rIns="36576" bIns="36576" anchor="t">
            <a:spAutoFit/>
          </a:bodyPr>
          <a:lstStyle/>
          <a:p>
            <a:pPr algn="l">
              <a:spcAft>
                <a:spcPts val="0"/>
              </a:spcAft>
            </a:pPr>
            <a:r>
              <a:rPr sz="3000" b="1">
                <a:solidFill>
                  <a:srgbClr val="FFFFFF"/>
                </a:solidFill>
                <a:latin typeface="Aptos Display"/>
              </a:rPr>
              <a:t>Nℓ = 1 / n̄</a:t>
            </a:r>
          </a:p>
        </p:txBody>
      </p:sp>
      <p:sp>
        <p:nvSpPr>
          <p:cNvPr id="11" name="TextBox 10"/>
          <p:cNvSpPr txBox="1"/>
          <p:nvPr/>
        </p:nvSpPr>
        <p:spPr>
          <a:xfrm>
            <a:off x="8485632" y="3611880"/>
            <a:ext cx="2651760" cy="566928"/>
          </a:xfrm>
          <a:prstGeom prst="rect">
            <a:avLst/>
          </a:prstGeom>
          <a:noFill/>
        </p:spPr>
        <p:txBody>
          <a:bodyPr wrap="square" lIns="36576" tIns="36576" rIns="36576" bIns="36576" anchor="t">
            <a:spAutoFit/>
          </a:bodyPr>
          <a:lstStyle/>
          <a:p>
            <a:pPr algn="l">
              <a:spcAft>
                <a:spcPts val="0"/>
              </a:spcAft>
            </a:pPr>
            <a:r>
              <a:rPr sz="3100" b="1">
                <a:solidFill>
                  <a:srgbClr val="DD5B4A"/>
                </a:solidFill>
                <a:latin typeface="Aptos Display"/>
              </a:rPr>
              <a:t>~10³</a:t>
            </a:r>
          </a:p>
        </p:txBody>
      </p:sp>
      <p:sp>
        <p:nvSpPr>
          <p:cNvPr id="12" name="TextBox 11"/>
          <p:cNvSpPr txBox="1"/>
          <p:nvPr/>
        </p:nvSpPr>
        <p:spPr>
          <a:xfrm>
            <a:off x="8485632" y="4224528"/>
            <a:ext cx="2560320" cy="731520"/>
          </a:xfrm>
          <a:prstGeom prst="rect">
            <a:avLst/>
          </a:prstGeom>
          <a:noFill/>
        </p:spPr>
        <p:txBody>
          <a:bodyPr wrap="square" lIns="36576" tIns="36576" rIns="36576" bIns="36576" anchor="t">
            <a:spAutoFit/>
          </a:bodyPr>
          <a:lstStyle/>
          <a:p>
            <a:pPr algn="l">
              <a:spcAft>
                <a:spcPts val="0"/>
              </a:spcAft>
            </a:pPr>
            <a:r>
              <a:rPr sz="1500" b="0">
                <a:solidFill>
                  <a:srgbClr val="DBE4E8"/>
                </a:solidFill>
                <a:latin typeface="Aptos"/>
              </a:rPr>
              <a:t>above the clustering signal
in the shallow survey</a:t>
            </a:r>
          </a:p>
        </p:txBody>
      </p:sp>
      <p:sp>
        <p:nvSpPr>
          <p:cNvPr id="13" name="TextBox 12"/>
          <p:cNvSpPr txBox="1"/>
          <p:nvPr/>
        </p:nvSpPr>
        <p:spPr>
          <a:xfrm>
            <a:off x="8485632" y="4983480"/>
            <a:ext cx="2606040" cy="502920"/>
          </a:xfrm>
          <a:prstGeom prst="rect">
            <a:avLst/>
          </a:prstGeom>
          <a:noFill/>
        </p:spPr>
        <p:txBody>
          <a:bodyPr wrap="square" lIns="36576" tIns="36576" rIns="36576" bIns="36576" anchor="t">
            <a:spAutoFit/>
          </a:bodyPr>
          <a:lstStyle/>
          <a:p>
            <a:pPr algn="l">
              <a:spcAft>
                <a:spcPts val="0"/>
              </a:spcAft>
            </a:pPr>
            <a:r>
              <a:rPr sz="1200" b="1">
                <a:solidFill>
                  <a:srgbClr val="FFFFFF"/>
                </a:solidFill>
                <a:latin typeface="Aptos"/>
              </a:rPr>
              <a:t>Cross-correlation is the core method, not a small optimisation.</a:t>
            </a:r>
          </a:p>
        </p:txBody>
      </p:sp>
      <p:sp>
        <p:nvSpPr>
          <p:cNvPr id="14" name="TextBox 13"/>
          <p:cNvSpPr txBox="1"/>
          <p:nvPr/>
        </p:nvSpPr>
        <p:spPr>
          <a:xfrm>
            <a:off x="530352" y="6565392"/>
            <a:ext cx="3108960" cy="164592"/>
          </a:xfrm>
          <a:prstGeom prst="rect">
            <a:avLst/>
          </a:prstGeom>
          <a:noFill/>
        </p:spPr>
        <p:txBody>
          <a:bodyPr wrap="square" lIns="36576" tIns="36576" rIns="36576" bIns="36576" anchor="t">
            <a:spAutoFit/>
          </a:bodyPr>
          <a:lstStyle/>
          <a:p>
            <a:pPr algn="l">
              <a:spcAft>
                <a:spcPts val="0"/>
              </a:spcAft>
            </a:pPr>
            <a:r>
              <a:rPr sz="850" b="0">
                <a:solidFill>
                  <a:srgbClr val="5B6771"/>
                </a:solidFill>
                <a:latin typeface="Aptos"/>
              </a:rPr>
              <a:t>Will Ruppert | Bachelor Thesis</a:t>
            </a:r>
          </a:p>
        </p:txBody>
      </p:sp>
      <p:sp>
        <p:nvSpPr>
          <p:cNvPr id="15" name="TextBox 14"/>
          <p:cNvSpPr txBox="1"/>
          <p:nvPr/>
        </p:nvSpPr>
        <p:spPr>
          <a:xfrm>
            <a:off x="11064240" y="6537960"/>
            <a:ext cx="502920" cy="201168"/>
          </a:xfrm>
          <a:prstGeom prst="rect">
            <a:avLst/>
          </a:prstGeom>
          <a:noFill/>
        </p:spPr>
        <p:txBody>
          <a:bodyPr wrap="square" lIns="36576" tIns="36576" rIns="36576" bIns="36576" anchor="t">
            <a:spAutoFit/>
          </a:bodyPr>
          <a:lstStyle/>
          <a:p>
            <a:pPr algn="r">
              <a:spcAft>
                <a:spcPts val="0"/>
              </a:spcAft>
            </a:pPr>
            <a:r>
              <a:rPr sz="900" b="1">
                <a:solidFill>
                  <a:srgbClr val="5B6771"/>
                </a:solidFill>
                <a:latin typeface="Apto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188985"/>
          </a:solidFill>
          <a:ln>
            <a:solidFill>
              <a:srgbClr val="1889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566928" cy="320040"/>
          </a:xfrm>
          <a:prstGeom prst="rect">
            <a:avLst/>
          </a:prstGeom>
          <a:noFill/>
        </p:spPr>
        <p:txBody>
          <a:bodyPr wrap="square" lIns="36576" tIns="36576" rIns="36576" bIns="36576" anchor="t">
            <a:spAutoFit/>
          </a:bodyPr>
          <a:lstStyle/>
          <a:p>
            <a:pPr algn="l">
              <a:spcAft>
                <a:spcPts val="0"/>
              </a:spcAft>
            </a:pPr>
            <a:r>
              <a:rPr sz="1300" b="1">
                <a:solidFill>
                  <a:srgbClr val="DD5B4A"/>
                </a:solidFill>
                <a:latin typeface="Aptos"/>
              </a:rPr>
              <a:t>08</a:t>
            </a:r>
          </a:p>
        </p:txBody>
      </p:sp>
      <p:sp>
        <p:nvSpPr>
          <p:cNvPr id="4" name="TextBox 3"/>
          <p:cNvSpPr txBox="1"/>
          <p:nvPr/>
        </p:nvSpPr>
        <p:spPr>
          <a:xfrm>
            <a:off x="1143000" y="320040"/>
            <a:ext cx="2926080" cy="256032"/>
          </a:xfrm>
          <a:prstGeom prst="rect">
            <a:avLst/>
          </a:prstGeom>
          <a:noFill/>
        </p:spPr>
        <p:txBody>
          <a:bodyPr wrap="square" lIns="36576" tIns="36576" rIns="36576" bIns="36576" anchor="t">
            <a:spAutoFit/>
          </a:bodyPr>
          <a:lstStyle/>
          <a:p>
            <a:pPr algn="l">
              <a:spcAft>
                <a:spcPts val="0"/>
              </a:spcAft>
            </a:pPr>
            <a:r>
              <a:rPr sz="1000" b="1">
                <a:solidFill>
                  <a:srgbClr val="5B6771"/>
                </a:solidFill>
                <a:latin typeface="Aptos"/>
              </a:rPr>
              <a:t>RESULT I</a:t>
            </a:r>
          </a:p>
        </p:txBody>
      </p:sp>
      <p:sp>
        <p:nvSpPr>
          <p:cNvPr id="5" name="TextBox 4"/>
          <p:cNvSpPr txBox="1"/>
          <p:nvPr/>
        </p:nvSpPr>
        <p:spPr>
          <a:xfrm>
            <a:off x="502920" y="676656"/>
            <a:ext cx="10881360" cy="566928"/>
          </a:xfrm>
          <a:prstGeom prst="rect">
            <a:avLst/>
          </a:prstGeom>
          <a:noFill/>
        </p:spPr>
        <p:txBody>
          <a:bodyPr wrap="square" lIns="36576" tIns="36576" rIns="36576" bIns="36576" anchor="t">
            <a:spAutoFit/>
          </a:bodyPr>
          <a:lstStyle/>
          <a:p>
            <a:pPr algn="l">
              <a:spcAft>
                <a:spcPts val="0"/>
              </a:spcAft>
            </a:pPr>
            <a:r>
              <a:rPr sz="2800" b="1">
                <a:solidFill>
                  <a:srgbClr val="1C3750"/>
                </a:solidFill>
                <a:latin typeface="Aptos Display"/>
              </a:rPr>
              <a:t>Tomographic Cross-Signal</a:t>
            </a:r>
          </a:p>
        </p:txBody>
      </p:sp>
      <p:sp>
        <p:nvSpPr>
          <p:cNvPr id="6" name="Rectangle 5"/>
          <p:cNvSpPr/>
          <p:nvPr/>
        </p:nvSpPr>
        <p:spPr>
          <a:xfrm>
            <a:off x="502920" y="1344168"/>
            <a:ext cx="10972800" cy="13716"/>
          </a:xfrm>
          <a:prstGeom prst="rect">
            <a:avLst/>
          </a:prstGeom>
          <a:solidFill>
            <a:srgbClr val="D2D7D7"/>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urvey_magnetar_all_bins.png"/>
          <p:cNvPicPr>
            <a:picLocks noChangeAspect="1"/>
          </p:cNvPicPr>
          <p:nvPr/>
        </p:nvPicPr>
        <p:blipFill>
          <a:blip r:embed="rId3"/>
          <a:stretch>
            <a:fillRect/>
          </a:stretch>
        </p:blipFill>
        <p:spPr>
          <a:xfrm>
            <a:off x="973726" y="1444752"/>
            <a:ext cx="7333707" cy="4892040"/>
          </a:xfrm>
          <a:prstGeom prst="rect">
            <a:avLst/>
          </a:prstGeom>
        </p:spPr>
      </p:pic>
      <p:sp>
        <p:nvSpPr>
          <p:cNvPr id="8" name="Rounded Rectangle 7"/>
          <p:cNvSpPr/>
          <p:nvPr/>
        </p:nvSpPr>
        <p:spPr>
          <a:xfrm>
            <a:off x="8942832" y="1691640"/>
            <a:ext cx="2606040" cy="4370832"/>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53728" y="1965960"/>
            <a:ext cx="1920240" cy="502920"/>
          </a:xfrm>
          <a:prstGeom prst="rect">
            <a:avLst/>
          </a:prstGeom>
          <a:noFill/>
        </p:spPr>
        <p:txBody>
          <a:bodyPr wrap="square" lIns="36576" tIns="36576" rIns="36576" bIns="36576" anchor="t">
            <a:spAutoFit/>
          </a:bodyPr>
          <a:lstStyle/>
          <a:p>
            <a:pPr algn="l">
              <a:spcAft>
                <a:spcPts val="0"/>
              </a:spcAft>
            </a:pPr>
            <a:r>
              <a:rPr sz="3000" b="1">
                <a:solidFill>
                  <a:srgbClr val="188985"/>
                </a:solidFill>
                <a:latin typeface="Aptos Display"/>
              </a:rPr>
              <a:t>24</a:t>
            </a:r>
          </a:p>
        </p:txBody>
      </p:sp>
      <p:sp>
        <p:nvSpPr>
          <p:cNvPr id="10" name="TextBox 9"/>
          <p:cNvSpPr txBox="1"/>
          <p:nvPr/>
        </p:nvSpPr>
        <p:spPr>
          <a:xfrm>
            <a:off x="9253728" y="2523744"/>
            <a:ext cx="1920240" cy="256032"/>
          </a:xfrm>
          <a:prstGeom prst="rect">
            <a:avLst/>
          </a:prstGeom>
          <a:noFill/>
        </p:spPr>
        <p:txBody>
          <a:bodyPr wrap="square" lIns="36576" tIns="36576" rIns="36576" bIns="36576" anchor="t">
            <a:spAutoFit/>
          </a:bodyPr>
          <a:lstStyle/>
          <a:p>
            <a:pPr algn="l">
              <a:spcAft>
                <a:spcPts val="0"/>
              </a:spcAft>
            </a:pPr>
            <a:r>
              <a:rPr sz="1100" b="1">
                <a:solidFill>
                  <a:srgbClr val="5B6771"/>
                </a:solidFill>
                <a:latin typeface="Aptos"/>
              </a:rPr>
              <a:t>CROSS-SPECTRA</a:t>
            </a:r>
          </a:p>
        </p:txBody>
      </p:sp>
      <p:sp>
        <p:nvSpPr>
          <p:cNvPr id="11" name="Rectangle 10"/>
          <p:cNvSpPr/>
          <p:nvPr/>
        </p:nvSpPr>
        <p:spPr>
          <a:xfrm>
            <a:off x="9253728" y="3063240"/>
            <a:ext cx="1645920" cy="36576"/>
          </a:xfrm>
          <a:prstGeom prst="rect">
            <a:avLst/>
          </a:prstGeom>
          <a:solidFill>
            <a:srgbClr val="D2D7D7"/>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253728" y="3364992"/>
            <a:ext cx="914400" cy="228600"/>
          </a:xfrm>
          <a:prstGeom prst="rect">
            <a:avLst/>
          </a:prstGeom>
          <a:noFill/>
        </p:spPr>
        <p:txBody>
          <a:bodyPr wrap="square" lIns="36576" tIns="36576" rIns="36576" bIns="36576" anchor="t">
            <a:spAutoFit/>
          </a:bodyPr>
          <a:lstStyle/>
          <a:p>
            <a:pPr algn="l">
              <a:spcAft>
                <a:spcPts val="0"/>
              </a:spcAft>
            </a:pPr>
            <a:r>
              <a:rPr sz="1100" b="1">
                <a:solidFill>
                  <a:srgbClr val="DD5B4A"/>
                </a:solidFill>
                <a:latin typeface="Aptos"/>
              </a:rPr>
              <a:t>LOW z</a:t>
            </a:r>
          </a:p>
        </p:txBody>
      </p:sp>
      <p:sp>
        <p:nvSpPr>
          <p:cNvPr id="13" name="TextBox 12"/>
          <p:cNvSpPr txBox="1"/>
          <p:nvPr/>
        </p:nvSpPr>
        <p:spPr>
          <a:xfrm>
            <a:off x="9253728" y="3675887"/>
            <a:ext cx="1783080" cy="566928"/>
          </a:xfrm>
          <a:prstGeom prst="rect">
            <a:avLst/>
          </a:prstGeom>
          <a:noFill/>
        </p:spPr>
        <p:txBody>
          <a:bodyPr wrap="square" lIns="36576" tIns="36576" rIns="36576" bIns="36576" anchor="t">
            <a:spAutoFit/>
          </a:bodyPr>
          <a:lstStyle/>
          <a:p>
            <a:pPr algn="l">
              <a:spcAft>
                <a:spcPts val="0"/>
              </a:spcAft>
            </a:pPr>
            <a:r>
              <a:rPr sz="1500" b="0">
                <a:solidFill>
                  <a:srgbClr val="182331"/>
                </a:solidFill>
                <a:latin typeface="Aptos"/>
              </a:rPr>
              <a:t>Shallow survey
has more signal</a:t>
            </a:r>
          </a:p>
        </p:txBody>
      </p:sp>
      <p:sp>
        <p:nvSpPr>
          <p:cNvPr id="14" name="TextBox 13"/>
          <p:cNvSpPr txBox="1"/>
          <p:nvPr/>
        </p:nvSpPr>
        <p:spPr>
          <a:xfrm>
            <a:off x="9253728" y="4498848"/>
            <a:ext cx="914400" cy="228600"/>
          </a:xfrm>
          <a:prstGeom prst="rect">
            <a:avLst/>
          </a:prstGeom>
          <a:noFill/>
        </p:spPr>
        <p:txBody>
          <a:bodyPr wrap="square" lIns="36576" tIns="36576" rIns="36576" bIns="36576" anchor="t">
            <a:spAutoFit/>
          </a:bodyPr>
          <a:lstStyle/>
          <a:p>
            <a:pPr algn="l">
              <a:spcAft>
                <a:spcPts val="0"/>
              </a:spcAft>
            </a:pPr>
            <a:r>
              <a:rPr sz="1100" b="1">
                <a:solidFill>
                  <a:srgbClr val="188985"/>
                </a:solidFill>
                <a:latin typeface="Aptos"/>
              </a:rPr>
              <a:t>HIGH z</a:t>
            </a:r>
          </a:p>
        </p:txBody>
      </p:sp>
      <p:sp>
        <p:nvSpPr>
          <p:cNvPr id="15" name="TextBox 14"/>
          <p:cNvSpPr txBox="1"/>
          <p:nvPr/>
        </p:nvSpPr>
        <p:spPr>
          <a:xfrm>
            <a:off x="9253728" y="4809744"/>
            <a:ext cx="1783080" cy="566928"/>
          </a:xfrm>
          <a:prstGeom prst="rect">
            <a:avLst/>
          </a:prstGeom>
          <a:noFill/>
        </p:spPr>
        <p:txBody>
          <a:bodyPr wrap="square" lIns="36576" tIns="36576" rIns="36576" bIns="36576" anchor="t">
            <a:spAutoFit/>
          </a:bodyPr>
          <a:lstStyle/>
          <a:p>
            <a:pPr algn="l">
              <a:spcAft>
                <a:spcPts val="0"/>
              </a:spcAft>
            </a:pPr>
            <a:r>
              <a:rPr sz="1500" b="0">
                <a:solidFill>
                  <a:srgbClr val="182331"/>
                </a:solidFill>
                <a:latin typeface="Aptos"/>
              </a:rPr>
              <a:t>Deep survey
retains information</a:t>
            </a:r>
          </a:p>
        </p:txBody>
      </p:sp>
      <p:sp>
        <p:nvSpPr>
          <p:cNvPr id="16" name="TextBox 15"/>
          <p:cNvSpPr txBox="1"/>
          <p:nvPr/>
        </p:nvSpPr>
        <p:spPr>
          <a:xfrm>
            <a:off x="530352" y="6565392"/>
            <a:ext cx="3108960" cy="164592"/>
          </a:xfrm>
          <a:prstGeom prst="rect">
            <a:avLst/>
          </a:prstGeom>
          <a:noFill/>
        </p:spPr>
        <p:txBody>
          <a:bodyPr wrap="square" lIns="36576" tIns="36576" rIns="36576" bIns="36576" anchor="t">
            <a:spAutoFit/>
          </a:bodyPr>
          <a:lstStyle/>
          <a:p>
            <a:pPr algn="l">
              <a:spcAft>
                <a:spcPts val="0"/>
              </a:spcAft>
            </a:pPr>
            <a:r>
              <a:rPr sz="850" b="0">
                <a:solidFill>
                  <a:srgbClr val="5B6771"/>
                </a:solidFill>
                <a:latin typeface="Aptos"/>
              </a:rPr>
              <a:t>Will Ruppert | Bachelor Thesis</a:t>
            </a:r>
          </a:p>
        </p:txBody>
      </p:sp>
      <p:sp>
        <p:nvSpPr>
          <p:cNvPr id="17" name="TextBox 16"/>
          <p:cNvSpPr txBox="1"/>
          <p:nvPr/>
        </p:nvSpPr>
        <p:spPr>
          <a:xfrm>
            <a:off x="11064240" y="6537960"/>
            <a:ext cx="502920" cy="201168"/>
          </a:xfrm>
          <a:prstGeom prst="rect">
            <a:avLst/>
          </a:prstGeom>
          <a:noFill/>
        </p:spPr>
        <p:txBody>
          <a:bodyPr wrap="square" lIns="36576" tIns="36576" rIns="36576" bIns="36576" anchor="t">
            <a:spAutoFit/>
          </a:bodyPr>
          <a:lstStyle/>
          <a:p>
            <a:pPr algn="r">
              <a:spcAft>
                <a:spcPts val="0"/>
              </a:spcAft>
            </a:pPr>
            <a:r>
              <a:rPr sz="900" b="1">
                <a:solidFill>
                  <a:srgbClr val="5B6771"/>
                </a:solidFill>
                <a:latin typeface="Apto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188985"/>
          </a:solidFill>
          <a:ln>
            <a:solidFill>
              <a:srgbClr val="1889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566928" cy="320040"/>
          </a:xfrm>
          <a:prstGeom prst="rect">
            <a:avLst/>
          </a:prstGeom>
          <a:noFill/>
        </p:spPr>
        <p:txBody>
          <a:bodyPr wrap="square" lIns="36576" tIns="36576" rIns="36576" bIns="36576" anchor="t">
            <a:spAutoFit/>
          </a:bodyPr>
          <a:lstStyle/>
          <a:p>
            <a:pPr algn="l">
              <a:spcAft>
                <a:spcPts val="0"/>
              </a:spcAft>
            </a:pPr>
            <a:r>
              <a:rPr sz="1300" b="1">
                <a:solidFill>
                  <a:srgbClr val="DD5B4A"/>
                </a:solidFill>
                <a:latin typeface="Aptos"/>
              </a:rPr>
              <a:t>09</a:t>
            </a:r>
          </a:p>
        </p:txBody>
      </p:sp>
      <p:sp>
        <p:nvSpPr>
          <p:cNvPr id="4" name="TextBox 3"/>
          <p:cNvSpPr txBox="1"/>
          <p:nvPr/>
        </p:nvSpPr>
        <p:spPr>
          <a:xfrm>
            <a:off x="1143000" y="320040"/>
            <a:ext cx="2926080" cy="256032"/>
          </a:xfrm>
          <a:prstGeom prst="rect">
            <a:avLst/>
          </a:prstGeom>
          <a:noFill/>
        </p:spPr>
        <p:txBody>
          <a:bodyPr wrap="square" lIns="36576" tIns="36576" rIns="36576" bIns="36576" anchor="t">
            <a:spAutoFit/>
          </a:bodyPr>
          <a:lstStyle/>
          <a:p>
            <a:pPr algn="l">
              <a:spcAft>
                <a:spcPts val="0"/>
              </a:spcAft>
            </a:pPr>
            <a:r>
              <a:rPr sz="1000" b="1">
                <a:solidFill>
                  <a:srgbClr val="5B6771"/>
                </a:solidFill>
                <a:latin typeface="Aptos"/>
              </a:rPr>
              <a:t>INFERENCE</a:t>
            </a:r>
          </a:p>
        </p:txBody>
      </p:sp>
      <p:sp>
        <p:nvSpPr>
          <p:cNvPr id="5" name="TextBox 4"/>
          <p:cNvSpPr txBox="1"/>
          <p:nvPr/>
        </p:nvSpPr>
        <p:spPr>
          <a:xfrm>
            <a:off x="502920" y="676656"/>
            <a:ext cx="10881360" cy="566928"/>
          </a:xfrm>
          <a:prstGeom prst="rect">
            <a:avLst/>
          </a:prstGeom>
          <a:noFill/>
        </p:spPr>
        <p:txBody>
          <a:bodyPr wrap="square" lIns="36576" tIns="36576" rIns="36576" bIns="36576" anchor="t">
            <a:spAutoFit/>
          </a:bodyPr>
          <a:lstStyle/>
          <a:p>
            <a:pPr algn="l">
              <a:spcAft>
                <a:spcPts val="0"/>
              </a:spcAft>
            </a:pPr>
            <a:r>
              <a:rPr sz="2800" b="1">
                <a:solidFill>
                  <a:srgbClr val="1C3750"/>
                </a:solidFill>
                <a:latin typeface="Aptos Display"/>
              </a:rPr>
              <a:t>Fisher Forecast</a:t>
            </a:r>
          </a:p>
        </p:txBody>
      </p:sp>
      <p:sp>
        <p:nvSpPr>
          <p:cNvPr id="6" name="Rectangle 5"/>
          <p:cNvSpPr/>
          <p:nvPr/>
        </p:nvSpPr>
        <p:spPr>
          <a:xfrm>
            <a:off x="502920" y="1344168"/>
            <a:ext cx="10972800" cy="13716"/>
          </a:xfrm>
          <a:prstGeom prst="rect">
            <a:avLst/>
          </a:prstGeom>
          <a:solidFill>
            <a:srgbClr val="D2D7D7"/>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783080"/>
            <a:ext cx="3931920" cy="2468880"/>
          </a:xfrm>
          <a:prstGeom prst="rect">
            <a:avLst/>
          </a:prstGeom>
          <a:noFill/>
        </p:spPr>
        <p:txBody>
          <a:bodyPr wrap="square" lIns="27432" tIns="27432" rIns="27432" bIns="27432">
            <a:spAutoFit/>
          </a:bodyPr>
          <a:lstStyle/>
          <a:p>
            <a:pPr>
              <a:lnSpc>
                <a:spcPct val="108000"/>
              </a:lnSpc>
              <a:spcAft>
                <a:spcPts val="1200"/>
              </a:spcAft>
              <a:defRPr sz="1900">
                <a:solidFill>
                  <a:srgbClr val="182331"/>
                </a:solidFill>
                <a:latin typeface="Aptos"/>
              </a:defRPr>
            </a:pPr>
            <a:r>
              <a:t>Parameters θ = (b₀, δ)</a:t>
            </a:r>
          </a:p>
          <a:p>
            <a:pPr>
              <a:lnSpc>
                <a:spcPct val="108000"/>
              </a:lnSpc>
              <a:spcAft>
                <a:spcPts val="1200"/>
              </a:spcAft>
              <a:defRPr sz="1900">
                <a:solidFill>
                  <a:srgbClr val="182331"/>
                </a:solidFill>
                <a:latin typeface="Aptos"/>
              </a:defRPr>
            </a:pPr>
            <a:r>
              <a:t>1% central finite differences</a:t>
            </a:r>
          </a:p>
          <a:p>
            <a:pPr>
              <a:lnSpc>
                <a:spcPct val="108000"/>
              </a:lnSpc>
              <a:spcAft>
                <a:spcPts val="1200"/>
              </a:spcAft>
              <a:defRPr sz="1900">
                <a:solidFill>
                  <a:srgbClr val="182331"/>
                </a:solidFill>
                <a:latin typeface="Aptos"/>
              </a:defRPr>
            </a:pPr>
            <a:r>
              <a:t>Cosmology held fixed</a:t>
            </a:r>
          </a:p>
          <a:p>
            <a:pPr>
              <a:lnSpc>
                <a:spcPct val="108000"/>
              </a:lnSpc>
              <a:spcAft>
                <a:spcPts val="1200"/>
              </a:spcAft>
              <a:defRPr sz="1900">
                <a:solidFill>
                  <a:srgbClr val="182331"/>
                </a:solidFill>
                <a:latin typeface="Aptos"/>
              </a:defRPr>
            </a:pPr>
            <a:r>
              <a:t>Local Gaussian likelihood</a:t>
            </a:r>
          </a:p>
        </p:txBody>
      </p:sp>
      <p:sp>
        <p:nvSpPr>
          <p:cNvPr id="8" name="Rounded Rectangle 7"/>
          <p:cNvSpPr/>
          <p:nvPr/>
        </p:nvSpPr>
        <p:spPr>
          <a:xfrm>
            <a:off x="658368" y="4590288"/>
            <a:ext cx="3840480" cy="987552"/>
          </a:xfrm>
          <a:prstGeom prst="roundRect">
            <a:avLst>
              <a:gd name="adj" fmla="val 8000"/>
            </a:avLst>
          </a:prstGeom>
          <a:solidFill>
            <a:srgbClr val="E0EFEB"/>
          </a:solidFill>
          <a:ln>
            <a:solidFill>
              <a:srgbClr val="E0E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4892040"/>
            <a:ext cx="3291840" cy="411480"/>
          </a:xfrm>
          <a:prstGeom prst="rect">
            <a:avLst/>
          </a:prstGeom>
          <a:noFill/>
        </p:spPr>
        <p:txBody>
          <a:bodyPr wrap="square" lIns="36576" tIns="36576" rIns="36576" bIns="36576" anchor="t">
            <a:spAutoFit/>
          </a:bodyPr>
          <a:lstStyle/>
          <a:p>
            <a:pPr algn="ctr">
              <a:spcAft>
                <a:spcPts val="0"/>
              </a:spcAft>
            </a:pPr>
            <a:r>
              <a:rPr sz="2300" b="1" dirty="0" err="1">
                <a:solidFill>
                  <a:srgbClr val="188985"/>
                </a:solidFill>
                <a:latin typeface="Aptos Display"/>
              </a:rPr>
              <a:t>FoM</a:t>
            </a:r>
            <a:r>
              <a:rPr sz="2300" b="1" dirty="0">
                <a:solidFill>
                  <a:srgbClr val="188985"/>
                </a:solidFill>
                <a:latin typeface="Aptos Display"/>
              </a:rPr>
              <a:t> = 1 / √det(Cov)</a:t>
            </a:r>
          </a:p>
        </p:txBody>
      </p:sp>
      <p:sp>
        <p:nvSpPr>
          <p:cNvPr id="10" name="Rounded Rectangle 9"/>
          <p:cNvSpPr/>
          <p:nvPr/>
        </p:nvSpPr>
        <p:spPr>
          <a:xfrm>
            <a:off x="5166360" y="1664208"/>
            <a:ext cx="6126480" cy="425196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16168" y="5065776"/>
            <a:ext cx="4526280" cy="22860"/>
          </a:xfrm>
          <a:prstGeom prst="rect">
            <a:avLst/>
          </a:prstGeom>
          <a:solidFill>
            <a:srgbClr val="5B6771"/>
          </a:solidFill>
          <a:ln>
            <a:solidFill>
              <a:srgbClr val="5B67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916168" y="2258568"/>
            <a:ext cx="22860" cy="2834640"/>
          </a:xfrm>
          <a:prstGeom prst="rect">
            <a:avLst/>
          </a:prstGeom>
          <a:solidFill>
            <a:srgbClr val="5B6771"/>
          </a:solidFill>
          <a:ln>
            <a:solidFill>
              <a:srgbClr val="5B67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rot="1500000">
            <a:off x="6675120" y="2715768"/>
            <a:ext cx="3154680" cy="1828800"/>
          </a:xfrm>
          <a:prstGeom prst="ellipse">
            <a:avLst/>
          </a:prstGeom>
          <a:noFill/>
          <a:ln w="101600">
            <a:solidFill>
              <a:srgbClr val="F7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rot="1500000">
            <a:off x="7205472" y="3063240"/>
            <a:ext cx="2103120" cy="1188720"/>
          </a:xfrm>
          <a:prstGeom prst="ellipse">
            <a:avLst/>
          </a:prstGeom>
          <a:noFill/>
          <a:ln w="50800">
            <a:solidFill>
              <a:srgbClr val="DD5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524744" y="4910328"/>
            <a:ext cx="411480" cy="274320"/>
          </a:xfrm>
          <a:prstGeom prst="rect">
            <a:avLst/>
          </a:prstGeom>
          <a:noFill/>
        </p:spPr>
        <p:txBody>
          <a:bodyPr wrap="square" lIns="36576" tIns="36576" rIns="36576" bIns="36576" anchor="t">
            <a:spAutoFit/>
          </a:bodyPr>
          <a:lstStyle/>
          <a:p>
            <a:pPr algn="l">
              <a:spcAft>
                <a:spcPts val="0"/>
              </a:spcAft>
            </a:pPr>
            <a:r>
              <a:rPr sz="1600" b="1">
                <a:solidFill>
                  <a:srgbClr val="1C3750"/>
                </a:solidFill>
                <a:latin typeface="Aptos"/>
              </a:rPr>
              <a:t>b₀</a:t>
            </a:r>
          </a:p>
        </p:txBody>
      </p:sp>
      <p:sp>
        <p:nvSpPr>
          <p:cNvPr id="16" name="TextBox 15"/>
          <p:cNvSpPr txBox="1"/>
          <p:nvPr/>
        </p:nvSpPr>
        <p:spPr>
          <a:xfrm>
            <a:off x="5513832" y="2048256"/>
            <a:ext cx="274320" cy="274320"/>
          </a:xfrm>
          <a:prstGeom prst="rect">
            <a:avLst/>
          </a:prstGeom>
          <a:noFill/>
        </p:spPr>
        <p:txBody>
          <a:bodyPr wrap="square" lIns="36576" tIns="36576" rIns="36576" bIns="36576" anchor="t">
            <a:spAutoFit/>
          </a:bodyPr>
          <a:lstStyle/>
          <a:p>
            <a:pPr algn="l">
              <a:spcAft>
                <a:spcPts val="0"/>
              </a:spcAft>
            </a:pPr>
            <a:r>
              <a:rPr sz="1600" b="1">
                <a:solidFill>
                  <a:srgbClr val="1C3750"/>
                </a:solidFill>
                <a:latin typeface="Aptos"/>
              </a:rPr>
              <a:t>δ</a:t>
            </a:r>
          </a:p>
        </p:txBody>
      </p:sp>
      <p:sp>
        <p:nvSpPr>
          <p:cNvPr id="17" name="TextBox 16"/>
          <p:cNvSpPr txBox="1"/>
          <p:nvPr/>
        </p:nvSpPr>
        <p:spPr>
          <a:xfrm>
            <a:off x="6492240" y="5340095"/>
            <a:ext cx="4114800" cy="274320"/>
          </a:xfrm>
          <a:prstGeom prst="rect">
            <a:avLst/>
          </a:prstGeom>
          <a:noFill/>
        </p:spPr>
        <p:txBody>
          <a:bodyPr wrap="square" lIns="36576" tIns="36576" rIns="36576" bIns="36576" anchor="t">
            <a:spAutoFit/>
          </a:bodyPr>
          <a:lstStyle/>
          <a:p>
            <a:pPr algn="ctr">
              <a:spcAft>
                <a:spcPts val="0"/>
              </a:spcAft>
            </a:pPr>
            <a:r>
              <a:rPr sz="1300" b="0">
                <a:solidFill>
                  <a:srgbClr val="5B6771"/>
                </a:solidFill>
                <a:latin typeface="Aptos"/>
              </a:rPr>
              <a:t>smaller ellipse  →  stronger joint constraint</a:t>
            </a:r>
          </a:p>
        </p:txBody>
      </p:sp>
      <p:sp>
        <p:nvSpPr>
          <p:cNvPr id="18" name="TextBox 17"/>
          <p:cNvSpPr txBox="1"/>
          <p:nvPr/>
        </p:nvSpPr>
        <p:spPr>
          <a:xfrm>
            <a:off x="530352" y="6565392"/>
            <a:ext cx="3108960" cy="164592"/>
          </a:xfrm>
          <a:prstGeom prst="rect">
            <a:avLst/>
          </a:prstGeom>
          <a:noFill/>
        </p:spPr>
        <p:txBody>
          <a:bodyPr wrap="square" lIns="36576" tIns="36576" rIns="36576" bIns="36576" anchor="t">
            <a:spAutoFit/>
          </a:bodyPr>
          <a:lstStyle/>
          <a:p>
            <a:pPr algn="l">
              <a:spcAft>
                <a:spcPts val="0"/>
              </a:spcAft>
            </a:pPr>
            <a:r>
              <a:rPr sz="850" b="0">
                <a:solidFill>
                  <a:srgbClr val="5B6771"/>
                </a:solidFill>
                <a:latin typeface="Aptos"/>
              </a:rPr>
              <a:t>Will Ruppert | Bachelor Thesis</a:t>
            </a:r>
          </a:p>
        </p:txBody>
      </p:sp>
      <p:sp>
        <p:nvSpPr>
          <p:cNvPr id="19" name="TextBox 18"/>
          <p:cNvSpPr txBox="1"/>
          <p:nvPr/>
        </p:nvSpPr>
        <p:spPr>
          <a:xfrm>
            <a:off x="11064240" y="6537960"/>
            <a:ext cx="502920" cy="201168"/>
          </a:xfrm>
          <a:prstGeom prst="rect">
            <a:avLst/>
          </a:prstGeom>
          <a:noFill/>
        </p:spPr>
        <p:txBody>
          <a:bodyPr wrap="square" lIns="36576" tIns="36576" rIns="36576" bIns="36576" anchor="t">
            <a:spAutoFit/>
          </a:bodyPr>
          <a:lstStyle/>
          <a:p>
            <a:pPr algn="r">
              <a:spcAft>
                <a:spcPts val="0"/>
              </a:spcAft>
            </a:pPr>
            <a:r>
              <a:rPr sz="900" b="1">
                <a:solidFill>
                  <a:srgbClr val="5B6771"/>
                </a:solidFill>
                <a:latin typeface="Apto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188985"/>
          </a:solidFill>
          <a:ln>
            <a:solidFill>
              <a:srgbClr val="1889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566928" cy="320040"/>
          </a:xfrm>
          <a:prstGeom prst="rect">
            <a:avLst/>
          </a:prstGeom>
          <a:noFill/>
        </p:spPr>
        <p:txBody>
          <a:bodyPr wrap="square" lIns="36576" tIns="36576" rIns="36576" bIns="36576" anchor="t">
            <a:spAutoFit/>
          </a:bodyPr>
          <a:lstStyle/>
          <a:p>
            <a:pPr algn="l">
              <a:spcAft>
                <a:spcPts val="0"/>
              </a:spcAft>
            </a:pPr>
            <a:r>
              <a:rPr sz="1300" b="1">
                <a:solidFill>
                  <a:srgbClr val="DD5B4A"/>
                </a:solidFill>
                <a:latin typeface="Aptos"/>
              </a:rPr>
              <a:t>10</a:t>
            </a:r>
          </a:p>
        </p:txBody>
      </p:sp>
      <p:sp>
        <p:nvSpPr>
          <p:cNvPr id="4" name="TextBox 3"/>
          <p:cNvSpPr txBox="1"/>
          <p:nvPr/>
        </p:nvSpPr>
        <p:spPr>
          <a:xfrm>
            <a:off x="1143000" y="320040"/>
            <a:ext cx="2926080" cy="256032"/>
          </a:xfrm>
          <a:prstGeom prst="rect">
            <a:avLst/>
          </a:prstGeom>
          <a:noFill/>
        </p:spPr>
        <p:txBody>
          <a:bodyPr wrap="square" lIns="36576" tIns="36576" rIns="36576" bIns="36576" anchor="t">
            <a:spAutoFit/>
          </a:bodyPr>
          <a:lstStyle/>
          <a:p>
            <a:pPr algn="l">
              <a:spcAft>
                <a:spcPts val="0"/>
              </a:spcAft>
            </a:pPr>
            <a:r>
              <a:rPr sz="1000" b="1">
                <a:solidFill>
                  <a:srgbClr val="5B6771"/>
                </a:solidFill>
                <a:latin typeface="Aptos"/>
              </a:rPr>
              <a:t>MAIN RESULT</a:t>
            </a:r>
          </a:p>
        </p:txBody>
      </p:sp>
      <p:sp>
        <p:nvSpPr>
          <p:cNvPr id="5" name="TextBox 4"/>
          <p:cNvSpPr txBox="1"/>
          <p:nvPr/>
        </p:nvSpPr>
        <p:spPr>
          <a:xfrm>
            <a:off x="502920" y="676656"/>
            <a:ext cx="10881360" cy="566928"/>
          </a:xfrm>
          <a:prstGeom prst="rect">
            <a:avLst/>
          </a:prstGeom>
          <a:noFill/>
        </p:spPr>
        <p:txBody>
          <a:bodyPr wrap="square" lIns="36576" tIns="36576" rIns="36576" bIns="36576" anchor="t">
            <a:spAutoFit/>
          </a:bodyPr>
          <a:lstStyle/>
          <a:p>
            <a:pPr algn="l">
              <a:spcAft>
                <a:spcPts val="0"/>
              </a:spcAft>
            </a:pPr>
            <a:r>
              <a:rPr sz="2800" b="1">
                <a:solidFill>
                  <a:srgbClr val="1C3750"/>
                </a:solidFill>
                <a:latin typeface="Aptos Display"/>
              </a:rPr>
              <a:t>Cross-Correlation Enables the Measurement</a:t>
            </a:r>
          </a:p>
        </p:txBody>
      </p:sp>
      <p:sp>
        <p:nvSpPr>
          <p:cNvPr id="6" name="Rectangle 5"/>
          <p:cNvSpPr/>
          <p:nvPr/>
        </p:nvSpPr>
        <p:spPr>
          <a:xfrm>
            <a:off x="502920" y="1344168"/>
            <a:ext cx="10972800" cy="13716"/>
          </a:xfrm>
          <a:prstGeom prst="rect">
            <a:avLst/>
          </a:prstGeom>
          <a:solidFill>
            <a:srgbClr val="D2D7D7"/>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sher_comparison_2x2.png"/>
          <p:cNvPicPr>
            <a:picLocks noChangeAspect="1"/>
          </p:cNvPicPr>
          <p:nvPr/>
        </p:nvPicPr>
        <p:blipFill>
          <a:blip r:embed="rId3"/>
          <a:stretch>
            <a:fillRect/>
          </a:stretch>
        </p:blipFill>
        <p:spPr>
          <a:xfrm>
            <a:off x="1107449" y="1389888"/>
            <a:ext cx="6014700" cy="5010912"/>
          </a:xfrm>
          <a:prstGeom prst="rect">
            <a:avLst/>
          </a:prstGeom>
        </p:spPr>
      </p:pic>
      <p:sp>
        <p:nvSpPr>
          <p:cNvPr id="8" name="Rounded Rectangle 7"/>
          <p:cNvSpPr/>
          <p:nvPr/>
        </p:nvSpPr>
        <p:spPr>
          <a:xfrm>
            <a:off x="8156448" y="1664208"/>
            <a:ext cx="2880360" cy="96012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21040" y="1792224"/>
            <a:ext cx="2551176" cy="384048"/>
          </a:xfrm>
          <a:prstGeom prst="rect">
            <a:avLst/>
          </a:prstGeom>
          <a:noFill/>
        </p:spPr>
        <p:txBody>
          <a:bodyPr wrap="square" lIns="36576" tIns="36576" rIns="36576" bIns="36576" anchor="t">
            <a:spAutoFit/>
          </a:bodyPr>
          <a:lstStyle/>
          <a:p>
            <a:pPr algn="l">
              <a:spcAft>
                <a:spcPts val="0"/>
              </a:spcAft>
            </a:pPr>
            <a:r>
              <a:rPr sz="2400" b="1">
                <a:solidFill>
                  <a:srgbClr val="DD5B4A"/>
                </a:solidFill>
                <a:latin typeface="Aptos Display"/>
              </a:rPr>
              <a:t>17-51×</a:t>
            </a:r>
          </a:p>
        </p:txBody>
      </p:sp>
      <p:sp>
        <p:nvSpPr>
          <p:cNvPr id="10" name="TextBox 9"/>
          <p:cNvSpPr txBox="1"/>
          <p:nvPr/>
        </p:nvSpPr>
        <p:spPr>
          <a:xfrm>
            <a:off x="8321040" y="2231136"/>
            <a:ext cx="2551176" cy="227755"/>
          </a:xfrm>
          <a:prstGeom prst="rect">
            <a:avLst/>
          </a:prstGeom>
          <a:noFill/>
        </p:spPr>
        <p:txBody>
          <a:bodyPr wrap="square" lIns="36576" tIns="36576" rIns="36576" bIns="36576" anchor="t">
            <a:spAutoFit/>
          </a:bodyPr>
          <a:lstStyle/>
          <a:p>
            <a:pPr algn="l">
              <a:spcAft>
                <a:spcPts val="0"/>
              </a:spcAft>
            </a:pPr>
            <a:r>
              <a:rPr sz="1000" b="1" dirty="0">
                <a:solidFill>
                  <a:srgbClr val="5B6771"/>
                </a:solidFill>
                <a:latin typeface="Aptos"/>
              </a:rPr>
              <a:t>SMALLER </a:t>
            </a:r>
            <a:r>
              <a:rPr lang="nl-NL" sz="1000" b="1" dirty="0">
                <a:solidFill>
                  <a:srgbClr val="5B6771"/>
                </a:solidFill>
                <a:latin typeface="Aptos"/>
              </a:rPr>
              <a:t>1 Sigma</a:t>
            </a:r>
            <a:r>
              <a:rPr sz="1000" b="1" dirty="0">
                <a:solidFill>
                  <a:srgbClr val="5B6771"/>
                </a:solidFill>
                <a:latin typeface="Aptos"/>
              </a:rPr>
              <a:t> ERRORS</a:t>
            </a:r>
          </a:p>
        </p:txBody>
      </p:sp>
      <p:sp>
        <p:nvSpPr>
          <p:cNvPr id="11" name="Rounded Rectangle 10"/>
          <p:cNvSpPr/>
          <p:nvPr/>
        </p:nvSpPr>
        <p:spPr>
          <a:xfrm>
            <a:off x="8156448" y="2816352"/>
            <a:ext cx="2880360" cy="96012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21040" y="2944368"/>
            <a:ext cx="2551176" cy="384048"/>
          </a:xfrm>
          <a:prstGeom prst="rect">
            <a:avLst/>
          </a:prstGeom>
          <a:noFill/>
        </p:spPr>
        <p:txBody>
          <a:bodyPr wrap="square" lIns="36576" tIns="36576" rIns="36576" bIns="36576" anchor="t">
            <a:spAutoFit/>
          </a:bodyPr>
          <a:lstStyle/>
          <a:p>
            <a:pPr algn="l">
              <a:spcAft>
                <a:spcPts val="0"/>
              </a:spcAft>
            </a:pPr>
            <a:r>
              <a:rPr sz="2400" b="1">
                <a:solidFill>
                  <a:srgbClr val="188985"/>
                </a:solidFill>
                <a:latin typeface="Aptos Display"/>
              </a:rPr>
              <a:t>61-449×</a:t>
            </a:r>
          </a:p>
        </p:txBody>
      </p:sp>
      <p:sp>
        <p:nvSpPr>
          <p:cNvPr id="13" name="TextBox 12"/>
          <p:cNvSpPr txBox="1"/>
          <p:nvPr/>
        </p:nvSpPr>
        <p:spPr>
          <a:xfrm>
            <a:off x="8321040" y="3383280"/>
            <a:ext cx="2551176" cy="219456"/>
          </a:xfrm>
          <a:prstGeom prst="rect">
            <a:avLst/>
          </a:prstGeom>
          <a:noFill/>
        </p:spPr>
        <p:txBody>
          <a:bodyPr wrap="square" lIns="36576" tIns="36576" rIns="36576" bIns="36576" anchor="t">
            <a:spAutoFit/>
          </a:bodyPr>
          <a:lstStyle/>
          <a:p>
            <a:pPr algn="l">
              <a:spcAft>
                <a:spcPts val="0"/>
              </a:spcAft>
            </a:pPr>
            <a:r>
              <a:rPr sz="1000" b="1">
                <a:solidFill>
                  <a:srgbClr val="5B6771"/>
                </a:solidFill>
                <a:latin typeface="Aptos"/>
              </a:rPr>
              <a:t>LARGER FIGURE OF MERIT</a:t>
            </a:r>
          </a:p>
        </p:txBody>
      </p:sp>
      <p:sp>
        <p:nvSpPr>
          <p:cNvPr id="14" name="Rounded Rectangle 13"/>
          <p:cNvSpPr/>
          <p:nvPr/>
        </p:nvSpPr>
        <p:spPr>
          <a:xfrm>
            <a:off x="8156448" y="4087368"/>
            <a:ext cx="2880360" cy="1645920"/>
          </a:xfrm>
          <a:prstGeom prst="roundRect">
            <a:avLst>
              <a:gd name="adj" fmla="val 8000"/>
            </a:avLst>
          </a:prstGeom>
          <a:solidFill>
            <a:srgbClr val="1C3750"/>
          </a:solidFill>
          <a:ln>
            <a:solidFill>
              <a:srgbClr val="1C37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94192" y="4334256"/>
            <a:ext cx="2377440" cy="237744"/>
          </a:xfrm>
          <a:prstGeom prst="rect">
            <a:avLst/>
          </a:prstGeom>
          <a:noFill/>
        </p:spPr>
        <p:txBody>
          <a:bodyPr wrap="square" lIns="36576" tIns="36576" rIns="36576" bIns="36576" anchor="t">
            <a:spAutoFit/>
          </a:bodyPr>
          <a:lstStyle/>
          <a:p>
            <a:pPr algn="l">
              <a:spcAft>
                <a:spcPts val="0"/>
              </a:spcAft>
            </a:pPr>
            <a:r>
              <a:rPr sz="1100" b="1">
                <a:solidFill>
                  <a:srgbClr val="DDA33A"/>
                </a:solidFill>
                <a:latin typeface="Aptos"/>
              </a:rPr>
              <a:t>KiDS result</a:t>
            </a:r>
          </a:p>
        </p:txBody>
      </p:sp>
      <p:sp>
        <p:nvSpPr>
          <p:cNvPr id="16" name="TextBox 15"/>
          <p:cNvSpPr txBox="1"/>
          <p:nvPr/>
        </p:nvSpPr>
        <p:spPr>
          <a:xfrm>
            <a:off x="8234172" y="4611784"/>
            <a:ext cx="3081528" cy="597087"/>
          </a:xfrm>
          <a:prstGeom prst="rect">
            <a:avLst/>
          </a:prstGeom>
          <a:noFill/>
        </p:spPr>
        <p:txBody>
          <a:bodyPr wrap="square" lIns="36576" tIns="36576" rIns="36576" bIns="36576" anchor="t">
            <a:spAutoFit/>
          </a:bodyPr>
          <a:lstStyle/>
          <a:p>
            <a:pPr algn="l">
              <a:spcAft>
                <a:spcPts val="0"/>
              </a:spcAft>
            </a:pPr>
            <a:r>
              <a:rPr sz="1700" b="1" dirty="0">
                <a:solidFill>
                  <a:srgbClr val="FFFFFF"/>
                </a:solidFill>
                <a:latin typeface="Aptos"/>
              </a:rPr>
              <a:t>Bias becomes measurable,
but the models still overlap.</a:t>
            </a:r>
          </a:p>
        </p:txBody>
      </p:sp>
      <p:sp>
        <p:nvSpPr>
          <p:cNvPr id="17" name="TextBox 16"/>
          <p:cNvSpPr txBox="1"/>
          <p:nvPr/>
        </p:nvSpPr>
        <p:spPr>
          <a:xfrm>
            <a:off x="8430768" y="5320444"/>
            <a:ext cx="2331720" cy="219456"/>
          </a:xfrm>
          <a:prstGeom prst="rect">
            <a:avLst/>
          </a:prstGeom>
          <a:noFill/>
        </p:spPr>
        <p:txBody>
          <a:bodyPr wrap="square" lIns="36576" tIns="36576" rIns="36576" bIns="36576" anchor="t">
            <a:spAutoFit/>
          </a:bodyPr>
          <a:lstStyle/>
          <a:p>
            <a:pPr algn="l">
              <a:spcAft>
                <a:spcPts val="0"/>
              </a:spcAft>
            </a:pPr>
            <a:r>
              <a:rPr sz="1000" b="0">
                <a:solidFill>
                  <a:srgbClr val="C4D3DA"/>
                </a:solidFill>
                <a:latin typeface="Aptos"/>
              </a:rPr>
              <a:t>Only 3.3% sky overlap</a:t>
            </a:r>
          </a:p>
        </p:txBody>
      </p:sp>
      <p:sp>
        <p:nvSpPr>
          <p:cNvPr id="18" name="TextBox 17"/>
          <p:cNvSpPr txBox="1"/>
          <p:nvPr/>
        </p:nvSpPr>
        <p:spPr>
          <a:xfrm>
            <a:off x="530352" y="6565392"/>
            <a:ext cx="3108960" cy="164592"/>
          </a:xfrm>
          <a:prstGeom prst="rect">
            <a:avLst/>
          </a:prstGeom>
          <a:noFill/>
        </p:spPr>
        <p:txBody>
          <a:bodyPr wrap="square" lIns="36576" tIns="36576" rIns="36576" bIns="36576" anchor="t">
            <a:spAutoFit/>
          </a:bodyPr>
          <a:lstStyle/>
          <a:p>
            <a:pPr algn="l">
              <a:spcAft>
                <a:spcPts val="0"/>
              </a:spcAft>
            </a:pPr>
            <a:r>
              <a:rPr sz="850" b="0">
                <a:solidFill>
                  <a:srgbClr val="5B6771"/>
                </a:solidFill>
                <a:latin typeface="Aptos"/>
              </a:rPr>
              <a:t>Will Ruppert | Bachelor Thesis</a:t>
            </a:r>
          </a:p>
        </p:txBody>
      </p:sp>
      <p:sp>
        <p:nvSpPr>
          <p:cNvPr id="19" name="TextBox 18"/>
          <p:cNvSpPr txBox="1"/>
          <p:nvPr/>
        </p:nvSpPr>
        <p:spPr>
          <a:xfrm>
            <a:off x="11064240" y="6537960"/>
            <a:ext cx="502920" cy="201168"/>
          </a:xfrm>
          <a:prstGeom prst="rect">
            <a:avLst/>
          </a:prstGeom>
          <a:noFill/>
        </p:spPr>
        <p:txBody>
          <a:bodyPr wrap="square" lIns="36576" tIns="36576" rIns="36576" bIns="36576" anchor="t">
            <a:spAutoFit/>
          </a:bodyPr>
          <a:lstStyle/>
          <a:p>
            <a:pPr algn="r">
              <a:spcAft>
                <a:spcPts val="0"/>
              </a:spcAft>
            </a:pPr>
            <a:r>
              <a:rPr sz="900" b="1">
                <a:solidFill>
                  <a:srgbClr val="5B6771"/>
                </a:solidFill>
                <a:latin typeface="Apto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5" name="TextBox 4"/>
          <p:cNvSpPr txBox="1"/>
          <p:nvPr/>
        </p:nvSpPr>
        <p:spPr>
          <a:xfrm>
            <a:off x="502920" y="676656"/>
            <a:ext cx="10881360" cy="566928"/>
          </a:xfrm>
          <a:prstGeom prst="rect">
            <a:avLst/>
          </a:prstGeom>
          <a:noFill/>
        </p:spPr>
        <p:txBody>
          <a:bodyPr wrap="square" lIns="36576" tIns="36576" rIns="36576" bIns="36576" anchor="t">
            <a:spAutoFit/>
          </a:bodyPr>
          <a:lstStyle/>
          <a:p>
            <a:pPr algn="l">
              <a:spcAft>
                <a:spcPts val="0"/>
              </a:spcAft>
            </a:pPr>
            <a:r>
              <a:rPr sz="2800" b="1">
                <a:solidFill>
                  <a:srgbClr val="1C3750"/>
                </a:solidFill>
                <a:latin typeface="Aptos Display"/>
              </a:rPr>
              <a:t>From KiDS to LSST</a:t>
            </a:r>
          </a:p>
        </p:txBody>
      </p:sp>
      <p:sp>
        <p:nvSpPr>
          <p:cNvPr id="6" name="Rectangle 5"/>
          <p:cNvSpPr/>
          <p:nvPr/>
        </p:nvSpPr>
        <p:spPr>
          <a:xfrm>
            <a:off x="502920" y="1344168"/>
            <a:ext cx="10972800" cy="13716"/>
          </a:xfrm>
          <a:prstGeom prst="rect">
            <a:avLst/>
          </a:prstGeom>
          <a:solidFill>
            <a:srgbClr val="D2D7D7"/>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sher_kids_vs_lsst_2x2.png"/>
          <p:cNvPicPr>
            <a:picLocks noChangeAspect="1"/>
          </p:cNvPicPr>
          <p:nvPr/>
        </p:nvPicPr>
        <p:blipFill>
          <a:blip r:embed="rId3"/>
          <a:stretch>
            <a:fillRect/>
          </a:stretch>
        </p:blipFill>
        <p:spPr>
          <a:xfrm>
            <a:off x="1178792" y="1417320"/>
            <a:ext cx="5872015" cy="4892040"/>
          </a:xfrm>
          <a:prstGeom prst="rect">
            <a:avLst/>
          </a:prstGeom>
        </p:spPr>
      </p:pic>
      <p:sp>
        <p:nvSpPr>
          <p:cNvPr id="8" name="Rounded Rectangle 7"/>
          <p:cNvSpPr/>
          <p:nvPr/>
        </p:nvSpPr>
        <p:spPr>
          <a:xfrm>
            <a:off x="8092440" y="1664208"/>
            <a:ext cx="3337560" cy="443484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94192" y="1938528"/>
            <a:ext cx="2560320" cy="256032"/>
          </a:xfrm>
          <a:prstGeom prst="rect">
            <a:avLst/>
          </a:prstGeom>
          <a:noFill/>
        </p:spPr>
        <p:txBody>
          <a:bodyPr wrap="square" lIns="36576" tIns="36576" rIns="36576" bIns="36576" anchor="t">
            <a:spAutoFit/>
          </a:bodyPr>
          <a:lstStyle/>
          <a:p>
            <a:pPr algn="l">
              <a:spcAft>
                <a:spcPts val="0"/>
              </a:spcAft>
            </a:pPr>
            <a:r>
              <a:rPr sz="1100" b="1">
                <a:solidFill>
                  <a:srgbClr val="5B6771"/>
                </a:solidFill>
                <a:latin typeface="Aptos"/>
              </a:rPr>
              <a:t>SURVEY SCALE</a:t>
            </a:r>
          </a:p>
        </p:txBody>
      </p:sp>
      <p:sp>
        <p:nvSpPr>
          <p:cNvPr id="10" name="TextBox 9"/>
          <p:cNvSpPr txBox="1"/>
          <p:nvPr/>
        </p:nvSpPr>
        <p:spPr>
          <a:xfrm>
            <a:off x="8394192" y="2359152"/>
            <a:ext cx="2651760" cy="457200"/>
          </a:xfrm>
          <a:prstGeom prst="rect">
            <a:avLst/>
          </a:prstGeom>
          <a:noFill/>
        </p:spPr>
        <p:txBody>
          <a:bodyPr wrap="square" lIns="27432" tIns="18288" rIns="27432" bIns="18288">
            <a:spAutoFit/>
          </a:bodyPr>
          <a:lstStyle/>
          <a:p>
            <a:pPr algn="l">
              <a:spcAft>
                <a:spcPts val="0"/>
              </a:spcAft>
            </a:pPr>
            <a:r>
              <a:rPr sz="2300" b="1">
                <a:solidFill>
                  <a:srgbClr val="1C3750"/>
                </a:solidFill>
                <a:latin typeface="Aptos"/>
              </a:rPr>
              <a:t>1,347</a:t>
            </a:r>
            <a:r>
              <a:rPr sz="2300" b="0">
                <a:solidFill>
                  <a:srgbClr val="5B6771"/>
                </a:solidFill>
                <a:latin typeface="Aptos"/>
              </a:rPr>
              <a:t> → </a:t>
            </a:r>
            <a:r>
              <a:rPr sz="2300" b="1">
                <a:solidFill>
                  <a:srgbClr val="188985"/>
                </a:solidFill>
                <a:latin typeface="Aptos"/>
              </a:rPr>
              <a:t>18,000</a:t>
            </a:r>
            <a:r>
              <a:rPr sz="2300" b="0">
                <a:solidFill>
                  <a:srgbClr val="5B6771"/>
                </a:solidFill>
                <a:latin typeface="Aptos"/>
              </a:rPr>
              <a:t> deg²</a:t>
            </a:r>
          </a:p>
        </p:txBody>
      </p:sp>
      <p:sp>
        <p:nvSpPr>
          <p:cNvPr id="11" name="TextBox 10"/>
          <p:cNvSpPr txBox="1"/>
          <p:nvPr/>
        </p:nvSpPr>
        <p:spPr>
          <a:xfrm>
            <a:off x="8394192" y="2880360"/>
            <a:ext cx="2651760" cy="457200"/>
          </a:xfrm>
          <a:prstGeom prst="rect">
            <a:avLst/>
          </a:prstGeom>
          <a:noFill/>
        </p:spPr>
        <p:txBody>
          <a:bodyPr wrap="square" lIns="27432" tIns="18288" rIns="27432" bIns="18288">
            <a:spAutoFit/>
          </a:bodyPr>
          <a:lstStyle/>
          <a:p>
            <a:pPr algn="l">
              <a:spcAft>
                <a:spcPts val="0"/>
              </a:spcAft>
            </a:pPr>
            <a:r>
              <a:rPr sz="2300" b="1">
                <a:solidFill>
                  <a:srgbClr val="1C3750"/>
                </a:solidFill>
                <a:latin typeface="Aptos"/>
              </a:rPr>
              <a:t>6</a:t>
            </a:r>
            <a:r>
              <a:rPr sz="2300" b="0">
                <a:solidFill>
                  <a:srgbClr val="5B6771"/>
                </a:solidFill>
                <a:latin typeface="Aptos"/>
              </a:rPr>
              <a:t> → </a:t>
            </a:r>
            <a:r>
              <a:rPr sz="2300" b="1">
                <a:solidFill>
                  <a:srgbClr val="188985"/>
                </a:solidFill>
                <a:latin typeface="Aptos"/>
              </a:rPr>
              <a:t>10</a:t>
            </a:r>
            <a:r>
              <a:rPr sz="2300" b="0">
                <a:solidFill>
                  <a:srgbClr val="5B6771"/>
                </a:solidFill>
                <a:latin typeface="Aptos"/>
              </a:rPr>
              <a:t> bins</a:t>
            </a:r>
          </a:p>
        </p:txBody>
      </p:sp>
      <p:sp>
        <p:nvSpPr>
          <p:cNvPr id="12" name="Rectangle 11"/>
          <p:cNvSpPr/>
          <p:nvPr/>
        </p:nvSpPr>
        <p:spPr>
          <a:xfrm>
            <a:off x="8394192" y="3529584"/>
            <a:ext cx="2423160" cy="36576"/>
          </a:xfrm>
          <a:prstGeom prst="rect">
            <a:avLst/>
          </a:prstGeom>
          <a:solidFill>
            <a:srgbClr val="D2D7D7"/>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94192" y="3822191"/>
            <a:ext cx="2377440" cy="256032"/>
          </a:xfrm>
          <a:prstGeom prst="rect">
            <a:avLst/>
          </a:prstGeom>
          <a:noFill/>
        </p:spPr>
        <p:txBody>
          <a:bodyPr wrap="square" lIns="36576" tIns="36576" rIns="36576" bIns="36576" anchor="t">
            <a:spAutoFit/>
          </a:bodyPr>
          <a:lstStyle/>
          <a:p>
            <a:pPr algn="l">
              <a:spcAft>
                <a:spcPts val="0"/>
              </a:spcAft>
            </a:pPr>
            <a:r>
              <a:rPr sz="1100" b="1">
                <a:solidFill>
                  <a:srgbClr val="DD5B4A"/>
                </a:solidFill>
                <a:latin typeface="Aptos"/>
              </a:rPr>
              <a:t>DEEP MAGNETAR</a:t>
            </a:r>
          </a:p>
        </p:txBody>
      </p:sp>
      <p:sp>
        <p:nvSpPr>
          <p:cNvPr id="14" name="TextBox 13"/>
          <p:cNvSpPr txBox="1"/>
          <p:nvPr/>
        </p:nvSpPr>
        <p:spPr>
          <a:xfrm>
            <a:off x="8394192" y="4224528"/>
            <a:ext cx="2468880" cy="335476"/>
          </a:xfrm>
          <a:prstGeom prst="rect">
            <a:avLst/>
          </a:prstGeom>
          <a:noFill/>
        </p:spPr>
        <p:txBody>
          <a:bodyPr wrap="square" lIns="36576" tIns="36576" rIns="36576" bIns="36576" anchor="t">
            <a:spAutoFit/>
          </a:bodyPr>
          <a:lstStyle/>
          <a:p>
            <a:pPr algn="l">
              <a:spcAft>
                <a:spcPts val="0"/>
              </a:spcAft>
            </a:pPr>
            <a:r>
              <a:rPr sz="1700" b="1" dirty="0" err="1">
                <a:solidFill>
                  <a:srgbClr val="1C3750"/>
                </a:solidFill>
                <a:latin typeface="Aptos"/>
              </a:rPr>
              <a:t>σ</a:t>
            </a:r>
            <a:r>
              <a:rPr sz="1700" b="1" dirty="0">
                <a:solidFill>
                  <a:srgbClr val="1C3750"/>
                </a:solidFill>
                <a:latin typeface="Aptos"/>
              </a:rPr>
              <a:t>(b₀)  1.27 → 0.</a:t>
            </a:r>
            <a:r>
              <a:rPr lang="nl-NL" sz="1700" b="1" dirty="0">
                <a:solidFill>
                  <a:srgbClr val="1C3750"/>
                </a:solidFill>
                <a:latin typeface="Aptos"/>
              </a:rPr>
              <a:t>43</a:t>
            </a:r>
            <a:endParaRPr sz="1700" b="1" dirty="0">
              <a:solidFill>
                <a:srgbClr val="1C3750"/>
              </a:solidFill>
              <a:latin typeface="Aptos"/>
            </a:endParaRPr>
          </a:p>
        </p:txBody>
      </p:sp>
      <p:sp>
        <p:nvSpPr>
          <p:cNvPr id="15" name="TextBox 14"/>
          <p:cNvSpPr txBox="1"/>
          <p:nvPr/>
        </p:nvSpPr>
        <p:spPr>
          <a:xfrm>
            <a:off x="8394192" y="4681728"/>
            <a:ext cx="2468880" cy="335476"/>
          </a:xfrm>
          <a:prstGeom prst="rect">
            <a:avLst/>
          </a:prstGeom>
          <a:noFill/>
        </p:spPr>
        <p:txBody>
          <a:bodyPr wrap="square" lIns="36576" tIns="36576" rIns="36576" bIns="36576" anchor="t">
            <a:spAutoFit/>
          </a:bodyPr>
          <a:lstStyle/>
          <a:p>
            <a:pPr algn="l">
              <a:spcAft>
                <a:spcPts val="0"/>
              </a:spcAft>
            </a:pPr>
            <a:r>
              <a:rPr sz="1700" b="1" dirty="0" err="1">
                <a:solidFill>
                  <a:srgbClr val="1C3750"/>
                </a:solidFill>
                <a:latin typeface="Aptos"/>
              </a:rPr>
              <a:t>FoM</a:t>
            </a:r>
            <a:r>
              <a:rPr sz="1700" b="1" dirty="0">
                <a:solidFill>
                  <a:srgbClr val="1C3750"/>
                </a:solidFill>
                <a:latin typeface="Aptos"/>
              </a:rPr>
              <a:t>     1.59 → </a:t>
            </a:r>
            <a:r>
              <a:rPr lang="nl-NL" sz="1700" b="1" dirty="0">
                <a:solidFill>
                  <a:srgbClr val="1C3750"/>
                </a:solidFill>
                <a:latin typeface="Aptos"/>
              </a:rPr>
              <a:t>14.56</a:t>
            </a:r>
            <a:endParaRPr sz="1700" b="1" dirty="0">
              <a:solidFill>
                <a:srgbClr val="1C3750"/>
              </a:solidFill>
              <a:latin typeface="Aptos"/>
            </a:endParaRPr>
          </a:p>
        </p:txBody>
      </p:sp>
      <p:sp>
        <p:nvSpPr>
          <p:cNvPr id="16" name="TextBox 15"/>
          <p:cNvSpPr txBox="1"/>
          <p:nvPr/>
        </p:nvSpPr>
        <p:spPr>
          <a:xfrm>
            <a:off x="8394192" y="5285232"/>
            <a:ext cx="2423160" cy="320040"/>
          </a:xfrm>
          <a:prstGeom prst="rect">
            <a:avLst/>
          </a:prstGeom>
          <a:noFill/>
        </p:spPr>
        <p:txBody>
          <a:bodyPr wrap="square" lIns="36576" tIns="36576" rIns="36576" bIns="36576" anchor="t">
            <a:spAutoFit/>
          </a:bodyPr>
          <a:lstStyle/>
          <a:p>
            <a:pPr algn="l">
              <a:spcAft>
                <a:spcPts val="0"/>
              </a:spcAft>
            </a:pPr>
            <a:r>
              <a:rPr sz="1400" b="1">
                <a:solidFill>
                  <a:srgbClr val="188985"/>
                </a:solidFill>
                <a:latin typeface="Aptos"/>
              </a:rPr>
              <a:t>Models separate at 1σ</a:t>
            </a:r>
          </a:p>
        </p:txBody>
      </p:sp>
      <p:sp>
        <p:nvSpPr>
          <p:cNvPr id="17" name="TextBox 16"/>
          <p:cNvSpPr txBox="1"/>
          <p:nvPr/>
        </p:nvSpPr>
        <p:spPr>
          <a:xfrm>
            <a:off x="530352" y="6565392"/>
            <a:ext cx="3108960" cy="164592"/>
          </a:xfrm>
          <a:prstGeom prst="rect">
            <a:avLst/>
          </a:prstGeom>
          <a:noFill/>
        </p:spPr>
        <p:txBody>
          <a:bodyPr wrap="square" lIns="36576" tIns="36576" rIns="36576" bIns="36576" anchor="t">
            <a:spAutoFit/>
          </a:bodyPr>
          <a:lstStyle/>
          <a:p>
            <a:pPr algn="l">
              <a:spcAft>
                <a:spcPts val="0"/>
              </a:spcAft>
            </a:pPr>
            <a:r>
              <a:rPr sz="850" b="0">
                <a:solidFill>
                  <a:srgbClr val="5B6771"/>
                </a:solidFill>
                <a:latin typeface="Aptos"/>
              </a:rPr>
              <a:t>Will Ruppert | Bachelor Thesis</a:t>
            </a:r>
          </a:p>
        </p:txBody>
      </p:sp>
      <p:sp>
        <p:nvSpPr>
          <p:cNvPr id="18" name="TextBox 17"/>
          <p:cNvSpPr txBox="1"/>
          <p:nvPr/>
        </p:nvSpPr>
        <p:spPr>
          <a:xfrm>
            <a:off x="11064240" y="6537960"/>
            <a:ext cx="502920" cy="201168"/>
          </a:xfrm>
          <a:prstGeom prst="rect">
            <a:avLst/>
          </a:prstGeom>
          <a:noFill/>
        </p:spPr>
        <p:txBody>
          <a:bodyPr wrap="square" lIns="36576" tIns="36576" rIns="36576" bIns="36576" anchor="t">
            <a:spAutoFit/>
          </a:bodyPr>
          <a:lstStyle/>
          <a:p>
            <a:pPr algn="r">
              <a:spcAft>
                <a:spcPts val="0"/>
              </a:spcAft>
            </a:pPr>
            <a:r>
              <a:rPr sz="900" b="1">
                <a:solidFill>
                  <a:srgbClr val="5B6771"/>
                </a:solidFill>
                <a:latin typeface="Apto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188985"/>
          </a:solidFill>
          <a:ln>
            <a:solidFill>
              <a:srgbClr val="1889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566928" cy="320040"/>
          </a:xfrm>
          <a:prstGeom prst="rect">
            <a:avLst/>
          </a:prstGeom>
          <a:noFill/>
        </p:spPr>
        <p:txBody>
          <a:bodyPr wrap="square" lIns="36576" tIns="36576" rIns="36576" bIns="36576" anchor="t">
            <a:spAutoFit/>
          </a:bodyPr>
          <a:lstStyle/>
          <a:p>
            <a:pPr algn="l">
              <a:spcAft>
                <a:spcPts val="0"/>
              </a:spcAft>
            </a:pPr>
            <a:r>
              <a:rPr sz="1300" b="1">
                <a:solidFill>
                  <a:srgbClr val="DD5B4A"/>
                </a:solidFill>
                <a:latin typeface="Aptos"/>
              </a:rPr>
              <a:t>12</a:t>
            </a:r>
          </a:p>
        </p:txBody>
      </p:sp>
      <p:sp>
        <p:nvSpPr>
          <p:cNvPr id="4" name="TextBox 3"/>
          <p:cNvSpPr txBox="1"/>
          <p:nvPr/>
        </p:nvSpPr>
        <p:spPr>
          <a:xfrm>
            <a:off x="1143000" y="320040"/>
            <a:ext cx="2926080" cy="256032"/>
          </a:xfrm>
          <a:prstGeom prst="rect">
            <a:avLst/>
          </a:prstGeom>
          <a:noFill/>
        </p:spPr>
        <p:txBody>
          <a:bodyPr wrap="square" lIns="36576" tIns="36576" rIns="36576" bIns="36576" anchor="t">
            <a:spAutoFit/>
          </a:bodyPr>
          <a:lstStyle/>
          <a:p>
            <a:pPr algn="l">
              <a:spcAft>
                <a:spcPts val="0"/>
              </a:spcAft>
            </a:pPr>
            <a:r>
              <a:rPr sz="1000" b="1">
                <a:solidFill>
                  <a:srgbClr val="5B6771"/>
                </a:solidFill>
                <a:latin typeface="Aptos"/>
              </a:rPr>
              <a:t>INTERPRETATION</a:t>
            </a:r>
          </a:p>
        </p:txBody>
      </p:sp>
      <p:sp>
        <p:nvSpPr>
          <p:cNvPr id="5" name="TextBox 4"/>
          <p:cNvSpPr txBox="1"/>
          <p:nvPr/>
        </p:nvSpPr>
        <p:spPr>
          <a:xfrm>
            <a:off x="502920" y="676656"/>
            <a:ext cx="10881360" cy="566928"/>
          </a:xfrm>
          <a:prstGeom prst="rect">
            <a:avLst/>
          </a:prstGeom>
          <a:noFill/>
        </p:spPr>
        <p:txBody>
          <a:bodyPr wrap="square" lIns="36576" tIns="36576" rIns="36576" bIns="36576" anchor="t">
            <a:spAutoFit/>
          </a:bodyPr>
          <a:lstStyle/>
          <a:p>
            <a:pPr algn="l">
              <a:spcAft>
                <a:spcPts val="0"/>
              </a:spcAft>
            </a:pPr>
            <a:r>
              <a:rPr sz="2800" b="1">
                <a:solidFill>
                  <a:srgbClr val="1C3750"/>
                </a:solidFill>
                <a:latin typeface="Aptos Display"/>
              </a:rPr>
              <a:t>Limitations</a:t>
            </a:r>
          </a:p>
        </p:txBody>
      </p:sp>
      <p:sp>
        <p:nvSpPr>
          <p:cNvPr id="6" name="Rectangle 5"/>
          <p:cNvSpPr/>
          <p:nvPr/>
        </p:nvSpPr>
        <p:spPr>
          <a:xfrm>
            <a:off x="502920" y="1344168"/>
            <a:ext cx="10972800" cy="13716"/>
          </a:xfrm>
          <a:prstGeom prst="rect">
            <a:avLst/>
          </a:prstGeom>
          <a:solidFill>
            <a:srgbClr val="D2D7D7"/>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58368" y="1755648"/>
            <a:ext cx="2971800" cy="1572768"/>
          </a:xfrm>
          <a:prstGeom prst="roundRect">
            <a:avLst>
              <a:gd name="adj" fmla="val 8000"/>
            </a:avLst>
          </a:prstGeom>
          <a:solidFill>
            <a:srgbClr val="E2EDF4"/>
          </a:solidFill>
          <a:ln>
            <a:solidFill>
              <a:srgbClr val="E2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984248"/>
            <a:ext cx="2514600" cy="384048"/>
          </a:xfrm>
          <a:prstGeom prst="rect">
            <a:avLst/>
          </a:prstGeom>
          <a:noFill/>
        </p:spPr>
        <p:txBody>
          <a:bodyPr wrap="square" lIns="36576" tIns="36576" rIns="36576" bIns="36576" anchor="t">
            <a:spAutoFit/>
          </a:bodyPr>
          <a:lstStyle/>
          <a:p>
            <a:pPr algn="ctr">
              <a:spcAft>
                <a:spcPts val="0"/>
              </a:spcAft>
            </a:pPr>
            <a:r>
              <a:rPr sz="2200" b="1">
                <a:solidFill>
                  <a:srgbClr val="5C9BBD"/>
                </a:solidFill>
                <a:latin typeface="Aptos Display"/>
              </a:rPr>
              <a:t>ℓ ≥ 10</a:t>
            </a:r>
          </a:p>
        </p:txBody>
      </p:sp>
      <p:sp>
        <p:nvSpPr>
          <p:cNvPr id="9" name="TextBox 8"/>
          <p:cNvSpPr txBox="1"/>
          <p:nvPr/>
        </p:nvSpPr>
        <p:spPr>
          <a:xfrm>
            <a:off x="886968" y="2615184"/>
            <a:ext cx="2514600" cy="365760"/>
          </a:xfrm>
          <a:prstGeom prst="rect">
            <a:avLst/>
          </a:prstGeom>
          <a:noFill/>
        </p:spPr>
        <p:txBody>
          <a:bodyPr wrap="square" lIns="36576" tIns="36576" rIns="36576" bIns="36576" anchor="t">
            <a:spAutoFit/>
          </a:bodyPr>
          <a:lstStyle/>
          <a:p>
            <a:pPr algn="ctr">
              <a:spcAft>
                <a:spcPts val="0"/>
              </a:spcAft>
            </a:pPr>
            <a:r>
              <a:rPr sz="1400" b="1">
                <a:solidFill>
                  <a:srgbClr val="182331"/>
                </a:solidFill>
                <a:latin typeface="Aptos"/>
              </a:rPr>
              <a:t>Limber approximation</a:t>
            </a:r>
          </a:p>
        </p:txBody>
      </p:sp>
      <p:sp>
        <p:nvSpPr>
          <p:cNvPr id="10" name="Rounded Rectangle 9"/>
          <p:cNvSpPr/>
          <p:nvPr/>
        </p:nvSpPr>
        <p:spPr>
          <a:xfrm>
            <a:off x="4206240" y="1755648"/>
            <a:ext cx="2971800" cy="1572768"/>
          </a:xfrm>
          <a:prstGeom prst="roundRect">
            <a:avLst>
              <a:gd name="adj" fmla="val 8000"/>
            </a:avLst>
          </a:prstGeom>
          <a:solidFill>
            <a:srgbClr val="F7E4DD"/>
          </a:solidFill>
          <a:ln>
            <a:solidFill>
              <a:srgbClr val="F7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34840" y="1984248"/>
            <a:ext cx="2514600" cy="384048"/>
          </a:xfrm>
          <a:prstGeom prst="rect">
            <a:avLst/>
          </a:prstGeom>
          <a:noFill/>
        </p:spPr>
        <p:txBody>
          <a:bodyPr wrap="square" lIns="36576" tIns="36576" rIns="36576" bIns="36576" anchor="t">
            <a:spAutoFit/>
          </a:bodyPr>
          <a:lstStyle/>
          <a:p>
            <a:pPr algn="ctr">
              <a:spcAft>
                <a:spcPts val="0"/>
              </a:spcAft>
            </a:pPr>
            <a:r>
              <a:rPr sz="2200" b="1">
                <a:solidFill>
                  <a:srgbClr val="DD5B4A"/>
                </a:solidFill>
                <a:latin typeface="Aptos Display"/>
              </a:rPr>
              <a:t>Gaussian</a:t>
            </a:r>
          </a:p>
        </p:txBody>
      </p:sp>
      <p:sp>
        <p:nvSpPr>
          <p:cNvPr id="12" name="TextBox 11"/>
          <p:cNvSpPr txBox="1"/>
          <p:nvPr/>
        </p:nvSpPr>
        <p:spPr>
          <a:xfrm>
            <a:off x="4434840" y="2615184"/>
            <a:ext cx="2514600" cy="365760"/>
          </a:xfrm>
          <a:prstGeom prst="rect">
            <a:avLst/>
          </a:prstGeom>
          <a:noFill/>
        </p:spPr>
        <p:txBody>
          <a:bodyPr wrap="square" lIns="36576" tIns="36576" rIns="36576" bIns="36576" anchor="t">
            <a:spAutoFit/>
          </a:bodyPr>
          <a:lstStyle/>
          <a:p>
            <a:pPr algn="ctr">
              <a:spcAft>
                <a:spcPts val="0"/>
              </a:spcAft>
            </a:pPr>
            <a:r>
              <a:rPr sz="1400" b="1">
                <a:solidFill>
                  <a:srgbClr val="182331"/>
                </a:solidFill>
                <a:latin typeface="Aptos"/>
              </a:rPr>
              <a:t>Optimistic Fisher bounds</a:t>
            </a:r>
          </a:p>
        </p:txBody>
      </p:sp>
      <p:sp>
        <p:nvSpPr>
          <p:cNvPr id="13" name="Rounded Rectangle 12"/>
          <p:cNvSpPr/>
          <p:nvPr/>
        </p:nvSpPr>
        <p:spPr>
          <a:xfrm>
            <a:off x="7754112" y="1755648"/>
            <a:ext cx="2971800" cy="1572768"/>
          </a:xfrm>
          <a:prstGeom prst="roundRect">
            <a:avLst>
              <a:gd name="adj" fmla="val 8000"/>
            </a:avLst>
          </a:prstGeom>
          <a:solidFill>
            <a:srgbClr val="E0EFEB"/>
          </a:solidFill>
          <a:ln>
            <a:solidFill>
              <a:srgbClr val="E0E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82712" y="1984248"/>
            <a:ext cx="2514600" cy="384048"/>
          </a:xfrm>
          <a:prstGeom prst="rect">
            <a:avLst/>
          </a:prstGeom>
          <a:noFill/>
        </p:spPr>
        <p:txBody>
          <a:bodyPr wrap="square" lIns="36576" tIns="36576" rIns="36576" bIns="36576" anchor="t">
            <a:spAutoFit/>
          </a:bodyPr>
          <a:lstStyle/>
          <a:p>
            <a:pPr algn="ctr">
              <a:spcAft>
                <a:spcPts val="0"/>
              </a:spcAft>
            </a:pPr>
            <a:r>
              <a:rPr sz="2200" b="1">
                <a:solidFill>
                  <a:srgbClr val="188985"/>
                </a:solidFill>
                <a:latin typeface="Aptos Display"/>
              </a:rPr>
              <a:t>n(z), b(z)</a:t>
            </a:r>
          </a:p>
        </p:txBody>
      </p:sp>
      <p:sp>
        <p:nvSpPr>
          <p:cNvPr id="15" name="TextBox 14"/>
          <p:cNvSpPr txBox="1"/>
          <p:nvPr/>
        </p:nvSpPr>
        <p:spPr>
          <a:xfrm>
            <a:off x="7982712" y="2615184"/>
            <a:ext cx="2514600" cy="365760"/>
          </a:xfrm>
          <a:prstGeom prst="rect">
            <a:avLst/>
          </a:prstGeom>
          <a:noFill/>
        </p:spPr>
        <p:txBody>
          <a:bodyPr wrap="square" lIns="36576" tIns="36576" rIns="36576" bIns="36576" anchor="t">
            <a:spAutoFit/>
          </a:bodyPr>
          <a:lstStyle/>
          <a:p>
            <a:pPr algn="ctr">
              <a:spcAft>
                <a:spcPts val="0"/>
              </a:spcAft>
            </a:pPr>
            <a:r>
              <a:rPr sz="1400" b="1">
                <a:solidFill>
                  <a:srgbClr val="182331"/>
                </a:solidFill>
                <a:latin typeface="Aptos"/>
              </a:rPr>
              <a:t>Model assumptions</a:t>
            </a:r>
          </a:p>
        </p:txBody>
      </p:sp>
      <p:sp>
        <p:nvSpPr>
          <p:cNvPr id="16" name="Rounded Rectangle 15"/>
          <p:cNvSpPr/>
          <p:nvPr/>
        </p:nvSpPr>
        <p:spPr>
          <a:xfrm>
            <a:off x="2432304" y="3913632"/>
            <a:ext cx="2971800" cy="1572768"/>
          </a:xfrm>
          <a:prstGeom prst="roundRect">
            <a:avLst>
              <a:gd name="adj" fmla="val 8000"/>
            </a:avLst>
          </a:prstGeom>
          <a:solidFill>
            <a:srgbClr val="F0EAD6"/>
          </a:solidFill>
          <a:ln>
            <a:solidFill>
              <a:srgbClr val="F0EA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660904" y="4142232"/>
            <a:ext cx="2514600" cy="384048"/>
          </a:xfrm>
          <a:prstGeom prst="rect">
            <a:avLst/>
          </a:prstGeom>
          <a:noFill/>
        </p:spPr>
        <p:txBody>
          <a:bodyPr wrap="square" lIns="36576" tIns="36576" rIns="36576" bIns="36576" anchor="t">
            <a:spAutoFit/>
          </a:bodyPr>
          <a:lstStyle/>
          <a:p>
            <a:pPr algn="ctr">
              <a:spcAft>
                <a:spcPts val="0"/>
              </a:spcAft>
            </a:pPr>
            <a:r>
              <a:rPr sz="2200" b="1">
                <a:solidFill>
                  <a:srgbClr val="DDA33A"/>
                </a:solidFill>
                <a:latin typeface="Aptos Display"/>
              </a:rPr>
              <a:t>fsky</a:t>
            </a:r>
          </a:p>
        </p:txBody>
      </p:sp>
      <p:sp>
        <p:nvSpPr>
          <p:cNvPr id="18" name="TextBox 17"/>
          <p:cNvSpPr txBox="1"/>
          <p:nvPr/>
        </p:nvSpPr>
        <p:spPr>
          <a:xfrm>
            <a:off x="2660904" y="4773168"/>
            <a:ext cx="2514600" cy="365760"/>
          </a:xfrm>
          <a:prstGeom prst="rect">
            <a:avLst/>
          </a:prstGeom>
          <a:noFill/>
        </p:spPr>
        <p:txBody>
          <a:bodyPr wrap="square" lIns="36576" tIns="36576" rIns="36576" bIns="36576" anchor="t">
            <a:spAutoFit/>
          </a:bodyPr>
          <a:lstStyle/>
          <a:p>
            <a:pPr algn="ctr">
              <a:spcAft>
                <a:spcPts val="0"/>
              </a:spcAft>
            </a:pPr>
            <a:r>
              <a:rPr sz="1400" b="1">
                <a:solidFill>
                  <a:srgbClr val="182331"/>
                </a:solidFill>
                <a:latin typeface="Aptos"/>
              </a:rPr>
              <a:t>Simplified geometry</a:t>
            </a:r>
          </a:p>
        </p:txBody>
      </p:sp>
      <p:sp>
        <p:nvSpPr>
          <p:cNvPr id="19" name="Rounded Rectangle 18"/>
          <p:cNvSpPr/>
          <p:nvPr/>
        </p:nvSpPr>
        <p:spPr>
          <a:xfrm>
            <a:off x="5980176" y="3913632"/>
            <a:ext cx="2971800" cy="1572768"/>
          </a:xfrm>
          <a:prstGeom prst="roundRect">
            <a:avLst>
              <a:gd name="adj" fmla="val 8000"/>
            </a:avLst>
          </a:prstGeom>
          <a:solidFill>
            <a:srgbClr val="EBE8EF"/>
          </a:solidFill>
          <a:ln>
            <a:solidFill>
              <a:srgbClr val="EB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08776" y="4142232"/>
            <a:ext cx="2514600" cy="384048"/>
          </a:xfrm>
          <a:prstGeom prst="rect">
            <a:avLst/>
          </a:prstGeom>
          <a:noFill/>
        </p:spPr>
        <p:txBody>
          <a:bodyPr wrap="square" lIns="36576" tIns="36576" rIns="36576" bIns="36576" anchor="t">
            <a:spAutoFit/>
          </a:bodyPr>
          <a:lstStyle/>
          <a:p>
            <a:pPr algn="ctr">
              <a:spcAft>
                <a:spcPts val="0"/>
              </a:spcAft>
            </a:pPr>
            <a:r>
              <a:rPr sz="2200" b="1">
                <a:solidFill>
                  <a:srgbClr val="1C3750"/>
                </a:solidFill>
                <a:latin typeface="Aptos Display"/>
              </a:rPr>
              <a:t>Ncross ≈ 0</a:t>
            </a:r>
          </a:p>
        </p:txBody>
      </p:sp>
      <p:sp>
        <p:nvSpPr>
          <p:cNvPr id="21" name="TextBox 20"/>
          <p:cNvSpPr txBox="1"/>
          <p:nvPr/>
        </p:nvSpPr>
        <p:spPr>
          <a:xfrm>
            <a:off x="6208776" y="4773168"/>
            <a:ext cx="2514600" cy="365760"/>
          </a:xfrm>
          <a:prstGeom prst="rect">
            <a:avLst/>
          </a:prstGeom>
          <a:noFill/>
        </p:spPr>
        <p:txBody>
          <a:bodyPr wrap="square" lIns="36576" tIns="36576" rIns="36576" bIns="36576" anchor="t">
            <a:spAutoFit/>
          </a:bodyPr>
          <a:lstStyle/>
          <a:p>
            <a:pPr algn="ctr">
              <a:spcAft>
                <a:spcPts val="0"/>
              </a:spcAft>
            </a:pPr>
            <a:r>
              <a:rPr sz="1400" b="1">
                <a:solidFill>
                  <a:srgbClr val="182331"/>
                </a:solidFill>
                <a:latin typeface="Aptos"/>
              </a:rPr>
              <a:t>Cross-shot noise neglected</a:t>
            </a:r>
          </a:p>
        </p:txBody>
      </p:sp>
      <p:sp>
        <p:nvSpPr>
          <p:cNvPr id="22" name="TextBox 21"/>
          <p:cNvSpPr txBox="1"/>
          <p:nvPr/>
        </p:nvSpPr>
        <p:spPr>
          <a:xfrm>
            <a:off x="2103120" y="5897880"/>
            <a:ext cx="8001000" cy="365760"/>
          </a:xfrm>
          <a:prstGeom prst="rect">
            <a:avLst/>
          </a:prstGeom>
          <a:noFill/>
        </p:spPr>
        <p:txBody>
          <a:bodyPr wrap="square" lIns="36576" tIns="36576" rIns="36576" bIns="36576" anchor="t">
            <a:spAutoFit/>
          </a:bodyPr>
          <a:lstStyle/>
          <a:p>
            <a:pPr algn="ctr">
              <a:spcAft>
                <a:spcPts val="0"/>
              </a:spcAft>
            </a:pPr>
            <a:r>
              <a:rPr sz="1600" b="0">
                <a:solidFill>
                  <a:srgbClr val="5B6771"/>
                </a:solidFill>
                <a:latin typeface="Aptos"/>
              </a:rPr>
              <a:t>Forecasts are informative, but should be read as best-case precision.</a:t>
            </a:r>
          </a:p>
        </p:txBody>
      </p:sp>
      <p:sp>
        <p:nvSpPr>
          <p:cNvPr id="23" name="TextBox 22"/>
          <p:cNvSpPr txBox="1"/>
          <p:nvPr/>
        </p:nvSpPr>
        <p:spPr>
          <a:xfrm>
            <a:off x="530352" y="6565392"/>
            <a:ext cx="3108960" cy="164592"/>
          </a:xfrm>
          <a:prstGeom prst="rect">
            <a:avLst/>
          </a:prstGeom>
          <a:noFill/>
        </p:spPr>
        <p:txBody>
          <a:bodyPr wrap="square" lIns="36576" tIns="36576" rIns="36576" bIns="36576" anchor="t">
            <a:spAutoFit/>
          </a:bodyPr>
          <a:lstStyle/>
          <a:p>
            <a:pPr algn="l">
              <a:spcAft>
                <a:spcPts val="0"/>
              </a:spcAft>
            </a:pPr>
            <a:r>
              <a:rPr sz="850" b="0">
                <a:solidFill>
                  <a:srgbClr val="5B6771"/>
                </a:solidFill>
                <a:latin typeface="Aptos"/>
              </a:rPr>
              <a:t>Will Ruppert | Bachelor Thesis</a:t>
            </a:r>
          </a:p>
        </p:txBody>
      </p:sp>
      <p:sp>
        <p:nvSpPr>
          <p:cNvPr id="24" name="TextBox 23"/>
          <p:cNvSpPr txBox="1"/>
          <p:nvPr/>
        </p:nvSpPr>
        <p:spPr>
          <a:xfrm>
            <a:off x="11064240" y="6537960"/>
            <a:ext cx="502920" cy="201168"/>
          </a:xfrm>
          <a:prstGeom prst="rect">
            <a:avLst/>
          </a:prstGeom>
          <a:noFill/>
        </p:spPr>
        <p:txBody>
          <a:bodyPr wrap="square" lIns="36576" tIns="36576" rIns="36576" bIns="36576" anchor="t">
            <a:spAutoFit/>
          </a:bodyPr>
          <a:lstStyle/>
          <a:p>
            <a:pPr algn="r">
              <a:spcAft>
                <a:spcPts val="0"/>
              </a:spcAft>
            </a:pPr>
            <a:r>
              <a:rPr sz="900" b="1">
                <a:solidFill>
                  <a:srgbClr val="5B6771"/>
                </a:solidFill>
                <a:latin typeface="Apto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C3750"/>
        </a:solidFill>
        <a:effectLst/>
      </p:bgPr>
    </p:bg>
    <p:spTree>
      <p:nvGrpSpPr>
        <p:cNvPr id="1" name=""/>
        <p:cNvGrpSpPr/>
        <p:nvPr/>
      </p:nvGrpSpPr>
      <p:grpSpPr>
        <a:xfrm>
          <a:off x="0" y="0"/>
          <a:ext cx="0" cy="0"/>
          <a:chOff x="0" y="0"/>
          <a:chExt cx="0" cy="0"/>
        </a:xfrm>
      </p:grpSpPr>
      <p:sp>
        <p:nvSpPr>
          <p:cNvPr id="2" name="TextBox 1"/>
          <p:cNvSpPr txBox="1"/>
          <p:nvPr/>
        </p:nvSpPr>
        <p:spPr>
          <a:xfrm>
            <a:off x="658368" y="530352"/>
            <a:ext cx="2103120" cy="274320"/>
          </a:xfrm>
          <a:prstGeom prst="rect">
            <a:avLst/>
          </a:prstGeom>
          <a:noFill/>
        </p:spPr>
        <p:txBody>
          <a:bodyPr wrap="square" lIns="36576" tIns="36576" rIns="36576" bIns="36576" anchor="t">
            <a:spAutoFit/>
          </a:bodyPr>
          <a:lstStyle/>
          <a:p>
            <a:pPr algn="l">
              <a:spcAft>
                <a:spcPts val="0"/>
              </a:spcAft>
            </a:pPr>
            <a:r>
              <a:rPr sz="1200" b="1">
                <a:solidFill>
                  <a:srgbClr val="DDA33A"/>
                </a:solidFill>
                <a:latin typeface="Aptos"/>
              </a:rPr>
              <a:t>CONCLUSION</a:t>
            </a:r>
          </a:p>
        </p:txBody>
      </p:sp>
      <p:sp>
        <p:nvSpPr>
          <p:cNvPr id="3" name="TextBox 2"/>
          <p:cNvSpPr txBox="1"/>
          <p:nvPr/>
        </p:nvSpPr>
        <p:spPr>
          <a:xfrm>
            <a:off x="658368" y="1078992"/>
            <a:ext cx="10698480" cy="1143000"/>
          </a:xfrm>
          <a:prstGeom prst="rect">
            <a:avLst/>
          </a:prstGeom>
          <a:noFill/>
        </p:spPr>
        <p:txBody>
          <a:bodyPr wrap="square" lIns="36576" tIns="36576" rIns="36576" bIns="36576" anchor="t">
            <a:spAutoFit/>
          </a:bodyPr>
          <a:lstStyle/>
          <a:p>
            <a:pPr algn="l">
              <a:spcAft>
                <a:spcPts val="0"/>
              </a:spcAft>
            </a:pPr>
            <a:r>
              <a:rPr sz="3100" b="1">
                <a:solidFill>
                  <a:srgbClr val="FFFFFF"/>
                </a:solidFill>
                <a:latin typeface="Aptos Display"/>
              </a:rPr>
              <a:t>FRB environments can be studied
without localising every burst.</a:t>
            </a:r>
          </a:p>
        </p:txBody>
      </p:sp>
      <p:sp>
        <p:nvSpPr>
          <p:cNvPr id="4" name="Rounded Rectangle 3"/>
          <p:cNvSpPr/>
          <p:nvPr/>
        </p:nvSpPr>
        <p:spPr>
          <a:xfrm>
            <a:off x="658368" y="2816352"/>
            <a:ext cx="3337560" cy="1874519"/>
          </a:xfrm>
          <a:prstGeom prst="roundRect">
            <a:avLst>
              <a:gd name="adj" fmla="val 8000"/>
            </a:avLst>
          </a:prstGeom>
          <a:solidFill>
            <a:srgbClr val="26435B"/>
          </a:solidFill>
          <a:ln>
            <a:solidFill>
              <a:srgbClr val="415B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3072384"/>
            <a:ext cx="457200" cy="320040"/>
          </a:xfrm>
          <a:prstGeom prst="rect">
            <a:avLst/>
          </a:prstGeom>
          <a:noFill/>
        </p:spPr>
        <p:txBody>
          <a:bodyPr wrap="square" lIns="36576" tIns="36576" rIns="36576" bIns="36576" anchor="t">
            <a:spAutoFit/>
          </a:bodyPr>
          <a:lstStyle/>
          <a:p>
            <a:pPr algn="l">
              <a:spcAft>
                <a:spcPts val="0"/>
              </a:spcAft>
            </a:pPr>
            <a:r>
              <a:rPr sz="1200" b="1">
                <a:solidFill>
                  <a:srgbClr val="DD5B4A"/>
                </a:solidFill>
                <a:latin typeface="Aptos"/>
              </a:rPr>
              <a:t>01</a:t>
            </a:r>
          </a:p>
        </p:txBody>
      </p:sp>
      <p:sp>
        <p:nvSpPr>
          <p:cNvPr id="6" name="TextBox 5"/>
          <p:cNvSpPr txBox="1"/>
          <p:nvPr/>
        </p:nvSpPr>
        <p:spPr>
          <a:xfrm>
            <a:off x="914400" y="3547872"/>
            <a:ext cx="2743200" cy="329184"/>
          </a:xfrm>
          <a:prstGeom prst="rect">
            <a:avLst/>
          </a:prstGeom>
          <a:noFill/>
        </p:spPr>
        <p:txBody>
          <a:bodyPr wrap="square" lIns="36576" tIns="36576" rIns="36576" bIns="36576" anchor="t">
            <a:spAutoFit/>
          </a:bodyPr>
          <a:lstStyle/>
          <a:p>
            <a:pPr algn="l">
              <a:spcAft>
                <a:spcPts val="0"/>
              </a:spcAft>
            </a:pPr>
            <a:r>
              <a:rPr sz="1800" b="1">
                <a:solidFill>
                  <a:srgbClr val="FFFFFF"/>
                </a:solidFill>
                <a:latin typeface="Aptos"/>
              </a:rPr>
              <a:t>Auto-correlation</a:t>
            </a:r>
          </a:p>
        </p:txBody>
      </p:sp>
      <p:sp>
        <p:nvSpPr>
          <p:cNvPr id="7" name="TextBox 6"/>
          <p:cNvSpPr txBox="1"/>
          <p:nvPr/>
        </p:nvSpPr>
        <p:spPr>
          <a:xfrm>
            <a:off x="914400" y="4041648"/>
            <a:ext cx="2743200" cy="320040"/>
          </a:xfrm>
          <a:prstGeom prst="rect">
            <a:avLst/>
          </a:prstGeom>
          <a:noFill/>
        </p:spPr>
        <p:txBody>
          <a:bodyPr wrap="square" lIns="36576" tIns="36576" rIns="36576" bIns="36576" anchor="t">
            <a:spAutoFit/>
          </a:bodyPr>
          <a:lstStyle/>
          <a:p>
            <a:pPr algn="l">
              <a:spcAft>
                <a:spcPts val="0"/>
              </a:spcAft>
            </a:pPr>
            <a:r>
              <a:rPr sz="1400" b="0">
                <a:solidFill>
                  <a:srgbClr val="CCD9DF"/>
                </a:solidFill>
                <a:latin typeface="Aptos"/>
              </a:rPr>
              <a:t>Shot-noise limited</a:t>
            </a:r>
          </a:p>
        </p:txBody>
      </p:sp>
      <p:sp>
        <p:nvSpPr>
          <p:cNvPr id="8" name="Rounded Rectangle 7"/>
          <p:cNvSpPr/>
          <p:nvPr/>
        </p:nvSpPr>
        <p:spPr>
          <a:xfrm>
            <a:off x="4453128" y="2816352"/>
            <a:ext cx="3337560" cy="1874519"/>
          </a:xfrm>
          <a:prstGeom prst="roundRect">
            <a:avLst>
              <a:gd name="adj" fmla="val 8000"/>
            </a:avLst>
          </a:prstGeom>
          <a:solidFill>
            <a:srgbClr val="26435B"/>
          </a:solidFill>
          <a:ln>
            <a:solidFill>
              <a:srgbClr val="415B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09160" y="3072384"/>
            <a:ext cx="457200" cy="320040"/>
          </a:xfrm>
          <a:prstGeom prst="rect">
            <a:avLst/>
          </a:prstGeom>
          <a:noFill/>
        </p:spPr>
        <p:txBody>
          <a:bodyPr wrap="square" lIns="36576" tIns="36576" rIns="36576" bIns="36576" anchor="t">
            <a:spAutoFit/>
          </a:bodyPr>
          <a:lstStyle/>
          <a:p>
            <a:pPr algn="l">
              <a:spcAft>
                <a:spcPts val="0"/>
              </a:spcAft>
            </a:pPr>
            <a:r>
              <a:rPr sz="1200" b="1">
                <a:solidFill>
                  <a:srgbClr val="188985"/>
                </a:solidFill>
                <a:latin typeface="Aptos"/>
              </a:rPr>
              <a:t>02</a:t>
            </a:r>
          </a:p>
        </p:txBody>
      </p:sp>
      <p:sp>
        <p:nvSpPr>
          <p:cNvPr id="10" name="TextBox 9"/>
          <p:cNvSpPr txBox="1"/>
          <p:nvPr/>
        </p:nvSpPr>
        <p:spPr>
          <a:xfrm>
            <a:off x="4709160" y="3547872"/>
            <a:ext cx="2743200" cy="329184"/>
          </a:xfrm>
          <a:prstGeom prst="rect">
            <a:avLst/>
          </a:prstGeom>
          <a:noFill/>
        </p:spPr>
        <p:txBody>
          <a:bodyPr wrap="square" lIns="36576" tIns="36576" rIns="36576" bIns="36576" anchor="t">
            <a:spAutoFit/>
          </a:bodyPr>
          <a:lstStyle/>
          <a:p>
            <a:pPr algn="l">
              <a:spcAft>
                <a:spcPts val="0"/>
              </a:spcAft>
            </a:pPr>
            <a:r>
              <a:rPr sz="1800" b="1">
                <a:solidFill>
                  <a:srgbClr val="FFFFFF"/>
                </a:solidFill>
                <a:latin typeface="Aptos"/>
              </a:rPr>
              <a:t>KiDS tomography</a:t>
            </a:r>
          </a:p>
        </p:txBody>
      </p:sp>
      <p:sp>
        <p:nvSpPr>
          <p:cNvPr id="11" name="TextBox 10"/>
          <p:cNvSpPr txBox="1"/>
          <p:nvPr/>
        </p:nvSpPr>
        <p:spPr>
          <a:xfrm>
            <a:off x="4709160" y="4041648"/>
            <a:ext cx="2743200" cy="320040"/>
          </a:xfrm>
          <a:prstGeom prst="rect">
            <a:avLst/>
          </a:prstGeom>
          <a:noFill/>
        </p:spPr>
        <p:txBody>
          <a:bodyPr wrap="square" lIns="36576" tIns="36576" rIns="36576" bIns="36576" anchor="t">
            <a:spAutoFit/>
          </a:bodyPr>
          <a:lstStyle/>
          <a:p>
            <a:pPr algn="l">
              <a:spcAft>
                <a:spcPts val="0"/>
              </a:spcAft>
            </a:pPr>
            <a:r>
              <a:rPr sz="1400" b="0">
                <a:solidFill>
                  <a:srgbClr val="CCD9DF"/>
                </a:solidFill>
                <a:latin typeface="Aptos"/>
              </a:rPr>
              <a:t>FoM improves 61-449×</a:t>
            </a:r>
          </a:p>
        </p:txBody>
      </p:sp>
      <p:sp>
        <p:nvSpPr>
          <p:cNvPr id="12" name="Rounded Rectangle 11"/>
          <p:cNvSpPr/>
          <p:nvPr/>
        </p:nvSpPr>
        <p:spPr>
          <a:xfrm>
            <a:off x="8247888" y="2816352"/>
            <a:ext cx="3337560" cy="1874519"/>
          </a:xfrm>
          <a:prstGeom prst="roundRect">
            <a:avLst>
              <a:gd name="adj" fmla="val 8000"/>
            </a:avLst>
          </a:prstGeom>
          <a:solidFill>
            <a:srgbClr val="26435B"/>
          </a:solidFill>
          <a:ln>
            <a:solidFill>
              <a:srgbClr val="415B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03920" y="3072384"/>
            <a:ext cx="457200" cy="320040"/>
          </a:xfrm>
          <a:prstGeom prst="rect">
            <a:avLst/>
          </a:prstGeom>
          <a:noFill/>
        </p:spPr>
        <p:txBody>
          <a:bodyPr wrap="square" lIns="36576" tIns="36576" rIns="36576" bIns="36576" anchor="t">
            <a:spAutoFit/>
          </a:bodyPr>
          <a:lstStyle/>
          <a:p>
            <a:pPr algn="l">
              <a:spcAft>
                <a:spcPts val="0"/>
              </a:spcAft>
            </a:pPr>
            <a:r>
              <a:rPr sz="1200" b="1">
                <a:solidFill>
                  <a:srgbClr val="DDA33A"/>
                </a:solidFill>
                <a:latin typeface="Aptos"/>
              </a:rPr>
              <a:t>03</a:t>
            </a:r>
          </a:p>
        </p:txBody>
      </p:sp>
      <p:sp>
        <p:nvSpPr>
          <p:cNvPr id="14" name="TextBox 13"/>
          <p:cNvSpPr txBox="1"/>
          <p:nvPr/>
        </p:nvSpPr>
        <p:spPr>
          <a:xfrm>
            <a:off x="8503920" y="3547872"/>
            <a:ext cx="2743200" cy="329184"/>
          </a:xfrm>
          <a:prstGeom prst="rect">
            <a:avLst/>
          </a:prstGeom>
          <a:noFill/>
        </p:spPr>
        <p:txBody>
          <a:bodyPr wrap="square" lIns="36576" tIns="36576" rIns="36576" bIns="36576" anchor="t">
            <a:spAutoFit/>
          </a:bodyPr>
          <a:lstStyle/>
          <a:p>
            <a:pPr algn="l">
              <a:spcAft>
                <a:spcPts val="0"/>
              </a:spcAft>
            </a:pPr>
            <a:r>
              <a:rPr sz="1800" b="1">
                <a:solidFill>
                  <a:srgbClr val="FFFFFF"/>
                </a:solidFill>
                <a:latin typeface="Aptos"/>
              </a:rPr>
              <a:t>LSST scale</a:t>
            </a:r>
          </a:p>
        </p:txBody>
      </p:sp>
      <p:sp>
        <p:nvSpPr>
          <p:cNvPr id="15" name="TextBox 14"/>
          <p:cNvSpPr txBox="1"/>
          <p:nvPr/>
        </p:nvSpPr>
        <p:spPr>
          <a:xfrm>
            <a:off x="8503920" y="4041648"/>
            <a:ext cx="2743200" cy="320040"/>
          </a:xfrm>
          <a:prstGeom prst="rect">
            <a:avLst/>
          </a:prstGeom>
          <a:noFill/>
        </p:spPr>
        <p:txBody>
          <a:bodyPr wrap="square" lIns="36576" tIns="36576" rIns="36576" bIns="36576" anchor="t">
            <a:spAutoFit/>
          </a:bodyPr>
          <a:lstStyle/>
          <a:p>
            <a:pPr algn="l">
              <a:spcAft>
                <a:spcPts val="0"/>
              </a:spcAft>
            </a:pPr>
            <a:r>
              <a:rPr sz="1400" b="0">
                <a:solidFill>
                  <a:srgbClr val="CCD9DF"/>
                </a:solidFill>
                <a:latin typeface="Aptos"/>
              </a:rPr>
              <a:t>Progenitor models separate</a:t>
            </a:r>
          </a:p>
        </p:txBody>
      </p:sp>
      <p:sp>
        <p:nvSpPr>
          <p:cNvPr id="16" name="Rectangle 15"/>
          <p:cNvSpPr/>
          <p:nvPr/>
        </p:nvSpPr>
        <p:spPr>
          <a:xfrm>
            <a:off x="658368" y="5321808"/>
            <a:ext cx="10927080" cy="54864"/>
          </a:xfrm>
          <a:prstGeom prst="rect">
            <a:avLst/>
          </a:prstGeom>
          <a:solidFill>
            <a:srgbClr val="188985"/>
          </a:solidFill>
          <a:ln>
            <a:solidFill>
              <a:srgbClr val="1889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5650992"/>
            <a:ext cx="8778240" cy="438912"/>
          </a:xfrm>
          <a:prstGeom prst="rect">
            <a:avLst/>
          </a:prstGeom>
          <a:noFill/>
        </p:spPr>
        <p:txBody>
          <a:bodyPr wrap="square" lIns="36576" tIns="36576" rIns="36576" bIns="36576" anchor="t">
            <a:spAutoFit/>
          </a:bodyPr>
          <a:lstStyle/>
          <a:p>
            <a:pPr algn="l">
              <a:spcAft>
                <a:spcPts val="0"/>
              </a:spcAft>
            </a:pPr>
            <a:r>
              <a:rPr sz="2000" b="1">
                <a:solidFill>
                  <a:srgbClr val="FFFFFF"/>
                </a:solidFill>
                <a:latin typeface="Aptos"/>
              </a:rPr>
              <a:t>FRBs  +  galaxy tomography  →  progenitor physics</a:t>
            </a:r>
          </a:p>
        </p:txBody>
      </p:sp>
      <p:sp>
        <p:nvSpPr>
          <p:cNvPr id="18" name="TextBox 17"/>
          <p:cNvSpPr txBox="1"/>
          <p:nvPr/>
        </p:nvSpPr>
        <p:spPr>
          <a:xfrm>
            <a:off x="9710928" y="5650992"/>
            <a:ext cx="1828800" cy="384048"/>
          </a:xfrm>
          <a:prstGeom prst="rect">
            <a:avLst/>
          </a:prstGeom>
          <a:noFill/>
        </p:spPr>
        <p:txBody>
          <a:bodyPr wrap="square" lIns="36576" tIns="36576" rIns="36576" bIns="36576" anchor="t">
            <a:spAutoFit/>
          </a:bodyPr>
          <a:lstStyle/>
          <a:p>
            <a:pPr algn="r">
              <a:spcAft>
                <a:spcPts val="0"/>
              </a:spcAft>
            </a:pPr>
            <a:r>
              <a:rPr sz="1700" b="1">
                <a:solidFill>
                  <a:srgbClr val="DDA33A"/>
                </a:solidFill>
                <a:latin typeface="Apto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Lines</Template>
  <TotalTime>4218</TotalTime>
  <Words>2732</Words>
  <Application>Microsoft Macintosh PowerPoint</Application>
  <PresentationFormat>Widescreen</PresentationFormat>
  <Paragraphs>222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Probing Fast Radio Burst Environments</dc:title>
  <dc:subject>Bachelor thesis presentation</dc:subject>
  <dc:creator>Will Ruppert</dc:creator>
  <cp:keywords>FRB, KiDS, cross-correlation, Fisher forecast</cp:keywords>
  <dc:description>generated using python-pptx</dc:description>
  <cp:lastModifiedBy>Will Ruppert</cp:lastModifiedBy>
  <cp:revision>2</cp:revision>
  <dcterms:created xsi:type="dcterms:W3CDTF">2013-01-27T09:14:16Z</dcterms:created>
  <dcterms:modified xsi:type="dcterms:W3CDTF">2026-09-27T11:59:28Z</dcterms:modified>
  <cp:category/>
</cp:coreProperties>
</file>