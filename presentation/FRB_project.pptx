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4" r:id="rId1"/>
  </p:sldMasterIdLst>
  <p:notesMasterIdLst>
    <p:notesMasterId r:id="rId13"/>
  </p:notesMasterIdLst>
  <p:sldIdLst>
    <p:sldId id="256" r:id="rId2"/>
    <p:sldId id="302" r:id="rId3"/>
    <p:sldId id="303" r:id="rId4"/>
    <p:sldId id="304" r:id="rId5"/>
    <p:sldId id="305" r:id="rId6"/>
    <p:sldId id="306" r:id="rId7"/>
    <p:sldId id="307" r:id="rId8"/>
    <p:sldId id="308" r:id="rId9"/>
    <p:sldId id="309" r:id="rId10"/>
    <p:sldId id="310" r:id="rId11"/>
    <p:sldId id="31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2A2A"/>
    <a:srgbClr val="BB9940"/>
    <a:srgbClr val="C7561E"/>
    <a:srgbClr val="6EC72D"/>
    <a:srgbClr val="D6A4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512"/>
    <p:restoredTop sz="71452"/>
  </p:normalViewPr>
  <p:slideViewPr>
    <p:cSldViewPr snapToGrid="0">
      <p:cViewPr varScale="1">
        <p:scale>
          <a:sx n="156" d="100"/>
          <a:sy n="156" d="100"/>
        </p:scale>
        <p:origin x="3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2E638-4A18-B24D-841C-B7AA22B6187A}" type="datetimeFigureOut">
              <a:rPr lang="en-DE" smtClean="0"/>
              <a:t>05.10.26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4690B4-CF9E-4043-AF95-44FD24F986C4}" type="slidenum">
              <a:rPr lang="en-DE" smtClean="0"/>
              <a:t>‹#›</a:t>
            </a:fld>
            <a:endParaRPr lang="en-DE"/>
          </a:p>
        </p:txBody>
      </p:sp>
    </p:spTree>
    <p:extLst>
      <p:ext uri="{BB962C8B-B14F-4D97-AF65-F5344CB8AC3E}">
        <p14:creationId xmlns:p14="http://schemas.microsoft.com/office/powerpoint/2010/main" val="1792273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sz="1200" b="0" kern="1200" dirty="0">
                <a:solidFill>
                  <a:schemeClr val="tx1"/>
                </a:solidFill>
                <a:effectLst/>
                <a:latin typeface="+mn-lt"/>
                <a:ea typeface="+mn-ea"/>
                <a:cs typeface="+mn-cs"/>
              </a:rPr>
              <a:t>Fast Radio Bursts last only milliseconds or less, but release an enormous amount of energy during that short interval. One important observable is dispersion: lower radio frequencies arrive later than higher frequencies because the signal travels through ionised matter. For many FRBs, the resulting dispersion measure is much larger than the contribution expected from the Milky Way alone. This shows that most sources are extragalactic and are often located at cosmological distances.</a:t>
            </a:r>
          </a:p>
          <a:p>
            <a:br>
              <a:rPr lang="en-DE" sz="1200" b="0" kern="1200" dirty="0">
                <a:solidFill>
                  <a:schemeClr val="tx1"/>
                </a:solidFill>
                <a:effectLst/>
                <a:latin typeface="+mn-lt"/>
                <a:ea typeface="+mn-ea"/>
                <a:cs typeface="+mn-cs"/>
              </a:rPr>
            </a:br>
            <a:endParaRPr lang="en-DE" sz="1200" b="0" kern="1200" dirty="0">
              <a:solidFill>
                <a:schemeClr val="tx1"/>
              </a:solidFill>
              <a:effectLst/>
              <a:latin typeface="+mn-lt"/>
              <a:ea typeface="+mn-ea"/>
              <a:cs typeface="+mn-cs"/>
            </a:endParaRPr>
          </a:p>
          <a:p>
            <a:r>
              <a:rPr lang="en-DE" sz="1200" b="0" kern="1200" dirty="0">
                <a:solidFill>
                  <a:schemeClr val="tx1"/>
                </a:solidFill>
                <a:effectLst/>
                <a:latin typeface="+mn-lt"/>
                <a:ea typeface="+mn-ea"/>
                <a:cs typeface="+mn-cs"/>
              </a:rPr>
              <a:t>CHIME has dramatically increased the number of observations. The latest catalogue considered in this thesis contains 4,539 bursts from 3,641 distinct sources. Nevertheless, their emission mechanisms and progenitors remain uncertain. Precisely localising individual bursts and assigning them to host galaxies is difficult. A statistical approach therefore offers an alternative: even without an individual redshift for every FRB, the population as a whole can be compared with the known large-scale distribution of galaxies.</a:t>
            </a:r>
          </a:p>
          <a:p>
            <a:endParaRPr lang="en-DE" dirty="0"/>
          </a:p>
        </p:txBody>
      </p:sp>
      <p:sp>
        <p:nvSpPr>
          <p:cNvPr id="4" name="Slide Number Placeholder 3"/>
          <p:cNvSpPr>
            <a:spLocks noGrp="1"/>
          </p:cNvSpPr>
          <p:nvPr>
            <p:ph type="sldNum" sz="quarter" idx="5"/>
          </p:nvPr>
        </p:nvSpPr>
        <p:spPr/>
        <p:txBody>
          <a:bodyPr/>
          <a:lstStyle/>
          <a:p>
            <a:fld id="{274690B4-CF9E-4043-AF95-44FD24F986C4}" type="slidenum">
              <a:rPr lang="en-DE" smtClean="0"/>
              <a:t>2</a:t>
            </a:fld>
            <a:endParaRPr lang="en-DE"/>
          </a:p>
        </p:txBody>
      </p:sp>
    </p:spTree>
    <p:extLst>
      <p:ext uri="{BB962C8B-B14F-4D97-AF65-F5344CB8AC3E}">
        <p14:creationId xmlns:p14="http://schemas.microsoft.com/office/powerpoint/2010/main" val="3588913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sz="1200" b="0" kern="1200" dirty="0">
                <a:solidFill>
                  <a:schemeClr val="tx1"/>
                </a:solidFill>
                <a:effectLst/>
                <a:latin typeface="+mn-lt"/>
                <a:ea typeface="+mn-ea"/>
                <a:cs typeface="+mn-cs"/>
              </a:rPr>
              <a:t>In this thesis, I compare two simplified classes of possible progenitors. The first model describes young magnetars. They are primarily formed through the collapse of massive stars and should therefore follow the cosmic star-formation rate with little delay. This interpretation is also supported by the detection of an FRB-like burst from the Galactic magnetar SGR 1935+2154.</a:t>
            </a:r>
          </a:p>
          <a:p>
            <a:br>
              <a:rPr lang="en-DE" sz="1200" b="0" kern="1200" dirty="0">
                <a:solidFill>
                  <a:schemeClr val="tx1"/>
                </a:solidFill>
                <a:effectLst/>
                <a:latin typeface="+mn-lt"/>
                <a:ea typeface="+mn-ea"/>
                <a:cs typeface="+mn-cs"/>
              </a:rPr>
            </a:br>
            <a:endParaRPr lang="en-DE" sz="1200" b="0" kern="1200" dirty="0">
              <a:solidFill>
                <a:schemeClr val="tx1"/>
              </a:solidFill>
              <a:effectLst/>
              <a:latin typeface="+mn-lt"/>
              <a:ea typeface="+mn-ea"/>
              <a:cs typeface="+mn-cs"/>
            </a:endParaRPr>
          </a:p>
          <a:p>
            <a:r>
              <a:rPr lang="en-DE" sz="1200" b="0" kern="1200" dirty="0">
                <a:solidFill>
                  <a:schemeClr val="tx1"/>
                </a:solidFill>
                <a:effectLst/>
                <a:latin typeface="+mn-lt"/>
                <a:ea typeface="+mn-ea"/>
                <a:cs typeface="+mn-cs"/>
              </a:rPr>
              <a:t>The second model represents delayed neutron-star channels, such as compact-object mergers or accretion-induced collapse. These events may occur billions of years after the original star formation and can therefore also be found in older galaxy populations.</a:t>
            </a:r>
          </a:p>
          <a:p>
            <a:br>
              <a:rPr lang="en-DE" sz="1200" b="0" kern="1200" dirty="0">
                <a:solidFill>
                  <a:schemeClr val="tx1"/>
                </a:solidFill>
                <a:effectLst/>
                <a:latin typeface="+mn-lt"/>
                <a:ea typeface="+mn-ea"/>
                <a:cs typeface="+mn-cs"/>
              </a:rPr>
            </a:br>
            <a:endParaRPr lang="en-DE" sz="1200" b="0" kern="1200" dirty="0">
              <a:solidFill>
                <a:schemeClr val="tx1"/>
              </a:solidFill>
              <a:effectLst/>
              <a:latin typeface="+mn-lt"/>
              <a:ea typeface="+mn-ea"/>
              <a:cs typeface="+mn-cs"/>
            </a:endParaRPr>
          </a:p>
          <a:p>
            <a:r>
              <a:rPr lang="en-DE" sz="1200" b="0" kern="1200" dirty="0">
                <a:solidFill>
                  <a:schemeClr val="tx1"/>
                </a:solidFill>
                <a:effectLst/>
                <a:latin typeface="+mn-lt"/>
                <a:ea typeface="+mn-ea"/>
                <a:cs typeface="+mn-cs"/>
              </a:rPr>
              <a:t>Their different evolution is represented by a linear tracer bias, $b(z)=b_0(1+z)^\delta$. Here, $b_0$ sets the present-day amplitude, while $\delta$ determines how strongly the bias grows with redshift. The two models consequently leave different signatures in their spatial distributions. The goal of the cross-correlation analysis is to constrain these two bias parameters.</a:t>
            </a:r>
          </a:p>
          <a:p>
            <a:endParaRPr lang="en-DE" dirty="0"/>
          </a:p>
        </p:txBody>
      </p:sp>
      <p:sp>
        <p:nvSpPr>
          <p:cNvPr id="4" name="Slide Number Placeholder 3"/>
          <p:cNvSpPr>
            <a:spLocks noGrp="1"/>
          </p:cNvSpPr>
          <p:nvPr>
            <p:ph type="sldNum" sz="quarter" idx="5"/>
          </p:nvPr>
        </p:nvSpPr>
        <p:spPr/>
        <p:txBody>
          <a:bodyPr/>
          <a:lstStyle/>
          <a:p>
            <a:fld id="{274690B4-CF9E-4043-AF95-44FD24F986C4}" type="slidenum">
              <a:rPr lang="en-DE" smtClean="0"/>
              <a:t>3</a:t>
            </a:fld>
            <a:endParaRPr lang="en-DE"/>
          </a:p>
        </p:txBody>
      </p:sp>
    </p:spTree>
    <p:extLst>
      <p:ext uri="{BB962C8B-B14F-4D97-AF65-F5344CB8AC3E}">
        <p14:creationId xmlns:p14="http://schemas.microsoft.com/office/powerpoint/2010/main" val="4010310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basic idea is that both galaxies and FRB host objects trace the same underlying matter distribution. If a region of the sky contains more galaxies than average and we also observe more FRBs there, this produces a positive cross-correlation signal.</a:t>
            </a:r>
          </a:p>
          <a:p>
            <a:endParaRPr lang="en-GB" dirty="0"/>
          </a:p>
          <a:p>
            <a:r>
              <a:rPr lang="en-GB" dirty="0"/>
              <a:t>This signal is quantified by the angular power spectrum, $C_\ell$. Small multipoles correspond to large angular structures, while large multipoles probe small angular scales. The overlap along the line of sight is crucial: a low-redshift galaxy population only correlates with the fraction of FRBs located in the same redshift range.</a:t>
            </a:r>
          </a:p>
          <a:p>
            <a:endParaRPr lang="en-GB" dirty="0"/>
          </a:p>
          <a:p>
            <a:r>
              <a:rPr lang="en-GB" dirty="0" err="1"/>
              <a:t>KiDS</a:t>
            </a:r>
            <a:r>
              <a:rPr lang="en-GB" dirty="0"/>
              <a:t> divides its galaxies into six tomographic redshift bins. This means that FRB clustering is measured through six different radial weighting functions instead of one integrated projection. The resulting redshift information should help separate the overall bias amplitude, $b_0$, from its redshift evolution, $\delta$.</a:t>
            </a:r>
          </a:p>
          <a:p>
            <a:endParaRPr lang="en-DE" dirty="0"/>
          </a:p>
        </p:txBody>
      </p:sp>
      <p:sp>
        <p:nvSpPr>
          <p:cNvPr id="4" name="Slide Number Placeholder 3"/>
          <p:cNvSpPr>
            <a:spLocks noGrp="1"/>
          </p:cNvSpPr>
          <p:nvPr>
            <p:ph type="sldNum" sz="quarter" idx="5"/>
          </p:nvPr>
        </p:nvSpPr>
        <p:spPr/>
        <p:txBody>
          <a:bodyPr/>
          <a:lstStyle/>
          <a:p>
            <a:fld id="{274690B4-CF9E-4043-AF95-44FD24F986C4}" type="slidenum">
              <a:rPr lang="en-DE" smtClean="0"/>
              <a:t>4</a:t>
            </a:fld>
            <a:endParaRPr lang="en-DE"/>
          </a:p>
        </p:txBody>
      </p:sp>
    </p:spTree>
    <p:extLst>
      <p:ext uri="{BB962C8B-B14F-4D97-AF65-F5344CB8AC3E}">
        <p14:creationId xmlns:p14="http://schemas.microsoft.com/office/powerpoint/2010/main" val="2483216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Because individual redshifts are not assumed to be available for the FRB population, I model its normalised distribution as $n(z)\</a:t>
            </a:r>
            <a:r>
              <a:rPr lang="en-GB" dirty="0" err="1"/>
              <a:t>propto</a:t>
            </a:r>
            <a:r>
              <a:rPr lang="en-GB" dirty="0"/>
              <a:t> z^2\exp(-\alpha z)$. I consider two scenarios. The shallow survey contains 5,000 bursts and is more strongly concentrated at low redshift. The deep survey contains 50,000 bursts and has a substantially longer high-redshift tail. Both are assumed to cover 90 percent of the sky.</a:t>
            </a:r>
          </a:p>
          <a:p>
            <a:endParaRPr lang="en-GB" dirty="0"/>
          </a:p>
          <a:p>
            <a:r>
              <a:rPr lang="en-GB" dirty="0"/>
              <a:t>For the galaxy sample, I use the published redshift distributions from </a:t>
            </a:r>
            <a:r>
              <a:rPr lang="en-GB" dirty="0" err="1"/>
              <a:t>KiDS</a:t>
            </a:r>
            <a:r>
              <a:rPr lang="en-GB" dirty="0"/>
              <a:t> DR5. The survey covers 1,347 square degrees and is divided into six tomographic bins. These plots already indicate which combinations should provide the strongest signal. The lower </a:t>
            </a:r>
            <a:r>
              <a:rPr lang="en-GB" dirty="0" err="1"/>
              <a:t>KiDS</a:t>
            </a:r>
            <a:r>
              <a:rPr lang="en-GB" dirty="0"/>
              <a:t> bins overlap considerably with both FRB scenarios, whereas the higher bins benefit mainly from the deep survey. Alongside the number of objects, this radial overlap is the key factor determining the eventual parameter constraints.</a:t>
            </a:r>
          </a:p>
          <a:p>
            <a:endParaRPr lang="en-DE" dirty="0"/>
          </a:p>
        </p:txBody>
      </p:sp>
      <p:sp>
        <p:nvSpPr>
          <p:cNvPr id="4" name="Slide Number Placeholder 3"/>
          <p:cNvSpPr>
            <a:spLocks noGrp="1"/>
          </p:cNvSpPr>
          <p:nvPr>
            <p:ph type="sldNum" sz="quarter" idx="5"/>
          </p:nvPr>
        </p:nvSpPr>
        <p:spPr/>
        <p:txBody>
          <a:bodyPr/>
          <a:lstStyle/>
          <a:p>
            <a:fld id="{274690B4-CF9E-4043-AF95-44FD24F986C4}" type="slidenum">
              <a:rPr lang="en-DE" smtClean="0"/>
              <a:t>5</a:t>
            </a:fld>
            <a:endParaRPr lang="en-DE"/>
          </a:p>
        </p:txBody>
      </p:sp>
    </p:spTree>
    <p:extLst>
      <p:ext uri="{BB962C8B-B14F-4D97-AF65-F5344CB8AC3E}">
        <p14:creationId xmlns:p14="http://schemas.microsoft.com/office/powerpoint/2010/main" val="105966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4000" dirty="0"/>
              <a:t>The calculation starts with a flat $\</a:t>
            </a:r>
            <a:r>
              <a:rPr lang="en-GB" sz="4000" dirty="0" err="1"/>
              <a:t>Lambda$CDM</a:t>
            </a:r>
            <a:r>
              <a:rPr lang="en-GB" sz="4000" dirty="0"/>
              <a:t> cosmology using the Planck 2018 parameters. I calculate the non-linear three-dimensional matter power spectrum, $P(</a:t>
            </a:r>
            <a:r>
              <a:rPr lang="en-GB" sz="4000" dirty="0" err="1"/>
              <a:t>k,z</a:t>
            </a:r>
            <a:r>
              <a:rPr lang="en-GB" sz="4000" dirty="0"/>
              <a:t>)$, with the Python package `</a:t>
            </a:r>
            <a:r>
              <a:rPr lang="en-GB" sz="4000" dirty="0" err="1"/>
              <a:t>hmf</a:t>
            </a:r>
            <a:r>
              <a:rPr lang="en-GB" sz="4000" dirty="0"/>
              <a:t>`. All quantities are evaluated on a common redshift grid from 0.01 to 5.</a:t>
            </a:r>
          </a:p>
          <a:p>
            <a:endParaRPr lang="en-GB" sz="4000" dirty="0"/>
          </a:p>
          <a:p>
            <a:r>
              <a:rPr lang="en-GB" sz="4000" dirty="0"/>
              <a:t>For each population, I then construct a ra0 dial kernel. It is essentially the product of the normalised redshift distribution and the bias. The angular power spectrum is obtained through the Limber projection shown here, which combines both radial kernels with the matter power spectrum. I calculate multipoles from $\ell=10$ to 1,00because the Limber approximation is unreliable on the very largest angular scales.</a:t>
            </a:r>
          </a:p>
          <a:p>
            <a:endParaRPr lang="en-GB" sz="4000" dirty="0"/>
          </a:p>
          <a:p>
            <a:r>
              <a:rPr lang="en-GB" sz="4000" dirty="0"/>
              <a:t>The pipeline produces auto-spectra for the FRBs and for each </a:t>
            </a:r>
            <a:r>
              <a:rPr lang="en-GB" sz="4000" dirty="0" err="1"/>
              <a:t>KiDS</a:t>
            </a:r>
            <a:r>
              <a:rPr lang="en-GB" sz="4000" dirty="0"/>
              <a:t> bin, as well as all FRB-galaxy cross-spectra. With two progenitor models, two FRB surveys, and six galaxy bins, this gives 24 cross-spectra. In the final step, these spectra and their noise contributions enter the Fisher forecast.</a:t>
            </a:r>
          </a:p>
          <a:p>
            <a:endParaRPr lang="en-DE" sz="4000" dirty="0"/>
          </a:p>
        </p:txBody>
      </p:sp>
      <p:sp>
        <p:nvSpPr>
          <p:cNvPr id="4" name="Slide Number Placeholder 3"/>
          <p:cNvSpPr>
            <a:spLocks noGrp="1"/>
          </p:cNvSpPr>
          <p:nvPr>
            <p:ph type="sldNum" sz="quarter" idx="5"/>
          </p:nvPr>
        </p:nvSpPr>
        <p:spPr/>
        <p:txBody>
          <a:bodyPr/>
          <a:lstStyle/>
          <a:p>
            <a:fld id="{274690B4-CF9E-4043-AF95-44FD24F986C4}" type="slidenum">
              <a:rPr lang="en-DE" smtClean="0"/>
              <a:t>6</a:t>
            </a:fld>
            <a:endParaRPr lang="en-DE"/>
          </a:p>
        </p:txBody>
      </p:sp>
    </p:spTree>
    <p:extLst>
      <p:ext uri="{BB962C8B-B14F-4D97-AF65-F5344CB8AC3E}">
        <p14:creationId xmlns:p14="http://schemas.microsoft.com/office/powerpoint/2010/main" val="2885438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considering the cross-correlation, the FRB auto-correlation reveals the central problem. FRBs are discrete and rare compared with galaxies. The measured auto-spectrum therefore contains a constant Poisson contribution of $1/\bar n$.</a:t>
            </a:r>
          </a:p>
          <a:p>
            <a:endParaRPr lang="en-GB" dirty="0"/>
          </a:p>
          <a:p>
            <a:r>
              <a:rPr lang="en-GB" dirty="0"/>
              <a:t>For the shallow survey with 5,000 bursts, this shot noise lies roughly three orders of magnitude above the clustering signal throughout the multipole range considered. In principle, the auto-spectrum contains information about the host bias, but in practice that information is overwhelmed by noise.</a:t>
            </a:r>
          </a:p>
          <a:p>
            <a:endParaRPr lang="en-GB" dirty="0"/>
          </a:p>
          <a:p>
            <a:r>
              <a:rPr lang="en-GB" dirty="0"/>
              <a:t>The deep survey reduces shot noise through its ten times larger source count. Its projected clustering signal is also slightly smaller because of the broader redshift distribution. The essential point remains that more FRBs help, but the auto-correlation still relies on a sparse sample. Combining it with the much denser galaxy population is therefore not a minor optimisation; it is the central element of the method.</a:t>
            </a:r>
          </a:p>
          <a:p>
            <a:endParaRPr lang="en-DE" dirty="0"/>
          </a:p>
        </p:txBody>
      </p:sp>
      <p:sp>
        <p:nvSpPr>
          <p:cNvPr id="4" name="Slide Number Placeholder 3"/>
          <p:cNvSpPr>
            <a:spLocks noGrp="1"/>
          </p:cNvSpPr>
          <p:nvPr>
            <p:ph type="sldNum" sz="quarter" idx="5"/>
          </p:nvPr>
        </p:nvSpPr>
        <p:spPr/>
        <p:txBody>
          <a:bodyPr/>
          <a:lstStyle/>
          <a:p>
            <a:fld id="{274690B4-CF9E-4043-AF95-44FD24F986C4}" type="slidenum">
              <a:rPr lang="en-DE" smtClean="0"/>
              <a:t>7</a:t>
            </a:fld>
            <a:endParaRPr lang="en-DE"/>
          </a:p>
        </p:txBody>
      </p:sp>
    </p:spTree>
    <p:extLst>
      <p:ext uri="{BB962C8B-B14F-4D97-AF65-F5344CB8AC3E}">
        <p14:creationId xmlns:p14="http://schemas.microsoft.com/office/powerpoint/2010/main" val="1216242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we see the cross-spectra for the magnetar model, including all six </a:t>
            </a:r>
            <a:r>
              <a:rPr lang="en-GB" dirty="0" err="1"/>
              <a:t>KiDS</a:t>
            </a:r>
            <a:r>
              <a:rPr lang="en-GB" dirty="0"/>
              <a:t> bins and both FRB surveys. Their amplitudes depend directly on the overlap between each galaxy distribution and the corresponding FRB distribution.</a:t>
            </a:r>
          </a:p>
          <a:p>
            <a:endParaRPr lang="en-GB" dirty="0"/>
          </a:p>
          <a:p>
            <a:r>
              <a:rPr lang="en-GB" dirty="0"/>
              <a:t>The shallow survey is concentrated at low redshift and therefore produces a stronger signal in the lower </a:t>
            </a:r>
            <a:r>
              <a:rPr lang="en-GB" dirty="0" err="1"/>
              <a:t>KiDS</a:t>
            </a:r>
            <a:r>
              <a:rPr lang="en-GB" dirty="0"/>
              <a:t> bins. The deep survey spreads its sources across a wider radial range. This broad projection dilutes its low-redshift signal, but leaves comparatively more signal in the higher bins.</a:t>
            </a:r>
          </a:p>
          <a:p>
            <a:endParaRPr lang="en-GB" dirty="0"/>
          </a:p>
          <a:p>
            <a:r>
              <a:rPr lang="en-GB" dirty="0"/>
              <a:t>Each galaxy bin therefore observes the FRB bias through a different redshift window. This is the value of tomography. A change in $b_0$ rescales all windows, while a change in $\delta$ affects high redshifts differently from low redshifts. The cross-correlation can consequently separate the two parameters more effectively.</a:t>
            </a:r>
          </a:p>
          <a:p>
            <a:endParaRPr lang="en-DE" dirty="0"/>
          </a:p>
        </p:txBody>
      </p:sp>
      <p:sp>
        <p:nvSpPr>
          <p:cNvPr id="4" name="Slide Number Placeholder 3"/>
          <p:cNvSpPr>
            <a:spLocks noGrp="1"/>
          </p:cNvSpPr>
          <p:nvPr>
            <p:ph type="sldNum" sz="quarter" idx="5"/>
          </p:nvPr>
        </p:nvSpPr>
        <p:spPr/>
        <p:txBody>
          <a:bodyPr/>
          <a:lstStyle/>
          <a:p>
            <a:fld id="{274690B4-CF9E-4043-AF95-44FD24F986C4}" type="slidenum">
              <a:rPr lang="en-DE" smtClean="0"/>
              <a:t>8</a:t>
            </a:fld>
            <a:endParaRPr lang="en-DE"/>
          </a:p>
        </p:txBody>
      </p:sp>
    </p:spTree>
    <p:extLst>
      <p:ext uri="{BB962C8B-B14F-4D97-AF65-F5344CB8AC3E}">
        <p14:creationId xmlns:p14="http://schemas.microsoft.com/office/powerpoint/2010/main" val="3661030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274690B4-CF9E-4043-AF95-44FD24F986C4}" type="slidenum">
              <a:rPr lang="en-DE" smtClean="0"/>
              <a:t>9</a:t>
            </a:fld>
            <a:endParaRPr lang="en-DE"/>
          </a:p>
        </p:txBody>
      </p:sp>
    </p:spTree>
    <p:extLst>
      <p:ext uri="{BB962C8B-B14F-4D97-AF65-F5344CB8AC3E}">
        <p14:creationId xmlns:p14="http://schemas.microsoft.com/office/powerpoint/2010/main" val="1636664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most direct next step is to use a larger galaxy survey. LSST will cover approximately 18,000 square degrees, around thirteen times the area of </a:t>
            </a:r>
            <a:r>
              <a:rPr lang="en-GB" dirty="0" err="1"/>
              <a:t>KiDS</a:t>
            </a:r>
            <a:r>
              <a:rPr lang="en-GB" dirty="0"/>
              <a:t>. It will also provide ten rather than six tomographic bins and a deeper galaxy sample.</a:t>
            </a:r>
          </a:p>
          <a:p>
            <a:endParaRPr lang="en-GB" dirty="0"/>
          </a:p>
          <a:p>
            <a:r>
              <a:rPr lang="en-GB" dirty="0"/>
              <a:t>I therefore ran the same pipeline with an LSST Year 10 model distribution. In the deep magnetar scenario, the uncertainty on $b_0$ decreases from 1.27 with </a:t>
            </a:r>
            <a:r>
              <a:rPr lang="en-GB" dirty="0" err="1"/>
              <a:t>KiDS</a:t>
            </a:r>
            <a:r>
              <a:rPr lang="en-GB" dirty="0"/>
              <a:t> to 0.25 with LSST. The Figure of Merit increases from 1.59 to 42.01, a factor of about 26. Most of this improvement follows directly from the larger sky area, with additional information coming from finer tomography and greater depth.</a:t>
            </a:r>
          </a:p>
          <a:p>
            <a:endParaRPr lang="en-GB" dirty="0"/>
          </a:p>
          <a:p>
            <a:r>
              <a:rPr lang="en-GB" dirty="0"/>
              <a:t>In this forecast, the separation between the two progenitor models lies outside their respective one-sigma contours for the deep survey. Cross-correlating FRBs with an LSST-like data set could therefore genuinely distinguish between a prompt and a delayed progenitor population.</a:t>
            </a:r>
          </a:p>
          <a:p>
            <a:endParaRPr lang="en-DE" dirty="0"/>
          </a:p>
        </p:txBody>
      </p:sp>
      <p:sp>
        <p:nvSpPr>
          <p:cNvPr id="4" name="Slide Number Placeholder 3"/>
          <p:cNvSpPr>
            <a:spLocks noGrp="1"/>
          </p:cNvSpPr>
          <p:nvPr>
            <p:ph type="sldNum" sz="quarter" idx="5"/>
          </p:nvPr>
        </p:nvSpPr>
        <p:spPr/>
        <p:txBody>
          <a:bodyPr/>
          <a:lstStyle/>
          <a:p>
            <a:fld id="{274690B4-CF9E-4043-AF95-44FD24F986C4}" type="slidenum">
              <a:rPr lang="en-DE" smtClean="0"/>
              <a:t>10</a:t>
            </a:fld>
            <a:endParaRPr lang="en-DE"/>
          </a:p>
        </p:txBody>
      </p:sp>
    </p:spTree>
    <p:extLst>
      <p:ext uri="{BB962C8B-B14F-4D97-AF65-F5344CB8AC3E}">
        <p14:creationId xmlns:p14="http://schemas.microsoft.com/office/powerpoint/2010/main" val="1946239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7F987B8-30A4-044B-B021-0E4FEA54139B}" type="datetime1">
              <a:rPr lang="de-DE" smtClean="0"/>
              <a:t>05.10.26</a:t>
            </a:fld>
            <a:endParaRPr lang="en-DE"/>
          </a:p>
        </p:txBody>
      </p:sp>
      <p:sp>
        <p:nvSpPr>
          <p:cNvPr id="5" name="Footer Placeholder 4"/>
          <p:cNvSpPr>
            <a:spLocks noGrp="1"/>
          </p:cNvSpPr>
          <p:nvPr>
            <p:ph type="ftr" sz="quarter" idx="11"/>
          </p:nvPr>
        </p:nvSpPr>
        <p:spPr/>
        <p:txBody>
          <a:bodyPr/>
          <a:lstStyle/>
          <a:p>
            <a:r>
              <a:rPr lang="en-GB"/>
              <a:t>Quellen:</a:t>
            </a:r>
            <a:endParaRPr lang="en-DE"/>
          </a:p>
        </p:txBody>
      </p:sp>
      <p:sp>
        <p:nvSpPr>
          <p:cNvPr id="6" name="Slide Number Placeholder 5"/>
          <p:cNvSpPr>
            <a:spLocks noGrp="1"/>
          </p:cNvSpPr>
          <p:nvPr>
            <p:ph type="sldNum" sz="quarter" idx="12"/>
          </p:nvPr>
        </p:nvSpPr>
        <p:spPr/>
        <p:txBody>
          <a:bodyPr/>
          <a:lstStyle/>
          <a:p>
            <a:fld id="{D3D74EA4-B172-9A48-808A-923F6A4D31D8}" type="slidenum">
              <a:rPr lang="en-DE" smtClean="0"/>
              <a:t>‹#›</a:t>
            </a:fld>
            <a:endParaRPr lang="en-DE"/>
          </a:p>
        </p:txBody>
      </p:sp>
    </p:spTree>
    <p:extLst>
      <p:ext uri="{BB962C8B-B14F-4D97-AF65-F5344CB8AC3E}">
        <p14:creationId xmlns:p14="http://schemas.microsoft.com/office/powerpoint/2010/main" val="2102735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112787C-F246-2344-9E35-42282032FB1D}" type="datetime1">
              <a:rPr lang="de-DE" smtClean="0"/>
              <a:t>05.10.26</a:t>
            </a:fld>
            <a:endParaRPr lang="en-DE"/>
          </a:p>
        </p:txBody>
      </p:sp>
      <p:sp>
        <p:nvSpPr>
          <p:cNvPr id="5" name="Footer Placeholder 4"/>
          <p:cNvSpPr>
            <a:spLocks noGrp="1"/>
          </p:cNvSpPr>
          <p:nvPr>
            <p:ph type="ftr" sz="quarter" idx="11"/>
          </p:nvPr>
        </p:nvSpPr>
        <p:spPr/>
        <p:txBody>
          <a:bodyPr/>
          <a:lstStyle/>
          <a:p>
            <a:r>
              <a:rPr lang="en-GB"/>
              <a:t>Quellen:</a:t>
            </a:r>
            <a:endParaRPr lang="en-DE"/>
          </a:p>
        </p:txBody>
      </p:sp>
      <p:sp>
        <p:nvSpPr>
          <p:cNvPr id="6" name="Slide Number Placeholder 5"/>
          <p:cNvSpPr>
            <a:spLocks noGrp="1"/>
          </p:cNvSpPr>
          <p:nvPr>
            <p:ph type="sldNum" sz="quarter" idx="12"/>
          </p:nvPr>
        </p:nvSpPr>
        <p:spPr/>
        <p:txBody>
          <a:bodyPr/>
          <a:lstStyle/>
          <a:p>
            <a:fld id="{D3D74EA4-B172-9A48-808A-923F6A4D31D8}" type="slidenum">
              <a:rPr lang="en-DE" smtClean="0"/>
              <a:t>‹#›</a:t>
            </a:fld>
            <a:endParaRPr lang="en-DE"/>
          </a:p>
        </p:txBody>
      </p:sp>
    </p:spTree>
    <p:extLst>
      <p:ext uri="{BB962C8B-B14F-4D97-AF65-F5344CB8AC3E}">
        <p14:creationId xmlns:p14="http://schemas.microsoft.com/office/powerpoint/2010/main" val="207596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B073C96-97C0-3C4D-8E73-DF5539BB1A4C}" type="datetime1">
              <a:rPr lang="de-DE" smtClean="0"/>
              <a:t>05.10.26</a:t>
            </a:fld>
            <a:endParaRPr lang="en-DE"/>
          </a:p>
        </p:txBody>
      </p:sp>
      <p:sp>
        <p:nvSpPr>
          <p:cNvPr id="5" name="Footer Placeholder 4"/>
          <p:cNvSpPr>
            <a:spLocks noGrp="1"/>
          </p:cNvSpPr>
          <p:nvPr>
            <p:ph type="ftr" sz="quarter" idx="11"/>
          </p:nvPr>
        </p:nvSpPr>
        <p:spPr/>
        <p:txBody>
          <a:bodyPr/>
          <a:lstStyle/>
          <a:p>
            <a:r>
              <a:rPr lang="en-GB"/>
              <a:t>Quellen:</a:t>
            </a:r>
            <a:endParaRPr lang="en-DE"/>
          </a:p>
        </p:txBody>
      </p:sp>
      <p:sp>
        <p:nvSpPr>
          <p:cNvPr id="6" name="Slide Number Placeholder 5"/>
          <p:cNvSpPr>
            <a:spLocks noGrp="1"/>
          </p:cNvSpPr>
          <p:nvPr>
            <p:ph type="sldNum" sz="quarter" idx="12"/>
          </p:nvPr>
        </p:nvSpPr>
        <p:spPr/>
        <p:txBody>
          <a:bodyPr/>
          <a:lstStyle/>
          <a:p>
            <a:fld id="{D3D74EA4-B172-9A48-808A-923F6A4D31D8}" type="slidenum">
              <a:rPr lang="en-DE" smtClean="0"/>
              <a:t>‹#›</a:t>
            </a:fld>
            <a:endParaRPr lang="en-DE"/>
          </a:p>
        </p:txBody>
      </p:sp>
    </p:spTree>
    <p:extLst>
      <p:ext uri="{BB962C8B-B14F-4D97-AF65-F5344CB8AC3E}">
        <p14:creationId xmlns:p14="http://schemas.microsoft.com/office/powerpoint/2010/main" val="1796871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760B672-8DC5-C04F-8747-05D9B7A997FB}" type="datetime1">
              <a:rPr lang="de-DE" smtClean="0"/>
              <a:t>05.10.26</a:t>
            </a:fld>
            <a:endParaRPr lang="en-DE"/>
          </a:p>
        </p:txBody>
      </p:sp>
      <p:sp>
        <p:nvSpPr>
          <p:cNvPr id="6" name="Footer Placeholder 5"/>
          <p:cNvSpPr>
            <a:spLocks noGrp="1"/>
          </p:cNvSpPr>
          <p:nvPr>
            <p:ph type="ftr" sz="quarter" idx="11"/>
          </p:nvPr>
        </p:nvSpPr>
        <p:spPr/>
        <p:txBody>
          <a:bodyPr/>
          <a:lstStyle/>
          <a:p>
            <a:r>
              <a:rPr lang="en-GB"/>
              <a:t>Quellen:</a:t>
            </a:r>
            <a:endParaRPr lang="en-DE"/>
          </a:p>
        </p:txBody>
      </p:sp>
      <p:sp>
        <p:nvSpPr>
          <p:cNvPr id="7" name="Slide Number Placeholder 6"/>
          <p:cNvSpPr>
            <a:spLocks noGrp="1"/>
          </p:cNvSpPr>
          <p:nvPr>
            <p:ph type="sldNum" sz="quarter" idx="12"/>
          </p:nvPr>
        </p:nvSpPr>
        <p:spPr/>
        <p:txBody>
          <a:bodyPr/>
          <a:lstStyle/>
          <a:p>
            <a:fld id="{D3D74EA4-B172-9A48-808A-923F6A4D31D8}" type="slidenum">
              <a:rPr lang="en-DE" smtClean="0"/>
              <a:t>‹#›</a:t>
            </a:fld>
            <a:endParaRPr lang="en-DE"/>
          </a:p>
        </p:txBody>
      </p:sp>
    </p:spTree>
    <p:extLst>
      <p:ext uri="{BB962C8B-B14F-4D97-AF65-F5344CB8AC3E}">
        <p14:creationId xmlns:p14="http://schemas.microsoft.com/office/powerpoint/2010/main" val="522279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1CC0A0A-985B-4547-B2CD-9D8D6E09CF2A}" type="datetime1">
              <a:rPr lang="de-DE" smtClean="0"/>
              <a:t>05.10.26</a:t>
            </a:fld>
            <a:endParaRPr lang="en-DE"/>
          </a:p>
        </p:txBody>
      </p:sp>
      <p:sp>
        <p:nvSpPr>
          <p:cNvPr id="8" name="Footer Placeholder 7"/>
          <p:cNvSpPr>
            <a:spLocks noGrp="1"/>
          </p:cNvSpPr>
          <p:nvPr>
            <p:ph type="ftr" sz="quarter" idx="11"/>
          </p:nvPr>
        </p:nvSpPr>
        <p:spPr/>
        <p:txBody>
          <a:bodyPr/>
          <a:lstStyle/>
          <a:p>
            <a:r>
              <a:rPr lang="en-GB"/>
              <a:t>Quellen:</a:t>
            </a:r>
            <a:endParaRPr lang="en-DE"/>
          </a:p>
        </p:txBody>
      </p:sp>
      <p:sp>
        <p:nvSpPr>
          <p:cNvPr id="9" name="Slide Number Placeholder 8"/>
          <p:cNvSpPr>
            <a:spLocks noGrp="1"/>
          </p:cNvSpPr>
          <p:nvPr>
            <p:ph type="sldNum" sz="quarter" idx="12"/>
          </p:nvPr>
        </p:nvSpPr>
        <p:spPr/>
        <p:txBody>
          <a:bodyPr/>
          <a:lstStyle/>
          <a:p>
            <a:fld id="{D3D74EA4-B172-9A48-808A-923F6A4D31D8}" type="slidenum">
              <a:rPr lang="en-DE" smtClean="0"/>
              <a:t>‹#›</a:t>
            </a:fld>
            <a:endParaRPr lang="en-DE"/>
          </a:p>
        </p:txBody>
      </p:sp>
    </p:spTree>
    <p:extLst>
      <p:ext uri="{BB962C8B-B14F-4D97-AF65-F5344CB8AC3E}">
        <p14:creationId xmlns:p14="http://schemas.microsoft.com/office/powerpoint/2010/main" val="1605192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8B59F8-6EB7-EC4A-B43C-0D35C17E4E71}" type="datetime1">
              <a:rPr lang="de-DE" smtClean="0"/>
              <a:t>05.10.26</a:t>
            </a:fld>
            <a:endParaRPr lang="en-DE"/>
          </a:p>
        </p:txBody>
      </p:sp>
      <p:sp>
        <p:nvSpPr>
          <p:cNvPr id="4" name="Footer Placeholder 3"/>
          <p:cNvSpPr>
            <a:spLocks noGrp="1"/>
          </p:cNvSpPr>
          <p:nvPr>
            <p:ph type="ftr" sz="quarter" idx="11"/>
          </p:nvPr>
        </p:nvSpPr>
        <p:spPr/>
        <p:txBody>
          <a:bodyPr/>
          <a:lstStyle/>
          <a:p>
            <a:r>
              <a:rPr lang="en-GB"/>
              <a:t>Quellen:</a:t>
            </a:r>
            <a:endParaRPr lang="en-DE"/>
          </a:p>
        </p:txBody>
      </p:sp>
      <p:sp>
        <p:nvSpPr>
          <p:cNvPr id="5" name="Slide Number Placeholder 4"/>
          <p:cNvSpPr>
            <a:spLocks noGrp="1"/>
          </p:cNvSpPr>
          <p:nvPr>
            <p:ph type="sldNum" sz="quarter" idx="12"/>
          </p:nvPr>
        </p:nvSpPr>
        <p:spPr/>
        <p:txBody>
          <a:bodyPr/>
          <a:lstStyle/>
          <a:p>
            <a:fld id="{D3D74EA4-B172-9A48-808A-923F6A4D31D8}" type="slidenum">
              <a:rPr lang="en-DE" smtClean="0"/>
              <a:t>‹#›</a:t>
            </a:fld>
            <a:endParaRPr lang="en-DE"/>
          </a:p>
        </p:txBody>
      </p:sp>
    </p:spTree>
    <p:extLst>
      <p:ext uri="{BB962C8B-B14F-4D97-AF65-F5344CB8AC3E}">
        <p14:creationId xmlns:p14="http://schemas.microsoft.com/office/powerpoint/2010/main" val="2575390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8DC1E5-00C4-B64C-99BB-99E5A1760278}" type="datetime1">
              <a:rPr lang="de-DE" smtClean="0"/>
              <a:t>05.10.26</a:t>
            </a:fld>
            <a:endParaRPr lang="en-DE"/>
          </a:p>
        </p:txBody>
      </p:sp>
      <p:sp>
        <p:nvSpPr>
          <p:cNvPr id="3" name="Footer Placeholder 2"/>
          <p:cNvSpPr>
            <a:spLocks noGrp="1"/>
          </p:cNvSpPr>
          <p:nvPr>
            <p:ph type="ftr" sz="quarter" idx="11"/>
          </p:nvPr>
        </p:nvSpPr>
        <p:spPr/>
        <p:txBody>
          <a:bodyPr/>
          <a:lstStyle/>
          <a:p>
            <a:r>
              <a:rPr lang="en-GB"/>
              <a:t>Quellen:</a:t>
            </a:r>
            <a:endParaRPr lang="en-DE"/>
          </a:p>
        </p:txBody>
      </p:sp>
      <p:sp>
        <p:nvSpPr>
          <p:cNvPr id="4" name="Slide Number Placeholder 3"/>
          <p:cNvSpPr>
            <a:spLocks noGrp="1"/>
          </p:cNvSpPr>
          <p:nvPr>
            <p:ph type="sldNum" sz="quarter" idx="12"/>
          </p:nvPr>
        </p:nvSpPr>
        <p:spPr/>
        <p:txBody>
          <a:bodyPr/>
          <a:lstStyle/>
          <a:p>
            <a:fld id="{D3D74EA4-B172-9A48-808A-923F6A4D31D8}" type="slidenum">
              <a:rPr lang="en-DE" smtClean="0"/>
              <a:t>‹#›</a:t>
            </a:fld>
            <a:endParaRPr lang="en-DE"/>
          </a:p>
        </p:txBody>
      </p:sp>
    </p:spTree>
    <p:extLst>
      <p:ext uri="{BB962C8B-B14F-4D97-AF65-F5344CB8AC3E}">
        <p14:creationId xmlns:p14="http://schemas.microsoft.com/office/powerpoint/2010/main" val="3974072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4774D7B-B803-B349-B7F4-3607601FA4C1}" type="datetime1">
              <a:rPr lang="de-DE" smtClean="0"/>
              <a:t>05.10.26</a:t>
            </a:fld>
            <a:endParaRPr lang="en-DE"/>
          </a:p>
        </p:txBody>
      </p:sp>
      <p:sp>
        <p:nvSpPr>
          <p:cNvPr id="6" name="Footer Placeholder 5"/>
          <p:cNvSpPr>
            <a:spLocks noGrp="1"/>
          </p:cNvSpPr>
          <p:nvPr>
            <p:ph type="ftr" sz="quarter" idx="11"/>
          </p:nvPr>
        </p:nvSpPr>
        <p:spPr/>
        <p:txBody>
          <a:bodyPr/>
          <a:lstStyle/>
          <a:p>
            <a:r>
              <a:rPr lang="en-GB"/>
              <a:t>Quellen:</a:t>
            </a:r>
            <a:endParaRPr lang="en-DE"/>
          </a:p>
        </p:txBody>
      </p:sp>
      <p:sp>
        <p:nvSpPr>
          <p:cNvPr id="7" name="Slide Number Placeholder 6"/>
          <p:cNvSpPr>
            <a:spLocks noGrp="1"/>
          </p:cNvSpPr>
          <p:nvPr>
            <p:ph type="sldNum" sz="quarter" idx="12"/>
          </p:nvPr>
        </p:nvSpPr>
        <p:spPr/>
        <p:txBody>
          <a:bodyPr/>
          <a:lstStyle/>
          <a:p>
            <a:fld id="{D3D74EA4-B172-9A48-808A-923F6A4D31D8}" type="slidenum">
              <a:rPr lang="en-DE" smtClean="0"/>
              <a:t>‹#›</a:t>
            </a:fld>
            <a:endParaRPr lang="en-DE"/>
          </a:p>
        </p:txBody>
      </p:sp>
    </p:spTree>
    <p:extLst>
      <p:ext uri="{BB962C8B-B14F-4D97-AF65-F5344CB8AC3E}">
        <p14:creationId xmlns:p14="http://schemas.microsoft.com/office/powerpoint/2010/main" val="3518219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072F288-7899-0540-A581-2843FFD9E2DE}" type="datetime1">
              <a:rPr lang="de-DE" smtClean="0"/>
              <a:t>05.10.26</a:t>
            </a:fld>
            <a:endParaRPr lang="en-DE"/>
          </a:p>
        </p:txBody>
      </p:sp>
      <p:sp>
        <p:nvSpPr>
          <p:cNvPr id="6" name="Footer Placeholder 5"/>
          <p:cNvSpPr>
            <a:spLocks noGrp="1"/>
          </p:cNvSpPr>
          <p:nvPr>
            <p:ph type="ftr" sz="quarter" idx="11"/>
          </p:nvPr>
        </p:nvSpPr>
        <p:spPr/>
        <p:txBody>
          <a:bodyPr/>
          <a:lstStyle/>
          <a:p>
            <a:r>
              <a:rPr lang="en-GB"/>
              <a:t>Quellen:</a:t>
            </a:r>
            <a:endParaRPr lang="en-DE"/>
          </a:p>
        </p:txBody>
      </p:sp>
      <p:sp>
        <p:nvSpPr>
          <p:cNvPr id="7" name="Slide Number Placeholder 6"/>
          <p:cNvSpPr>
            <a:spLocks noGrp="1"/>
          </p:cNvSpPr>
          <p:nvPr>
            <p:ph type="sldNum" sz="quarter" idx="12"/>
          </p:nvPr>
        </p:nvSpPr>
        <p:spPr/>
        <p:txBody>
          <a:bodyPr/>
          <a:lstStyle/>
          <a:p>
            <a:fld id="{D3D74EA4-B172-9A48-808A-923F6A4D31D8}" type="slidenum">
              <a:rPr lang="en-DE" smtClean="0"/>
              <a:t>‹#›</a:t>
            </a:fld>
            <a:endParaRPr lang="en-DE"/>
          </a:p>
        </p:txBody>
      </p:sp>
    </p:spTree>
    <p:extLst>
      <p:ext uri="{BB962C8B-B14F-4D97-AF65-F5344CB8AC3E}">
        <p14:creationId xmlns:p14="http://schemas.microsoft.com/office/powerpoint/2010/main" val="1830881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AB9055D-9A9B-0745-B98B-ABAE59D3B794}" type="datetime1">
              <a:rPr lang="de-DE" smtClean="0"/>
              <a:t>05.10.26</a:t>
            </a:fld>
            <a:endParaRPr lang="en-DE"/>
          </a:p>
        </p:txBody>
      </p:sp>
      <p:sp>
        <p:nvSpPr>
          <p:cNvPr id="5" name="Footer Placeholder 4"/>
          <p:cNvSpPr>
            <a:spLocks noGrp="1"/>
          </p:cNvSpPr>
          <p:nvPr>
            <p:ph type="ftr" sz="quarter" idx="11"/>
          </p:nvPr>
        </p:nvSpPr>
        <p:spPr/>
        <p:txBody>
          <a:bodyPr/>
          <a:lstStyle/>
          <a:p>
            <a:r>
              <a:rPr lang="en-GB"/>
              <a:t>Quellen:</a:t>
            </a:r>
            <a:endParaRPr lang="en-DE"/>
          </a:p>
        </p:txBody>
      </p:sp>
      <p:sp>
        <p:nvSpPr>
          <p:cNvPr id="6" name="Slide Number Placeholder 5"/>
          <p:cNvSpPr>
            <a:spLocks noGrp="1"/>
          </p:cNvSpPr>
          <p:nvPr>
            <p:ph type="sldNum" sz="quarter" idx="12"/>
          </p:nvPr>
        </p:nvSpPr>
        <p:spPr/>
        <p:txBody>
          <a:bodyPr/>
          <a:lstStyle/>
          <a:p>
            <a:fld id="{D3D74EA4-B172-9A48-808A-923F6A4D31D8}" type="slidenum">
              <a:rPr lang="en-DE" smtClean="0"/>
              <a:t>‹#›</a:t>
            </a:fld>
            <a:endParaRPr lang="en-DE"/>
          </a:p>
        </p:txBody>
      </p:sp>
    </p:spTree>
    <p:extLst>
      <p:ext uri="{BB962C8B-B14F-4D97-AF65-F5344CB8AC3E}">
        <p14:creationId xmlns:p14="http://schemas.microsoft.com/office/powerpoint/2010/main" val="932948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C5738BC-1EE9-3C4F-A3D2-D98FF4219397}" type="datetime1">
              <a:rPr lang="de-DE" smtClean="0"/>
              <a:t>05.10.26</a:t>
            </a:fld>
            <a:endParaRPr lang="en-DE"/>
          </a:p>
        </p:txBody>
      </p:sp>
      <p:sp>
        <p:nvSpPr>
          <p:cNvPr id="5" name="Footer Placeholder 4"/>
          <p:cNvSpPr>
            <a:spLocks noGrp="1"/>
          </p:cNvSpPr>
          <p:nvPr>
            <p:ph type="ftr" sz="quarter" idx="11"/>
          </p:nvPr>
        </p:nvSpPr>
        <p:spPr/>
        <p:txBody>
          <a:bodyPr/>
          <a:lstStyle/>
          <a:p>
            <a:r>
              <a:rPr lang="en-GB"/>
              <a:t>Quellen:</a:t>
            </a:r>
            <a:endParaRPr lang="en-DE"/>
          </a:p>
        </p:txBody>
      </p:sp>
      <p:sp>
        <p:nvSpPr>
          <p:cNvPr id="6" name="Slide Number Placeholder 5"/>
          <p:cNvSpPr>
            <a:spLocks noGrp="1"/>
          </p:cNvSpPr>
          <p:nvPr>
            <p:ph type="sldNum" sz="quarter" idx="12"/>
          </p:nvPr>
        </p:nvSpPr>
        <p:spPr/>
        <p:txBody>
          <a:bodyPr/>
          <a:lstStyle/>
          <a:p>
            <a:fld id="{D3D74EA4-B172-9A48-808A-923F6A4D31D8}" type="slidenum">
              <a:rPr lang="en-DE" smtClean="0"/>
              <a:t>‹#›</a:t>
            </a:fld>
            <a:endParaRPr lang="en-DE"/>
          </a:p>
        </p:txBody>
      </p:sp>
    </p:spTree>
    <p:extLst>
      <p:ext uri="{BB962C8B-B14F-4D97-AF65-F5344CB8AC3E}">
        <p14:creationId xmlns:p14="http://schemas.microsoft.com/office/powerpoint/2010/main" val="3124602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4000" r="-4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4E215DEA-5C87-CC42-97A2-C776002BE5F5}" type="datetime1">
              <a:rPr lang="de-DE" smtClean="0"/>
              <a:t>05.10.26</a:t>
            </a:fld>
            <a:endParaRPr lang="en-D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r>
              <a:rPr lang="en-GB"/>
              <a:t>Quellen:</a:t>
            </a:r>
            <a:endParaRPr lang="en-D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D3D74EA4-B172-9A48-808A-923F6A4D31D8}" type="slidenum">
              <a:rPr lang="en-DE" smtClean="0"/>
              <a:t>‹#›</a:t>
            </a:fld>
            <a:endParaRPr lang="en-DE"/>
          </a:p>
        </p:txBody>
      </p:sp>
    </p:spTree>
    <p:extLst>
      <p:ext uri="{BB962C8B-B14F-4D97-AF65-F5344CB8AC3E}">
        <p14:creationId xmlns:p14="http://schemas.microsoft.com/office/powerpoint/2010/main" val="3782818345"/>
      </p:ext>
    </p:extLst>
  </p:cSld>
  <p:clrMap bg1="dk1" tx1="lt1" bg2="dk2" tx2="lt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space scene with stars and a satellite in the sky&#10;&#10;AI-generated content may be incorrect.">
            <a:extLst>
              <a:ext uri="{FF2B5EF4-FFF2-40B4-BE49-F238E27FC236}">
                <a16:creationId xmlns:a16="http://schemas.microsoft.com/office/drawing/2014/main" id="{CB16342C-6EA0-C8B4-0571-E8FE69B2747D}"/>
              </a:ext>
            </a:extLst>
          </p:cNvPr>
          <p:cNvPicPr>
            <a:picLocks noChangeAspect="1"/>
          </p:cNvPicPr>
          <p:nvPr/>
        </p:nvPicPr>
        <p:blipFill rotWithShape="1">
          <a:blip r:embed="rId2"/>
          <a:srcRect l="3789" t="21269" r="19693" b="1873"/>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9554971A-42AB-485F-5D03-630714BDCD4E}"/>
              </a:ext>
            </a:extLst>
          </p:cNvPr>
          <p:cNvSpPr>
            <a:spLocks noGrp="1"/>
          </p:cNvSpPr>
          <p:nvPr>
            <p:ph type="ctrTitle"/>
          </p:nvPr>
        </p:nvSpPr>
        <p:spPr>
          <a:xfrm>
            <a:off x="1316966" y="2826053"/>
            <a:ext cx="9144000" cy="2900518"/>
          </a:xfrm>
        </p:spPr>
        <p:txBody>
          <a:bodyPr>
            <a:normAutofit fontScale="90000"/>
          </a:bodyPr>
          <a:lstStyle/>
          <a:p>
            <a:r>
              <a:rPr lang="en-DE" dirty="0"/>
              <a:t>Probing Fast Radio Burst Environments: Cross-Correlating Deep and Shallow FRB Surveys with KiDS DR5</a:t>
            </a:r>
            <a:br>
              <a:rPr lang="en-DE" dirty="0"/>
            </a:br>
            <a:endParaRPr lang="en-DE" dirty="0">
              <a:solidFill>
                <a:srgbClr val="FFFFFF"/>
              </a:solidFill>
            </a:endParaRPr>
          </a:p>
        </p:txBody>
      </p:sp>
      <p:sp>
        <p:nvSpPr>
          <p:cNvPr id="16" name="Footer Placeholder 15">
            <a:extLst>
              <a:ext uri="{FF2B5EF4-FFF2-40B4-BE49-F238E27FC236}">
                <a16:creationId xmlns:a16="http://schemas.microsoft.com/office/drawing/2014/main" id="{EA0AA45E-6278-1BC8-5E28-3CE1605DBA2C}"/>
              </a:ext>
            </a:extLst>
          </p:cNvPr>
          <p:cNvSpPr>
            <a:spLocks noGrp="1"/>
          </p:cNvSpPr>
          <p:nvPr>
            <p:ph type="ftr" sz="quarter" idx="11"/>
          </p:nvPr>
        </p:nvSpPr>
        <p:spPr/>
        <p:txBody>
          <a:bodyPr/>
          <a:lstStyle/>
          <a:p>
            <a:r>
              <a:rPr lang="en-GB" dirty="0" err="1">
                <a:solidFill>
                  <a:schemeClr val="tx2">
                    <a:lumMod val="50000"/>
                  </a:schemeClr>
                </a:solidFill>
              </a:rPr>
              <a:t>Quellen</a:t>
            </a:r>
            <a:r>
              <a:rPr lang="en-GB" dirty="0">
                <a:solidFill>
                  <a:schemeClr val="tx2">
                    <a:lumMod val="50000"/>
                  </a:schemeClr>
                </a:solidFill>
              </a:rPr>
              <a:t>: Canva</a:t>
            </a:r>
            <a:endParaRPr lang="en-DE" dirty="0">
              <a:solidFill>
                <a:schemeClr val="tx2">
                  <a:lumMod val="50000"/>
                </a:schemeClr>
              </a:solidFill>
            </a:endParaRPr>
          </a:p>
        </p:txBody>
      </p:sp>
      <p:sp>
        <p:nvSpPr>
          <p:cNvPr id="17" name="Slide Number Placeholder 16">
            <a:extLst>
              <a:ext uri="{FF2B5EF4-FFF2-40B4-BE49-F238E27FC236}">
                <a16:creationId xmlns:a16="http://schemas.microsoft.com/office/drawing/2014/main" id="{5E067669-97E3-6B2F-DF7D-2257292ADFB7}"/>
              </a:ext>
            </a:extLst>
          </p:cNvPr>
          <p:cNvSpPr>
            <a:spLocks noGrp="1"/>
          </p:cNvSpPr>
          <p:nvPr>
            <p:ph type="sldNum" sz="quarter" idx="12"/>
          </p:nvPr>
        </p:nvSpPr>
        <p:spPr/>
        <p:txBody>
          <a:bodyPr/>
          <a:lstStyle/>
          <a:p>
            <a:fld id="{D3D74EA4-B172-9A48-808A-923F6A4D31D8}" type="slidenum">
              <a:rPr lang="en-DE" smtClean="0">
                <a:solidFill>
                  <a:schemeClr val="tx2">
                    <a:lumMod val="50000"/>
                  </a:schemeClr>
                </a:solidFill>
              </a:rPr>
              <a:t>1</a:t>
            </a:fld>
            <a:endParaRPr lang="en-DE" dirty="0">
              <a:solidFill>
                <a:schemeClr val="tx2">
                  <a:lumMod val="50000"/>
                </a:schemeClr>
              </a:solidFill>
            </a:endParaRPr>
          </a:p>
        </p:txBody>
      </p:sp>
      <p:sp>
        <p:nvSpPr>
          <p:cNvPr id="5" name="TextBox 4">
            <a:extLst>
              <a:ext uri="{FF2B5EF4-FFF2-40B4-BE49-F238E27FC236}">
                <a16:creationId xmlns:a16="http://schemas.microsoft.com/office/drawing/2014/main" id="{19DFC750-7AA9-C66C-FA4E-62923A8B43C9}"/>
              </a:ext>
            </a:extLst>
          </p:cNvPr>
          <p:cNvSpPr txBox="1"/>
          <p:nvPr/>
        </p:nvSpPr>
        <p:spPr>
          <a:xfrm>
            <a:off x="3049732" y="3244334"/>
            <a:ext cx="6099462" cy="369332"/>
          </a:xfrm>
          <a:prstGeom prst="rect">
            <a:avLst/>
          </a:prstGeom>
          <a:noFill/>
        </p:spPr>
        <p:txBody>
          <a:bodyPr wrap="square">
            <a:spAutoFit/>
          </a:bodyPr>
          <a:lstStyle/>
          <a:p>
            <a:endParaRPr lang="en-DE" dirty="0"/>
          </a:p>
        </p:txBody>
      </p:sp>
      <p:sp>
        <p:nvSpPr>
          <p:cNvPr id="7" name="TextBox 6">
            <a:extLst>
              <a:ext uri="{FF2B5EF4-FFF2-40B4-BE49-F238E27FC236}">
                <a16:creationId xmlns:a16="http://schemas.microsoft.com/office/drawing/2014/main" id="{26B78BA6-F1A9-7227-D123-40954BC03FF0}"/>
              </a:ext>
            </a:extLst>
          </p:cNvPr>
          <p:cNvSpPr txBox="1"/>
          <p:nvPr/>
        </p:nvSpPr>
        <p:spPr>
          <a:xfrm>
            <a:off x="3049732" y="3244334"/>
            <a:ext cx="6099462" cy="369332"/>
          </a:xfrm>
          <a:prstGeom prst="rect">
            <a:avLst/>
          </a:prstGeom>
          <a:noFill/>
        </p:spPr>
        <p:txBody>
          <a:bodyPr wrap="square">
            <a:spAutoFit/>
          </a:bodyPr>
          <a:lstStyle/>
          <a:p>
            <a:endParaRPr lang="en-DE" dirty="0"/>
          </a:p>
        </p:txBody>
      </p:sp>
      <p:sp>
        <p:nvSpPr>
          <p:cNvPr id="9" name="TextBox 8">
            <a:extLst>
              <a:ext uri="{FF2B5EF4-FFF2-40B4-BE49-F238E27FC236}">
                <a16:creationId xmlns:a16="http://schemas.microsoft.com/office/drawing/2014/main" id="{62A29710-B25E-3252-2522-3E5EA46BC759}"/>
              </a:ext>
            </a:extLst>
          </p:cNvPr>
          <p:cNvSpPr txBox="1"/>
          <p:nvPr/>
        </p:nvSpPr>
        <p:spPr>
          <a:xfrm>
            <a:off x="3049732" y="3244334"/>
            <a:ext cx="6099462" cy="369332"/>
          </a:xfrm>
          <a:prstGeom prst="rect">
            <a:avLst/>
          </a:prstGeom>
          <a:noFill/>
        </p:spPr>
        <p:txBody>
          <a:bodyPr wrap="square">
            <a:spAutoFit/>
          </a:bodyPr>
          <a:lstStyle/>
          <a:p>
            <a:endParaRPr lang="en-DE" dirty="0"/>
          </a:p>
        </p:txBody>
      </p:sp>
      <p:sp>
        <p:nvSpPr>
          <p:cNvPr id="11" name="TextBox 10">
            <a:extLst>
              <a:ext uri="{FF2B5EF4-FFF2-40B4-BE49-F238E27FC236}">
                <a16:creationId xmlns:a16="http://schemas.microsoft.com/office/drawing/2014/main" id="{EF8B2A7D-9801-4597-2C0F-77F76532391A}"/>
              </a:ext>
            </a:extLst>
          </p:cNvPr>
          <p:cNvSpPr txBox="1"/>
          <p:nvPr/>
        </p:nvSpPr>
        <p:spPr>
          <a:xfrm>
            <a:off x="3049732" y="3244334"/>
            <a:ext cx="6099462" cy="369332"/>
          </a:xfrm>
          <a:prstGeom prst="rect">
            <a:avLst/>
          </a:prstGeom>
          <a:noFill/>
        </p:spPr>
        <p:txBody>
          <a:bodyPr wrap="square">
            <a:spAutoFit/>
          </a:bodyPr>
          <a:lstStyle/>
          <a:p>
            <a:endParaRPr lang="en-DE" dirty="0"/>
          </a:p>
        </p:txBody>
      </p:sp>
    </p:spTree>
    <p:extLst>
      <p:ext uri="{BB962C8B-B14F-4D97-AF65-F5344CB8AC3E}">
        <p14:creationId xmlns:p14="http://schemas.microsoft.com/office/powerpoint/2010/main" val="2203914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88A12-AE9F-F3E4-47EC-2BA5AD751AC0}"/>
              </a:ext>
            </a:extLst>
          </p:cNvPr>
          <p:cNvSpPr>
            <a:spLocks noGrp="1"/>
          </p:cNvSpPr>
          <p:nvPr>
            <p:ph type="title"/>
          </p:nvPr>
        </p:nvSpPr>
        <p:spPr/>
        <p:txBody>
          <a:bodyPr/>
          <a:lstStyle/>
          <a:p>
            <a:r>
              <a:rPr lang="en-DE"/>
              <a:t>FRBs</a:t>
            </a:r>
            <a:endParaRPr lang="en-DE" dirty="0"/>
          </a:p>
        </p:txBody>
      </p:sp>
      <p:sp>
        <p:nvSpPr>
          <p:cNvPr id="3" name="Content Placeholder 2">
            <a:extLst>
              <a:ext uri="{FF2B5EF4-FFF2-40B4-BE49-F238E27FC236}">
                <a16:creationId xmlns:a16="http://schemas.microsoft.com/office/drawing/2014/main" id="{8E2C461D-0368-ABB3-7158-C72E2678818B}"/>
              </a:ext>
            </a:extLst>
          </p:cNvPr>
          <p:cNvSpPr>
            <a:spLocks noGrp="1"/>
          </p:cNvSpPr>
          <p:nvPr>
            <p:ph idx="1"/>
          </p:nvPr>
        </p:nvSpPr>
        <p:spPr>
          <a:xfrm>
            <a:off x="838200" y="1825625"/>
            <a:ext cx="5062268" cy="4351338"/>
          </a:xfrm>
        </p:spPr>
        <p:txBody>
          <a:bodyPr/>
          <a:lstStyle/>
          <a:p>
            <a:r>
              <a:rPr lang="en-DE" dirty="0"/>
              <a:t>Extremely bright radio pulses lasting milliseconds</a:t>
            </a:r>
          </a:p>
          <a:p>
            <a:r>
              <a:rPr lang="en-DE" dirty="0"/>
              <a:t>Large dispersion measures imply cosmological distances</a:t>
            </a:r>
          </a:p>
          <a:p>
            <a:r>
              <a:rPr lang="en-DE" dirty="0"/>
              <a:t>4,539 bursts from 3,641 sources in the second CHIME/FRB catalogue</a:t>
            </a:r>
          </a:p>
          <a:p>
            <a:r>
              <a:rPr lang="en-DE" dirty="0"/>
              <a:t>Their astrophysical origin remains uncertain</a:t>
            </a:r>
          </a:p>
          <a:p>
            <a:endParaRPr lang="en-DE" dirty="0"/>
          </a:p>
        </p:txBody>
      </p:sp>
      <p:sp>
        <p:nvSpPr>
          <p:cNvPr id="5" name="Slide Number Placeholder 4">
            <a:extLst>
              <a:ext uri="{FF2B5EF4-FFF2-40B4-BE49-F238E27FC236}">
                <a16:creationId xmlns:a16="http://schemas.microsoft.com/office/drawing/2014/main" id="{9FF387E9-D3E5-9260-A408-524045FCB258}"/>
              </a:ext>
            </a:extLst>
          </p:cNvPr>
          <p:cNvSpPr>
            <a:spLocks noGrp="1"/>
          </p:cNvSpPr>
          <p:nvPr>
            <p:ph type="sldNum" sz="quarter" idx="12"/>
          </p:nvPr>
        </p:nvSpPr>
        <p:spPr/>
        <p:txBody>
          <a:bodyPr/>
          <a:lstStyle/>
          <a:p>
            <a:fld id="{D3D74EA4-B172-9A48-808A-923F6A4D31D8}" type="slidenum">
              <a:rPr lang="en-DE" smtClean="0"/>
              <a:t>2</a:t>
            </a:fld>
            <a:endParaRPr lang="en-DE"/>
          </a:p>
        </p:txBody>
      </p:sp>
      <p:pic>
        <p:nvPicPr>
          <p:cNvPr id="6" name="Picture 5" descr="frb_sky_distribution_petroff.png">
            <a:extLst>
              <a:ext uri="{FF2B5EF4-FFF2-40B4-BE49-F238E27FC236}">
                <a16:creationId xmlns:a16="http://schemas.microsoft.com/office/drawing/2014/main" id="{F47B12F1-75A1-0C32-BBD0-CAA3F218D797}"/>
              </a:ext>
            </a:extLst>
          </p:cNvPr>
          <p:cNvPicPr>
            <a:picLocks noChangeAspect="1"/>
          </p:cNvPicPr>
          <p:nvPr/>
        </p:nvPicPr>
        <p:blipFill>
          <a:blip r:embed="rId3"/>
          <a:stretch>
            <a:fillRect/>
          </a:stretch>
        </p:blipFill>
        <p:spPr>
          <a:xfrm>
            <a:off x="5882640" y="2100470"/>
            <a:ext cx="6309360" cy="3068250"/>
          </a:xfrm>
          <a:prstGeom prst="rect">
            <a:avLst/>
          </a:prstGeom>
        </p:spPr>
      </p:pic>
    </p:spTree>
    <p:extLst>
      <p:ext uri="{BB962C8B-B14F-4D97-AF65-F5344CB8AC3E}">
        <p14:creationId xmlns:p14="http://schemas.microsoft.com/office/powerpoint/2010/main" val="3022053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4BE1D-5368-5750-155D-0FA650FCAD94}"/>
              </a:ext>
            </a:extLst>
          </p:cNvPr>
          <p:cNvSpPr>
            <a:spLocks noGrp="1"/>
          </p:cNvSpPr>
          <p:nvPr>
            <p:ph type="title"/>
          </p:nvPr>
        </p:nvSpPr>
        <p:spPr/>
        <p:txBody>
          <a:bodyPr/>
          <a:lstStyle/>
          <a:p>
            <a:r>
              <a:rPr lang="en-DE" dirty="0"/>
              <a:t>Two Possible Progenitor Models</a:t>
            </a:r>
          </a:p>
        </p:txBody>
      </p:sp>
      <p:sp>
        <p:nvSpPr>
          <p:cNvPr id="5" name="Slide Number Placeholder 4">
            <a:extLst>
              <a:ext uri="{FF2B5EF4-FFF2-40B4-BE49-F238E27FC236}">
                <a16:creationId xmlns:a16="http://schemas.microsoft.com/office/drawing/2014/main" id="{6694D797-7475-67AC-F556-DD55A37A4F83}"/>
              </a:ext>
            </a:extLst>
          </p:cNvPr>
          <p:cNvSpPr>
            <a:spLocks noGrp="1"/>
          </p:cNvSpPr>
          <p:nvPr>
            <p:ph type="sldNum" sz="quarter" idx="12"/>
          </p:nvPr>
        </p:nvSpPr>
        <p:spPr/>
        <p:txBody>
          <a:bodyPr/>
          <a:lstStyle/>
          <a:p>
            <a:fld id="{D3D74EA4-B172-9A48-808A-923F6A4D31D8}" type="slidenum">
              <a:rPr lang="en-DE" smtClean="0"/>
              <a:t>3</a:t>
            </a:fld>
            <a:endParaRPr lang="en-DE"/>
          </a:p>
        </p:txBody>
      </p:sp>
      <p:sp>
        <p:nvSpPr>
          <p:cNvPr id="7" name="TextBox 6">
            <a:extLst>
              <a:ext uri="{FF2B5EF4-FFF2-40B4-BE49-F238E27FC236}">
                <a16:creationId xmlns:a16="http://schemas.microsoft.com/office/drawing/2014/main" id="{02AB8C95-5669-F678-FD21-DE70FA182305}"/>
              </a:ext>
            </a:extLst>
          </p:cNvPr>
          <p:cNvSpPr txBox="1"/>
          <p:nvPr/>
        </p:nvSpPr>
        <p:spPr>
          <a:xfrm>
            <a:off x="868680" y="1874519"/>
            <a:ext cx="2468880" cy="320040"/>
          </a:xfrm>
          <a:prstGeom prst="rect">
            <a:avLst/>
          </a:prstGeom>
          <a:noFill/>
        </p:spPr>
        <p:txBody>
          <a:bodyPr wrap="square" lIns="36576" tIns="36576" rIns="36576" bIns="36576" anchor="t">
            <a:spAutoFit/>
          </a:bodyPr>
          <a:lstStyle/>
          <a:p>
            <a:pPr algn="l">
              <a:spcAft>
                <a:spcPts val="0"/>
              </a:spcAft>
            </a:pPr>
            <a:r>
              <a:rPr sz="1600" b="1" dirty="0">
                <a:latin typeface="Aptos"/>
              </a:rPr>
              <a:t>YOUNG MAGNETARS</a:t>
            </a:r>
          </a:p>
        </p:txBody>
      </p:sp>
      <p:sp>
        <p:nvSpPr>
          <p:cNvPr id="8" name="TextBox 7">
            <a:extLst>
              <a:ext uri="{FF2B5EF4-FFF2-40B4-BE49-F238E27FC236}">
                <a16:creationId xmlns:a16="http://schemas.microsoft.com/office/drawing/2014/main" id="{D4BC2925-BB12-53B9-EA28-A71FCB4B9C86}"/>
              </a:ext>
            </a:extLst>
          </p:cNvPr>
          <p:cNvSpPr txBox="1"/>
          <p:nvPr/>
        </p:nvSpPr>
        <p:spPr>
          <a:xfrm>
            <a:off x="868680" y="2350008"/>
            <a:ext cx="2377440" cy="858697"/>
          </a:xfrm>
          <a:prstGeom prst="rect">
            <a:avLst/>
          </a:prstGeom>
          <a:noFill/>
        </p:spPr>
        <p:txBody>
          <a:bodyPr wrap="square" lIns="36576" tIns="36576" rIns="36576" bIns="36576" anchor="t">
            <a:spAutoFit/>
          </a:bodyPr>
          <a:lstStyle/>
          <a:p>
            <a:pPr algn="l">
              <a:spcAft>
                <a:spcPts val="0"/>
              </a:spcAft>
            </a:pPr>
            <a:r>
              <a:rPr sz="1700" b="0" dirty="0">
                <a:latin typeface="Aptos"/>
              </a:rPr>
              <a:t>Active star formation
Short delay time
b₀ = 1.0  |  </a:t>
            </a:r>
            <a:r>
              <a:rPr sz="1700" b="0" dirty="0" err="1">
                <a:latin typeface="Aptos"/>
              </a:rPr>
              <a:t>δ</a:t>
            </a:r>
            <a:r>
              <a:rPr sz="1700" b="0" dirty="0">
                <a:latin typeface="Aptos"/>
              </a:rPr>
              <a:t> = 0.8</a:t>
            </a:r>
          </a:p>
        </p:txBody>
      </p:sp>
      <p:pic>
        <p:nvPicPr>
          <p:cNvPr id="10" name="Picture 9" descr="FRB_bias_bz.png">
            <a:extLst>
              <a:ext uri="{FF2B5EF4-FFF2-40B4-BE49-F238E27FC236}">
                <a16:creationId xmlns:a16="http://schemas.microsoft.com/office/drawing/2014/main" id="{283F5BDC-D1E9-B9BF-7BD1-E30A11FEA3C9}"/>
              </a:ext>
            </a:extLst>
          </p:cNvPr>
          <p:cNvPicPr>
            <a:picLocks noChangeAspect="1"/>
          </p:cNvPicPr>
          <p:nvPr/>
        </p:nvPicPr>
        <p:blipFill>
          <a:blip r:embed="rId3"/>
          <a:stretch>
            <a:fillRect/>
          </a:stretch>
        </p:blipFill>
        <p:spPr>
          <a:xfrm>
            <a:off x="4565991" y="1508760"/>
            <a:ext cx="5861226" cy="4184674"/>
          </a:xfrm>
          <a:prstGeom prst="rect">
            <a:avLst/>
          </a:prstGeom>
        </p:spPr>
      </p:pic>
      <p:sp>
        <p:nvSpPr>
          <p:cNvPr id="11" name="TextBox 10">
            <a:extLst>
              <a:ext uri="{FF2B5EF4-FFF2-40B4-BE49-F238E27FC236}">
                <a16:creationId xmlns:a16="http://schemas.microsoft.com/office/drawing/2014/main" id="{246BD1FA-6556-5EE4-2D8E-EDD29B8D0FA0}"/>
              </a:ext>
            </a:extLst>
          </p:cNvPr>
          <p:cNvSpPr txBox="1"/>
          <p:nvPr/>
        </p:nvSpPr>
        <p:spPr>
          <a:xfrm>
            <a:off x="868680" y="3863499"/>
            <a:ext cx="2468880" cy="320040"/>
          </a:xfrm>
          <a:prstGeom prst="rect">
            <a:avLst/>
          </a:prstGeom>
          <a:noFill/>
        </p:spPr>
        <p:txBody>
          <a:bodyPr wrap="square" lIns="36576" tIns="36576" rIns="36576" bIns="36576" anchor="t">
            <a:spAutoFit/>
          </a:bodyPr>
          <a:lstStyle/>
          <a:p>
            <a:pPr algn="l">
              <a:spcAft>
                <a:spcPts val="0"/>
              </a:spcAft>
            </a:pPr>
            <a:r>
              <a:rPr sz="1600" b="1" dirty="0">
                <a:latin typeface="Aptos"/>
              </a:rPr>
              <a:t>DELAYED </a:t>
            </a:r>
            <a:r>
              <a:rPr lang="nl-NL" sz="1600" b="1" dirty="0">
                <a:latin typeface="Aptos"/>
              </a:rPr>
              <a:t>Neutron Stars</a:t>
            </a:r>
            <a:endParaRPr sz="1600" b="1" dirty="0">
              <a:latin typeface="Aptos"/>
            </a:endParaRPr>
          </a:p>
        </p:txBody>
      </p:sp>
      <p:sp>
        <p:nvSpPr>
          <p:cNvPr id="12" name="TextBox 11">
            <a:extLst>
              <a:ext uri="{FF2B5EF4-FFF2-40B4-BE49-F238E27FC236}">
                <a16:creationId xmlns:a16="http://schemas.microsoft.com/office/drawing/2014/main" id="{995AB2E9-25B8-E079-4F69-97E822512D05}"/>
              </a:ext>
            </a:extLst>
          </p:cNvPr>
          <p:cNvSpPr txBox="1"/>
          <p:nvPr/>
        </p:nvSpPr>
        <p:spPr>
          <a:xfrm>
            <a:off x="914400" y="4297679"/>
            <a:ext cx="2377440" cy="858697"/>
          </a:xfrm>
          <a:prstGeom prst="rect">
            <a:avLst/>
          </a:prstGeom>
          <a:noFill/>
        </p:spPr>
        <p:txBody>
          <a:bodyPr wrap="square" lIns="36576" tIns="36576" rIns="36576" bIns="36576" anchor="t">
            <a:spAutoFit/>
          </a:bodyPr>
          <a:lstStyle/>
          <a:p>
            <a:pPr algn="l">
              <a:spcAft>
                <a:spcPts val="0"/>
              </a:spcAft>
            </a:pPr>
            <a:r>
              <a:rPr sz="1700" b="0" dirty="0">
                <a:latin typeface="Aptos"/>
              </a:rPr>
              <a:t>Older populations
Long delay time
b₀ = 1.5  |  </a:t>
            </a:r>
            <a:r>
              <a:rPr sz="1700" b="0" dirty="0" err="1">
                <a:latin typeface="Aptos"/>
              </a:rPr>
              <a:t>δ</a:t>
            </a:r>
            <a:r>
              <a:rPr sz="1700" b="0" dirty="0">
                <a:latin typeface="Aptos"/>
              </a:rPr>
              <a:t> = 0.2</a:t>
            </a:r>
          </a:p>
        </p:txBody>
      </p:sp>
      <p:sp>
        <p:nvSpPr>
          <p:cNvPr id="13" name="TextBox 12">
            <a:extLst>
              <a:ext uri="{FF2B5EF4-FFF2-40B4-BE49-F238E27FC236}">
                <a16:creationId xmlns:a16="http://schemas.microsoft.com/office/drawing/2014/main" id="{FCF310FD-9C3A-9E00-414A-27392F9A029B}"/>
              </a:ext>
            </a:extLst>
          </p:cNvPr>
          <p:cNvSpPr txBox="1"/>
          <p:nvPr/>
        </p:nvSpPr>
        <p:spPr>
          <a:xfrm>
            <a:off x="5124433" y="2350008"/>
            <a:ext cx="3200400" cy="365760"/>
          </a:xfrm>
          <a:prstGeom prst="rect">
            <a:avLst/>
          </a:prstGeom>
          <a:noFill/>
        </p:spPr>
        <p:txBody>
          <a:bodyPr wrap="square" lIns="27432" tIns="18288" rIns="27432" bIns="18288">
            <a:spAutoFit/>
          </a:bodyPr>
          <a:lstStyle/>
          <a:p>
            <a:pPr algn="ctr">
              <a:spcAft>
                <a:spcPts val="0"/>
              </a:spcAft>
            </a:pPr>
            <a:r>
              <a:rPr sz="1800" b="0" dirty="0">
                <a:solidFill>
                  <a:srgbClr val="5B6771"/>
                </a:solidFill>
                <a:latin typeface="Aptos"/>
              </a:rPr>
              <a:t>Bias model:  </a:t>
            </a:r>
            <a:r>
              <a:rPr sz="1800" b="1" dirty="0">
                <a:solidFill>
                  <a:srgbClr val="1C3750"/>
                </a:solidFill>
                <a:latin typeface="Aptos"/>
              </a:rPr>
              <a:t>b(z) = b₀(1+z)ᵟ</a:t>
            </a:r>
          </a:p>
        </p:txBody>
      </p:sp>
    </p:spTree>
    <p:extLst>
      <p:ext uri="{BB962C8B-B14F-4D97-AF65-F5344CB8AC3E}">
        <p14:creationId xmlns:p14="http://schemas.microsoft.com/office/powerpoint/2010/main" val="424710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C6545-5A3D-46D2-1B53-7A39929D2E4A}"/>
              </a:ext>
            </a:extLst>
          </p:cNvPr>
          <p:cNvSpPr>
            <a:spLocks noGrp="1"/>
          </p:cNvSpPr>
          <p:nvPr>
            <p:ph type="title"/>
          </p:nvPr>
        </p:nvSpPr>
        <p:spPr/>
        <p:txBody>
          <a:bodyPr/>
          <a:lstStyle/>
          <a:p>
            <a:r>
              <a:rPr lang="en-DE" dirty="0"/>
              <a:t>Cross 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CED974-75C2-26CE-382F-A2CF9DD0F2D8}"/>
                  </a:ext>
                </a:extLst>
              </p:cNvPr>
              <p:cNvSpPr>
                <a:spLocks noGrp="1"/>
              </p:cNvSpPr>
              <p:nvPr>
                <p:ph idx="1"/>
              </p:nvPr>
            </p:nvSpPr>
            <p:spPr/>
            <p:txBody>
              <a:bodyPr/>
              <a:lstStyle/>
              <a:p>
                <a:r>
                  <a:rPr lang="en-DE" dirty="0"/>
                  <a:t>FRBs and galaxies trace the same underlying matter distribution</a:t>
                </a:r>
              </a:p>
              <a:p>
                <a:r>
                  <a:rPr lang="en-DE" dirty="0"/>
                  <a:t>Angular power spectrum </a:t>
                </a:r>
                <a14:m>
                  <m:oMath xmlns:m="http://schemas.openxmlformats.org/officeDocument/2006/math">
                    <m:sSub>
                      <m:sSubPr>
                        <m:ctrlPr>
                          <a:rPr lang="en-DE" i="1" dirty="0" smtClean="0">
                            <a:latin typeface="Cambria Math" panose="02040503050406030204" pitchFamily="18" charset="0"/>
                          </a:rPr>
                        </m:ctrlPr>
                      </m:sSubPr>
                      <m:e>
                        <m:r>
                          <a:rPr lang="en-DE" i="1" dirty="0" smtClean="0">
                            <a:latin typeface="Cambria Math" panose="02040503050406030204" pitchFamily="18" charset="0"/>
                          </a:rPr>
                          <m:t>𝐶</m:t>
                        </m:r>
                      </m:e>
                      <m:sub>
                        <m:r>
                          <a:rPr lang="nl-NL" b="0" i="1" dirty="0" smtClean="0">
                            <a:latin typeface="Cambria Math" panose="02040503050406030204" pitchFamily="18" charset="0"/>
                          </a:rPr>
                          <m:t>𝑙</m:t>
                        </m:r>
                      </m:sub>
                    </m:sSub>
                    <m:r>
                      <a:rPr lang="en-DE" i="1" dirty="0" smtClean="0">
                        <a:latin typeface="Cambria Math" panose="02040503050406030204" pitchFamily="18" charset="0"/>
                      </a:rPr>
                      <m:t>: </m:t>
                    </m:r>
                  </m:oMath>
                </a14:m>
                <a:r>
                  <a:rPr lang="en-DE" dirty="0"/>
                  <a:t>clustering as a function of angular scale</a:t>
                </a:r>
              </a:p>
              <a:p>
                <a:r>
                  <a:rPr lang="en-DE" dirty="0"/>
                  <a:t>A cross-signal requires spatial overlap</a:t>
                </a:r>
              </a:p>
              <a:p>
                <a:r>
                  <a:rPr lang="en-DE" dirty="0"/>
                  <a:t>Tomography provides several redshift windows</a:t>
                </a:r>
              </a:p>
              <a:p>
                <a:endParaRPr lang="en-DE" dirty="0"/>
              </a:p>
            </p:txBody>
          </p:sp>
        </mc:Choice>
        <mc:Fallback xmlns="">
          <p:sp>
            <p:nvSpPr>
              <p:cNvPr id="3" name="Content Placeholder 2">
                <a:extLst>
                  <a:ext uri="{FF2B5EF4-FFF2-40B4-BE49-F238E27FC236}">
                    <a16:creationId xmlns:a16="http://schemas.microsoft.com/office/drawing/2014/main" id="{74CED974-75C2-26CE-382F-A2CF9DD0F2D8}"/>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DE">
                    <a:noFill/>
                  </a:rPr>
                  <a:t> </a:t>
                </a:r>
              </a:p>
            </p:txBody>
          </p:sp>
        </mc:Fallback>
      </mc:AlternateContent>
      <p:sp>
        <p:nvSpPr>
          <p:cNvPr id="5" name="Slide Number Placeholder 4">
            <a:extLst>
              <a:ext uri="{FF2B5EF4-FFF2-40B4-BE49-F238E27FC236}">
                <a16:creationId xmlns:a16="http://schemas.microsoft.com/office/drawing/2014/main" id="{F01AA30D-D09A-4947-5796-0CC9A34B4499}"/>
              </a:ext>
            </a:extLst>
          </p:cNvPr>
          <p:cNvSpPr>
            <a:spLocks noGrp="1"/>
          </p:cNvSpPr>
          <p:nvPr>
            <p:ph type="sldNum" sz="quarter" idx="12"/>
          </p:nvPr>
        </p:nvSpPr>
        <p:spPr/>
        <p:txBody>
          <a:bodyPr/>
          <a:lstStyle/>
          <a:p>
            <a:fld id="{D3D74EA4-B172-9A48-808A-923F6A4D31D8}" type="slidenum">
              <a:rPr lang="en-DE" smtClean="0"/>
              <a:t>4</a:t>
            </a:fld>
            <a:endParaRPr lang="en-DE"/>
          </a:p>
        </p:txBody>
      </p:sp>
    </p:spTree>
    <p:extLst>
      <p:ext uri="{BB962C8B-B14F-4D97-AF65-F5344CB8AC3E}">
        <p14:creationId xmlns:p14="http://schemas.microsoft.com/office/powerpoint/2010/main" val="1447242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40F4D27A-9305-73EE-8D91-4FCF8F225F07}"/>
              </a:ext>
            </a:extLst>
          </p:cNvPr>
          <p:cNvSpPr/>
          <p:nvPr/>
        </p:nvSpPr>
        <p:spPr>
          <a:xfrm>
            <a:off x="6675120" y="5285232"/>
            <a:ext cx="242316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lide Number Placeholder 4">
            <a:extLst>
              <a:ext uri="{FF2B5EF4-FFF2-40B4-BE49-F238E27FC236}">
                <a16:creationId xmlns:a16="http://schemas.microsoft.com/office/drawing/2014/main" id="{28227D13-2602-2028-9F5F-8FB7AB558CF6}"/>
              </a:ext>
            </a:extLst>
          </p:cNvPr>
          <p:cNvSpPr>
            <a:spLocks noGrp="1"/>
          </p:cNvSpPr>
          <p:nvPr>
            <p:ph type="sldNum" sz="quarter" idx="12"/>
          </p:nvPr>
        </p:nvSpPr>
        <p:spPr/>
        <p:txBody>
          <a:bodyPr/>
          <a:lstStyle/>
          <a:p>
            <a:fld id="{D3D74EA4-B172-9A48-808A-923F6A4D31D8}" type="slidenum">
              <a:rPr lang="en-DE" smtClean="0"/>
              <a:t>5</a:t>
            </a:fld>
            <a:endParaRPr lang="en-DE"/>
          </a:p>
        </p:txBody>
      </p:sp>
      <p:pic>
        <p:nvPicPr>
          <p:cNvPr id="6" name="Picture 5" descr="FRB_nz_shallow_deep.png">
            <a:extLst>
              <a:ext uri="{FF2B5EF4-FFF2-40B4-BE49-F238E27FC236}">
                <a16:creationId xmlns:a16="http://schemas.microsoft.com/office/drawing/2014/main" id="{89E913EC-815C-99BA-CB31-521E8822E492}"/>
              </a:ext>
            </a:extLst>
          </p:cNvPr>
          <p:cNvPicPr>
            <a:picLocks noChangeAspect="1"/>
          </p:cNvPicPr>
          <p:nvPr/>
        </p:nvPicPr>
        <p:blipFill>
          <a:blip r:embed="rId3"/>
          <a:stretch>
            <a:fillRect/>
          </a:stretch>
        </p:blipFill>
        <p:spPr>
          <a:xfrm>
            <a:off x="785226" y="1554480"/>
            <a:ext cx="5058947" cy="3611880"/>
          </a:xfrm>
          <a:prstGeom prst="rect">
            <a:avLst/>
          </a:prstGeom>
        </p:spPr>
      </p:pic>
      <p:pic>
        <p:nvPicPr>
          <p:cNvPr id="7" name="Picture 6" descr="Galaxy_nz_bins.png">
            <a:extLst>
              <a:ext uri="{FF2B5EF4-FFF2-40B4-BE49-F238E27FC236}">
                <a16:creationId xmlns:a16="http://schemas.microsoft.com/office/drawing/2014/main" id="{012C8A4D-7639-103B-B7EB-E41C8072D203}"/>
              </a:ext>
            </a:extLst>
          </p:cNvPr>
          <p:cNvPicPr>
            <a:picLocks noChangeAspect="1"/>
          </p:cNvPicPr>
          <p:nvPr/>
        </p:nvPicPr>
        <p:blipFill>
          <a:blip r:embed="rId4"/>
          <a:stretch>
            <a:fillRect/>
          </a:stretch>
        </p:blipFill>
        <p:spPr>
          <a:xfrm>
            <a:off x="6108192" y="1632094"/>
            <a:ext cx="5532120" cy="3456651"/>
          </a:xfrm>
          <a:prstGeom prst="rect">
            <a:avLst/>
          </a:prstGeom>
        </p:spPr>
      </p:pic>
      <p:sp>
        <p:nvSpPr>
          <p:cNvPr id="8" name="Rounded Rectangle 7">
            <a:extLst>
              <a:ext uri="{FF2B5EF4-FFF2-40B4-BE49-F238E27FC236}">
                <a16:creationId xmlns:a16="http://schemas.microsoft.com/office/drawing/2014/main" id="{DF33EF69-0201-09A0-5079-33513B5402DD}"/>
              </a:ext>
            </a:extLst>
          </p:cNvPr>
          <p:cNvSpPr/>
          <p:nvPr/>
        </p:nvSpPr>
        <p:spPr>
          <a:xfrm>
            <a:off x="658368" y="5285232"/>
            <a:ext cx="242316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a:extLst>
              <a:ext uri="{FF2B5EF4-FFF2-40B4-BE49-F238E27FC236}">
                <a16:creationId xmlns:a16="http://schemas.microsoft.com/office/drawing/2014/main" id="{0FEFD93C-DC49-E597-3260-C4D0619059FC}"/>
              </a:ext>
            </a:extLst>
          </p:cNvPr>
          <p:cNvSpPr/>
          <p:nvPr/>
        </p:nvSpPr>
        <p:spPr>
          <a:xfrm>
            <a:off x="3273552" y="5285232"/>
            <a:ext cx="242316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A8538428-0909-2DCF-221B-A1DD2C53F049}"/>
              </a:ext>
            </a:extLst>
          </p:cNvPr>
          <p:cNvSpPr txBox="1"/>
          <p:nvPr/>
        </p:nvSpPr>
        <p:spPr>
          <a:xfrm>
            <a:off x="6839712" y="5413248"/>
            <a:ext cx="2093976" cy="384048"/>
          </a:xfrm>
          <a:prstGeom prst="rect">
            <a:avLst/>
          </a:prstGeom>
          <a:noFill/>
        </p:spPr>
        <p:txBody>
          <a:bodyPr wrap="square" lIns="36576" tIns="36576" rIns="36576" bIns="36576" anchor="t">
            <a:spAutoFit/>
          </a:bodyPr>
          <a:lstStyle/>
          <a:p>
            <a:pPr algn="l">
              <a:spcAft>
                <a:spcPts val="0"/>
              </a:spcAft>
            </a:pPr>
            <a:r>
              <a:rPr sz="2400" b="1" dirty="0">
                <a:solidFill>
                  <a:srgbClr val="5C9BBD"/>
                </a:solidFill>
                <a:latin typeface="Aptos Display"/>
              </a:rPr>
              <a:t>1,347 deg²</a:t>
            </a:r>
          </a:p>
        </p:txBody>
      </p:sp>
      <p:sp>
        <p:nvSpPr>
          <p:cNvPr id="11" name="TextBox 10">
            <a:extLst>
              <a:ext uri="{FF2B5EF4-FFF2-40B4-BE49-F238E27FC236}">
                <a16:creationId xmlns:a16="http://schemas.microsoft.com/office/drawing/2014/main" id="{008B2F16-89EE-566E-4D27-016174F69608}"/>
              </a:ext>
            </a:extLst>
          </p:cNvPr>
          <p:cNvSpPr txBox="1"/>
          <p:nvPr/>
        </p:nvSpPr>
        <p:spPr>
          <a:xfrm>
            <a:off x="6839712" y="5852160"/>
            <a:ext cx="2093976" cy="219456"/>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KiDS DR5 | 6 BINS</a:t>
            </a:r>
          </a:p>
        </p:txBody>
      </p:sp>
      <p:sp>
        <p:nvSpPr>
          <p:cNvPr id="14" name="TextBox 13">
            <a:extLst>
              <a:ext uri="{FF2B5EF4-FFF2-40B4-BE49-F238E27FC236}">
                <a16:creationId xmlns:a16="http://schemas.microsoft.com/office/drawing/2014/main" id="{D3CA0BD6-1E81-8CE3-104C-EF282033697F}"/>
              </a:ext>
            </a:extLst>
          </p:cNvPr>
          <p:cNvSpPr txBox="1"/>
          <p:nvPr/>
        </p:nvSpPr>
        <p:spPr>
          <a:xfrm>
            <a:off x="9235440" y="5413248"/>
            <a:ext cx="2057400" cy="720197"/>
          </a:xfrm>
          <a:prstGeom prst="rect">
            <a:avLst/>
          </a:prstGeom>
          <a:noFill/>
        </p:spPr>
        <p:txBody>
          <a:bodyPr wrap="square" lIns="36576" tIns="36576" rIns="36576" bIns="36576" anchor="t">
            <a:spAutoFit/>
          </a:bodyPr>
          <a:lstStyle/>
          <a:p>
            <a:pPr algn="l">
              <a:spcAft>
                <a:spcPts val="0"/>
              </a:spcAft>
            </a:pPr>
            <a:r>
              <a:rPr sz="1400" b="1" dirty="0">
                <a:latin typeface="Aptos"/>
              </a:rPr>
              <a:t>Radial overlap determines the available cross-signal.</a:t>
            </a:r>
          </a:p>
        </p:txBody>
      </p:sp>
      <p:sp>
        <p:nvSpPr>
          <p:cNvPr id="15" name="TextBox 14">
            <a:extLst>
              <a:ext uri="{FF2B5EF4-FFF2-40B4-BE49-F238E27FC236}">
                <a16:creationId xmlns:a16="http://schemas.microsoft.com/office/drawing/2014/main" id="{52F690FE-0555-5E0B-1DBA-A6E7D674E8E3}"/>
              </a:ext>
            </a:extLst>
          </p:cNvPr>
          <p:cNvSpPr txBox="1"/>
          <p:nvPr/>
        </p:nvSpPr>
        <p:spPr>
          <a:xfrm>
            <a:off x="822960" y="5852160"/>
            <a:ext cx="2093976" cy="219456"/>
          </a:xfrm>
          <a:prstGeom prst="rect">
            <a:avLst/>
          </a:prstGeom>
          <a:noFill/>
        </p:spPr>
        <p:txBody>
          <a:bodyPr wrap="square" lIns="36576" tIns="36576" rIns="36576" bIns="36576" anchor="t">
            <a:spAutoFit/>
          </a:bodyPr>
          <a:lstStyle/>
          <a:p>
            <a:pPr algn="l">
              <a:spcAft>
                <a:spcPts val="0"/>
              </a:spcAft>
            </a:pPr>
            <a:r>
              <a:rPr sz="1000" b="1">
                <a:solidFill>
                  <a:srgbClr val="5B6771"/>
                </a:solidFill>
                <a:latin typeface="Aptos"/>
              </a:rPr>
              <a:t>SHALLOW FRBs | α = 3.5</a:t>
            </a:r>
          </a:p>
        </p:txBody>
      </p:sp>
      <p:sp>
        <p:nvSpPr>
          <p:cNvPr id="16" name="TextBox 15">
            <a:extLst>
              <a:ext uri="{FF2B5EF4-FFF2-40B4-BE49-F238E27FC236}">
                <a16:creationId xmlns:a16="http://schemas.microsoft.com/office/drawing/2014/main" id="{5648B016-A338-821D-1517-73B35E7E8715}"/>
              </a:ext>
            </a:extLst>
          </p:cNvPr>
          <p:cNvSpPr txBox="1"/>
          <p:nvPr/>
        </p:nvSpPr>
        <p:spPr>
          <a:xfrm>
            <a:off x="822960" y="5413248"/>
            <a:ext cx="2093976" cy="384048"/>
          </a:xfrm>
          <a:prstGeom prst="rect">
            <a:avLst/>
          </a:prstGeom>
          <a:noFill/>
        </p:spPr>
        <p:txBody>
          <a:bodyPr wrap="square" lIns="36576" tIns="36576" rIns="36576" bIns="36576" anchor="t">
            <a:spAutoFit/>
          </a:bodyPr>
          <a:lstStyle/>
          <a:p>
            <a:pPr algn="l">
              <a:spcAft>
                <a:spcPts val="0"/>
              </a:spcAft>
            </a:pPr>
            <a:r>
              <a:rPr sz="2400" b="1" dirty="0">
                <a:solidFill>
                  <a:srgbClr val="DD5B4A"/>
                </a:solidFill>
                <a:latin typeface="Aptos Display"/>
              </a:rPr>
              <a:t>5,000</a:t>
            </a:r>
          </a:p>
        </p:txBody>
      </p:sp>
      <p:sp>
        <p:nvSpPr>
          <p:cNvPr id="17" name="TextBox 16">
            <a:extLst>
              <a:ext uri="{FF2B5EF4-FFF2-40B4-BE49-F238E27FC236}">
                <a16:creationId xmlns:a16="http://schemas.microsoft.com/office/drawing/2014/main" id="{E8425517-FC58-982B-F4C3-044E9D75EDD4}"/>
              </a:ext>
            </a:extLst>
          </p:cNvPr>
          <p:cNvSpPr txBox="1"/>
          <p:nvPr/>
        </p:nvSpPr>
        <p:spPr>
          <a:xfrm>
            <a:off x="3438144" y="5413248"/>
            <a:ext cx="2093976" cy="384048"/>
          </a:xfrm>
          <a:prstGeom prst="rect">
            <a:avLst/>
          </a:prstGeom>
          <a:noFill/>
        </p:spPr>
        <p:txBody>
          <a:bodyPr wrap="square" lIns="36576" tIns="36576" rIns="36576" bIns="36576" anchor="t">
            <a:spAutoFit/>
          </a:bodyPr>
          <a:lstStyle/>
          <a:p>
            <a:pPr algn="l">
              <a:spcAft>
                <a:spcPts val="0"/>
              </a:spcAft>
            </a:pPr>
            <a:r>
              <a:rPr sz="2400" b="1" dirty="0">
                <a:solidFill>
                  <a:srgbClr val="188985"/>
                </a:solidFill>
                <a:latin typeface="Aptos Display"/>
              </a:rPr>
              <a:t>50,000</a:t>
            </a:r>
          </a:p>
        </p:txBody>
      </p:sp>
      <p:sp>
        <p:nvSpPr>
          <p:cNvPr id="18" name="TextBox 17">
            <a:extLst>
              <a:ext uri="{FF2B5EF4-FFF2-40B4-BE49-F238E27FC236}">
                <a16:creationId xmlns:a16="http://schemas.microsoft.com/office/drawing/2014/main" id="{3D6D7D13-65DE-80DA-B2A0-6C45E556E8BA}"/>
              </a:ext>
            </a:extLst>
          </p:cNvPr>
          <p:cNvSpPr txBox="1"/>
          <p:nvPr/>
        </p:nvSpPr>
        <p:spPr>
          <a:xfrm>
            <a:off x="3438144" y="5852160"/>
            <a:ext cx="2093976" cy="219456"/>
          </a:xfrm>
          <a:prstGeom prst="rect">
            <a:avLst/>
          </a:prstGeom>
          <a:noFill/>
        </p:spPr>
        <p:txBody>
          <a:bodyPr wrap="square" lIns="36576" tIns="36576" rIns="36576" bIns="36576" anchor="t">
            <a:spAutoFit/>
          </a:bodyPr>
          <a:lstStyle/>
          <a:p>
            <a:pPr algn="l">
              <a:spcAft>
                <a:spcPts val="0"/>
              </a:spcAft>
            </a:pPr>
            <a:r>
              <a:rPr sz="1000" b="1" dirty="0">
                <a:solidFill>
                  <a:srgbClr val="5B6771"/>
                </a:solidFill>
                <a:latin typeface="Aptos"/>
              </a:rPr>
              <a:t>DEEP FRBs | α = 2.0</a:t>
            </a:r>
          </a:p>
        </p:txBody>
      </p:sp>
      <p:sp>
        <p:nvSpPr>
          <p:cNvPr id="19" name="TextBox 18">
            <a:extLst>
              <a:ext uri="{FF2B5EF4-FFF2-40B4-BE49-F238E27FC236}">
                <a16:creationId xmlns:a16="http://schemas.microsoft.com/office/drawing/2014/main" id="{39913A65-E1C1-76B7-80C7-19B40127881F}"/>
              </a:ext>
            </a:extLst>
          </p:cNvPr>
          <p:cNvSpPr txBox="1"/>
          <p:nvPr/>
        </p:nvSpPr>
        <p:spPr>
          <a:xfrm>
            <a:off x="502920" y="676656"/>
            <a:ext cx="10881360" cy="750975"/>
          </a:xfrm>
          <a:prstGeom prst="rect">
            <a:avLst/>
          </a:prstGeom>
          <a:noFill/>
        </p:spPr>
        <p:txBody>
          <a:bodyPr wrap="square" lIns="36576" tIns="36576" rIns="36576" bIns="36576" anchor="t">
            <a:spAutoFit/>
          </a:bodyPr>
          <a:lstStyle/>
          <a:p>
            <a:pPr algn="l">
              <a:spcAft>
                <a:spcPts val="0"/>
              </a:spcAft>
            </a:pPr>
            <a:r>
              <a:rPr sz="4400" b="1" dirty="0">
                <a:latin typeface="Aptos Display"/>
              </a:rPr>
              <a:t>Data and Survey Scenarios</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B0AF55E-4D03-ED31-569B-5D668B6A2B44}"/>
                  </a:ext>
                </a:extLst>
              </p:cNvPr>
              <p:cNvSpPr txBox="1"/>
              <p:nvPr/>
            </p:nvSpPr>
            <p:spPr>
              <a:xfrm>
                <a:off x="2931222" y="2528887"/>
                <a:ext cx="1994072" cy="276999"/>
              </a:xfrm>
              <a:prstGeom prst="rect">
                <a:avLst/>
              </a:prstGeom>
              <a:noFill/>
            </p:spPr>
            <p:txBody>
              <a:bodyPr wrap="none" lIns="0" tIns="0" rIns="0" bIns="0" rtlCol="0">
                <a:spAutoFit/>
              </a:bodyPr>
              <a:lstStyle/>
              <a:p>
                <a:pPr/>
                <a14:m>
                  <m:oMathPara xmlns:m="http://schemas.openxmlformats.org/officeDocument/2006/math">
                    <m:oMath>
                      <m:r>
                        <a:rPr lang="nl-NL" b="0" i="1" smtClean="0">
                          <a:solidFill>
                            <a:schemeClr val="bg1"/>
                          </a:solidFill>
                          <a:latin typeface="Cambria Math" panose="02040503050406030204" pitchFamily="18" charset="0"/>
                        </a:rPr>
                        <m:t>𝑛</m:t>
                      </m:r>
                      <m:d>
                        <m:dPr>
                          <m:ctrlPr>
                            <a:rPr lang="nl-NL" b="0" i="1" smtClean="0">
                              <a:solidFill>
                                <a:schemeClr val="bg1"/>
                              </a:solidFill>
                              <a:latin typeface="Cambria Math" panose="02040503050406030204" pitchFamily="18" charset="0"/>
                            </a:rPr>
                          </m:ctrlPr>
                        </m:dPr>
                        <m:e>
                          <m:r>
                            <a:rPr lang="nl-NL" b="0" i="1" smtClean="0">
                              <a:solidFill>
                                <a:schemeClr val="bg1"/>
                              </a:solidFill>
                              <a:latin typeface="Cambria Math" panose="02040503050406030204" pitchFamily="18" charset="0"/>
                            </a:rPr>
                            <m:t>𝑧</m:t>
                          </m:r>
                        </m:e>
                      </m:d>
                      <m:r>
                        <a:rPr lang="nl-NL" b="0" i="1" smtClean="0">
                          <a:solidFill>
                            <a:schemeClr val="bg1"/>
                          </a:solidFill>
                          <a:latin typeface="Cambria Math" panose="02040503050406030204" pitchFamily="18" charset="0"/>
                        </a:rPr>
                        <m:t>=</m:t>
                      </m:r>
                      <m:sSup>
                        <m:sSupPr>
                          <m:ctrlPr>
                            <a:rPr lang="nl-NL" b="0" i="1" smtClean="0">
                              <a:solidFill>
                                <a:schemeClr val="bg1"/>
                              </a:solidFill>
                              <a:latin typeface="Cambria Math" panose="02040503050406030204" pitchFamily="18" charset="0"/>
                            </a:rPr>
                          </m:ctrlPr>
                        </m:sSupPr>
                        <m:e>
                          <m:r>
                            <a:rPr lang="nl-NL" b="0" i="1" smtClean="0">
                              <a:solidFill>
                                <a:schemeClr val="bg1"/>
                              </a:solidFill>
                              <a:latin typeface="Cambria Math" panose="02040503050406030204" pitchFamily="18" charset="0"/>
                            </a:rPr>
                            <m:t>𝑧</m:t>
                          </m:r>
                        </m:e>
                        <m:sup>
                          <m:r>
                            <a:rPr lang="nl-NL" b="0" i="1" smtClean="0">
                              <a:solidFill>
                                <a:schemeClr val="bg1"/>
                              </a:solidFill>
                              <a:latin typeface="Cambria Math" panose="02040503050406030204" pitchFamily="18" charset="0"/>
                            </a:rPr>
                            <m:t>2</m:t>
                          </m:r>
                        </m:sup>
                      </m:sSup>
                      <m:r>
                        <m:rPr>
                          <m:sty m:val="p"/>
                        </m:rPr>
                        <a:rPr lang="nl-NL" b="0" i="0" smtClean="0">
                          <a:solidFill>
                            <a:schemeClr val="bg1"/>
                          </a:solidFill>
                          <a:latin typeface="Cambria Math" panose="02040503050406030204" pitchFamily="18" charset="0"/>
                        </a:rPr>
                        <m:t>exp</m:t>
                      </m:r>
                      <m:r>
                        <a:rPr lang="nl-NL" b="0" i="1" smtClean="0">
                          <a:solidFill>
                            <a:schemeClr val="bg1"/>
                          </a:solidFill>
                          <a:latin typeface="Cambria Math" panose="02040503050406030204" pitchFamily="18" charset="0"/>
                        </a:rPr>
                        <m:t>⁡(−</m:t>
                      </m:r>
                      <m:r>
                        <a:rPr lang="nl-NL" b="0" i="1" smtClean="0">
                          <a:solidFill>
                            <a:schemeClr val="bg1"/>
                          </a:solidFill>
                          <a:latin typeface="Cambria Math" panose="02040503050406030204" pitchFamily="18" charset="0"/>
                        </a:rPr>
                        <m:t>𝛼</m:t>
                      </m:r>
                      <m:r>
                        <a:rPr lang="nl-NL" b="0" i="1" smtClean="0">
                          <a:solidFill>
                            <a:schemeClr val="bg1"/>
                          </a:solidFill>
                          <a:latin typeface="Cambria Math" panose="02040503050406030204" pitchFamily="18" charset="0"/>
                        </a:rPr>
                        <m:t>𝑧</m:t>
                      </m:r>
                      <m:r>
                        <a:rPr lang="nl-NL" b="0" i="1" smtClean="0">
                          <a:solidFill>
                            <a:schemeClr val="bg1"/>
                          </a:solidFill>
                          <a:latin typeface="Cambria Math" panose="02040503050406030204" pitchFamily="18" charset="0"/>
                        </a:rPr>
                        <m:t>)</m:t>
                      </m:r>
                    </m:oMath>
                  </m:oMathPara>
                </a14:m>
                <a:endParaRPr lang="en-DE" dirty="0">
                  <a:solidFill>
                    <a:schemeClr val="bg1"/>
                  </a:solidFill>
                </a:endParaRPr>
              </a:p>
            </p:txBody>
          </p:sp>
        </mc:Choice>
        <mc:Fallback xmlns="">
          <p:sp>
            <p:nvSpPr>
              <p:cNvPr id="20" name="TextBox 19">
                <a:extLst>
                  <a:ext uri="{FF2B5EF4-FFF2-40B4-BE49-F238E27FC236}">
                    <a16:creationId xmlns:a16="http://schemas.microsoft.com/office/drawing/2014/main" id="{4B0AF55E-4D03-ED31-569B-5D668B6A2B44}"/>
                  </a:ext>
                </a:extLst>
              </p:cNvPr>
              <p:cNvSpPr txBox="1">
                <a:spLocks noRot="1" noChangeAspect="1" noMove="1" noResize="1" noEditPoints="1" noAdjustHandles="1" noChangeArrowheads="1" noChangeShapeType="1" noTextEdit="1"/>
              </p:cNvSpPr>
              <p:nvPr/>
            </p:nvSpPr>
            <p:spPr>
              <a:xfrm>
                <a:off x="2931222" y="2528887"/>
                <a:ext cx="1994072" cy="276999"/>
              </a:xfrm>
              <a:prstGeom prst="rect">
                <a:avLst/>
              </a:prstGeom>
              <a:blipFill>
                <a:blip r:embed="rId5"/>
                <a:stretch>
                  <a:fillRect l="-1266" t="-4545" r="-4430" b="-36364"/>
                </a:stretch>
              </a:blipFill>
            </p:spPr>
            <p:txBody>
              <a:bodyPr/>
              <a:lstStyle/>
              <a:p>
                <a:r>
                  <a:rPr lang="en-DE">
                    <a:noFill/>
                  </a:rPr>
                  <a:t> </a:t>
                </a:r>
              </a:p>
            </p:txBody>
          </p:sp>
        </mc:Fallback>
      </mc:AlternateContent>
    </p:spTree>
    <p:extLst>
      <p:ext uri="{BB962C8B-B14F-4D97-AF65-F5344CB8AC3E}">
        <p14:creationId xmlns:p14="http://schemas.microsoft.com/office/powerpoint/2010/main" val="313636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24AA21E-9992-DD87-D4E6-3B1CAD395283}"/>
              </a:ext>
            </a:extLst>
          </p:cNvPr>
          <p:cNvSpPr>
            <a:spLocks noGrp="1"/>
          </p:cNvSpPr>
          <p:nvPr>
            <p:ph type="sldNum" sz="quarter" idx="12"/>
          </p:nvPr>
        </p:nvSpPr>
        <p:spPr/>
        <p:txBody>
          <a:bodyPr/>
          <a:lstStyle/>
          <a:p>
            <a:fld id="{D3D74EA4-B172-9A48-808A-923F6A4D31D8}" type="slidenum">
              <a:rPr lang="en-DE" smtClean="0"/>
              <a:t>6</a:t>
            </a:fld>
            <a:endParaRPr lang="en-DE"/>
          </a:p>
        </p:txBody>
      </p:sp>
      <p:sp>
        <p:nvSpPr>
          <p:cNvPr id="9" name="TextBox 8">
            <a:extLst>
              <a:ext uri="{FF2B5EF4-FFF2-40B4-BE49-F238E27FC236}">
                <a16:creationId xmlns:a16="http://schemas.microsoft.com/office/drawing/2014/main" id="{02063184-E09F-DBCA-C58B-753DAF5840BA}"/>
              </a:ext>
            </a:extLst>
          </p:cNvPr>
          <p:cNvSpPr txBox="1"/>
          <p:nvPr/>
        </p:nvSpPr>
        <p:spPr>
          <a:xfrm>
            <a:off x="502920" y="676656"/>
            <a:ext cx="10881360" cy="750975"/>
          </a:xfrm>
          <a:prstGeom prst="rect">
            <a:avLst/>
          </a:prstGeom>
          <a:noFill/>
        </p:spPr>
        <p:txBody>
          <a:bodyPr wrap="square" lIns="36576" tIns="36576" rIns="36576" bIns="36576" anchor="t">
            <a:spAutoFit/>
          </a:bodyPr>
          <a:lstStyle/>
          <a:p>
            <a:pPr algn="l">
              <a:spcAft>
                <a:spcPts val="0"/>
              </a:spcAft>
            </a:pPr>
            <a:r>
              <a:rPr sz="4400" b="1" dirty="0">
                <a:latin typeface="Aptos Display"/>
              </a:rPr>
              <a:t>Numerical Pipeline</a:t>
            </a:r>
          </a:p>
        </p:txBody>
      </p:sp>
      <p:sp>
        <p:nvSpPr>
          <p:cNvPr id="11" name="Rounded Rectangle 10">
            <a:extLst>
              <a:ext uri="{FF2B5EF4-FFF2-40B4-BE49-F238E27FC236}">
                <a16:creationId xmlns:a16="http://schemas.microsoft.com/office/drawing/2014/main" id="{CAA9A0F5-CBFE-7E03-86F6-0CEA88030AA9}"/>
              </a:ext>
            </a:extLst>
          </p:cNvPr>
          <p:cNvSpPr/>
          <p:nvPr/>
        </p:nvSpPr>
        <p:spPr>
          <a:xfrm>
            <a:off x="566928" y="1691640"/>
            <a:ext cx="1920240" cy="128016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2353D306-1D06-9EDD-8311-6D39269BDA4F}"/>
              </a:ext>
            </a:extLst>
          </p:cNvPr>
          <p:cNvSpPr txBox="1"/>
          <p:nvPr/>
        </p:nvSpPr>
        <p:spPr>
          <a:xfrm>
            <a:off x="722376" y="1874519"/>
            <a:ext cx="384048" cy="274320"/>
          </a:xfrm>
          <a:prstGeom prst="rect">
            <a:avLst/>
          </a:prstGeom>
          <a:noFill/>
        </p:spPr>
        <p:txBody>
          <a:bodyPr wrap="square" lIns="36576" tIns="36576" rIns="36576" bIns="36576" anchor="t">
            <a:spAutoFit/>
          </a:bodyPr>
          <a:lstStyle/>
          <a:p>
            <a:pPr algn="l">
              <a:spcAft>
                <a:spcPts val="0"/>
              </a:spcAft>
            </a:pPr>
            <a:r>
              <a:rPr sz="1100" b="1">
                <a:solidFill>
                  <a:srgbClr val="1C3750"/>
                </a:solidFill>
                <a:latin typeface="Aptos"/>
              </a:rPr>
              <a:t>01</a:t>
            </a:r>
          </a:p>
        </p:txBody>
      </p:sp>
      <p:sp>
        <p:nvSpPr>
          <p:cNvPr id="13" name="TextBox 12">
            <a:extLst>
              <a:ext uri="{FF2B5EF4-FFF2-40B4-BE49-F238E27FC236}">
                <a16:creationId xmlns:a16="http://schemas.microsoft.com/office/drawing/2014/main" id="{5C8993CD-FD44-D8D7-6141-7915DCB99042}"/>
              </a:ext>
            </a:extLst>
          </p:cNvPr>
          <p:cNvSpPr txBox="1"/>
          <p:nvPr/>
        </p:nvSpPr>
        <p:spPr>
          <a:xfrm>
            <a:off x="722376" y="2212848"/>
            <a:ext cx="1600200" cy="274320"/>
          </a:xfrm>
          <a:prstGeom prst="rect">
            <a:avLst/>
          </a:prstGeom>
          <a:noFill/>
        </p:spPr>
        <p:txBody>
          <a:bodyPr wrap="square" lIns="36576" tIns="36576" rIns="36576" bIns="36576" anchor="t">
            <a:spAutoFit/>
          </a:bodyPr>
          <a:lstStyle/>
          <a:p>
            <a:pPr algn="l">
              <a:spcAft>
                <a:spcPts val="0"/>
              </a:spcAft>
            </a:pPr>
            <a:r>
              <a:rPr sz="1500" b="1">
                <a:solidFill>
                  <a:srgbClr val="1C3750"/>
                </a:solidFill>
                <a:latin typeface="Aptos"/>
              </a:rPr>
              <a:t>Planck 2018</a:t>
            </a:r>
          </a:p>
        </p:txBody>
      </p:sp>
      <p:sp>
        <p:nvSpPr>
          <p:cNvPr id="14" name="TextBox 13">
            <a:extLst>
              <a:ext uri="{FF2B5EF4-FFF2-40B4-BE49-F238E27FC236}">
                <a16:creationId xmlns:a16="http://schemas.microsoft.com/office/drawing/2014/main" id="{57823965-93A0-029E-1196-C2931958E6B7}"/>
              </a:ext>
            </a:extLst>
          </p:cNvPr>
          <p:cNvSpPr txBox="1"/>
          <p:nvPr/>
        </p:nvSpPr>
        <p:spPr>
          <a:xfrm>
            <a:off x="722376" y="2578608"/>
            <a:ext cx="1600200" cy="228600"/>
          </a:xfrm>
          <a:prstGeom prst="rect">
            <a:avLst/>
          </a:prstGeom>
          <a:noFill/>
        </p:spPr>
        <p:txBody>
          <a:bodyPr wrap="square" lIns="36576" tIns="36576" rIns="36576" bIns="36576" anchor="t">
            <a:spAutoFit/>
          </a:bodyPr>
          <a:lstStyle/>
          <a:p>
            <a:pPr algn="l">
              <a:spcAft>
                <a:spcPts val="0"/>
              </a:spcAft>
            </a:pPr>
            <a:r>
              <a:rPr sz="1100" b="0">
                <a:solidFill>
                  <a:srgbClr val="5B6771"/>
                </a:solidFill>
                <a:latin typeface="Aptos"/>
              </a:rPr>
              <a:t>ΛCDM cosmology</a:t>
            </a:r>
          </a:p>
        </p:txBody>
      </p:sp>
      <p:sp>
        <p:nvSpPr>
          <p:cNvPr id="15" name="TextBox 14">
            <a:extLst>
              <a:ext uri="{FF2B5EF4-FFF2-40B4-BE49-F238E27FC236}">
                <a16:creationId xmlns:a16="http://schemas.microsoft.com/office/drawing/2014/main" id="{755ECB53-6089-EFB2-805E-0C86DA647475}"/>
              </a:ext>
            </a:extLst>
          </p:cNvPr>
          <p:cNvSpPr txBox="1"/>
          <p:nvPr/>
        </p:nvSpPr>
        <p:spPr>
          <a:xfrm>
            <a:off x="2505456" y="2121408"/>
            <a:ext cx="347472" cy="411480"/>
          </a:xfrm>
          <a:prstGeom prst="rect">
            <a:avLst/>
          </a:prstGeom>
          <a:noFill/>
        </p:spPr>
        <p:txBody>
          <a:bodyPr wrap="square" lIns="36576" tIns="36576" rIns="36576" bIns="36576" anchor="t">
            <a:spAutoFit/>
          </a:bodyPr>
          <a:lstStyle/>
          <a:p>
            <a:pPr algn="ctr">
              <a:spcAft>
                <a:spcPts val="0"/>
              </a:spcAft>
            </a:pPr>
            <a:r>
              <a:rPr sz="2200" b="1">
                <a:solidFill>
                  <a:srgbClr val="D2D7D7"/>
                </a:solidFill>
                <a:latin typeface="Aptos"/>
              </a:rPr>
              <a:t>→</a:t>
            </a:r>
          </a:p>
        </p:txBody>
      </p:sp>
      <p:sp>
        <p:nvSpPr>
          <p:cNvPr id="16" name="Rounded Rectangle 15">
            <a:extLst>
              <a:ext uri="{FF2B5EF4-FFF2-40B4-BE49-F238E27FC236}">
                <a16:creationId xmlns:a16="http://schemas.microsoft.com/office/drawing/2014/main" id="{E2FC3EE9-D5FA-B6E9-2BE3-FE4194C0E503}"/>
              </a:ext>
            </a:extLst>
          </p:cNvPr>
          <p:cNvSpPr/>
          <p:nvPr/>
        </p:nvSpPr>
        <p:spPr>
          <a:xfrm>
            <a:off x="2871216" y="1691640"/>
            <a:ext cx="1920240" cy="128016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2DDD3D45-24F2-03EA-6D17-837350F5A62C}"/>
              </a:ext>
            </a:extLst>
          </p:cNvPr>
          <p:cNvSpPr txBox="1"/>
          <p:nvPr/>
        </p:nvSpPr>
        <p:spPr>
          <a:xfrm>
            <a:off x="3026664" y="1874519"/>
            <a:ext cx="384048" cy="274320"/>
          </a:xfrm>
          <a:prstGeom prst="rect">
            <a:avLst/>
          </a:prstGeom>
          <a:noFill/>
        </p:spPr>
        <p:txBody>
          <a:bodyPr wrap="square" lIns="36576" tIns="36576" rIns="36576" bIns="36576" anchor="t">
            <a:spAutoFit/>
          </a:bodyPr>
          <a:lstStyle/>
          <a:p>
            <a:pPr algn="l">
              <a:spcAft>
                <a:spcPts val="0"/>
              </a:spcAft>
            </a:pPr>
            <a:r>
              <a:rPr sz="1100" b="1">
                <a:solidFill>
                  <a:srgbClr val="188985"/>
                </a:solidFill>
                <a:latin typeface="Aptos"/>
              </a:rPr>
              <a:t>02</a:t>
            </a:r>
          </a:p>
        </p:txBody>
      </p:sp>
      <p:sp>
        <p:nvSpPr>
          <p:cNvPr id="18" name="TextBox 17">
            <a:extLst>
              <a:ext uri="{FF2B5EF4-FFF2-40B4-BE49-F238E27FC236}">
                <a16:creationId xmlns:a16="http://schemas.microsoft.com/office/drawing/2014/main" id="{CFFCCA75-2ED6-D00F-E1EF-358C8959BB9F}"/>
              </a:ext>
            </a:extLst>
          </p:cNvPr>
          <p:cNvSpPr txBox="1"/>
          <p:nvPr/>
        </p:nvSpPr>
        <p:spPr>
          <a:xfrm>
            <a:off x="3026664" y="2212848"/>
            <a:ext cx="1600200" cy="274320"/>
          </a:xfrm>
          <a:prstGeom prst="rect">
            <a:avLst/>
          </a:prstGeom>
          <a:noFill/>
        </p:spPr>
        <p:txBody>
          <a:bodyPr wrap="square" lIns="36576" tIns="36576" rIns="36576" bIns="36576" anchor="t">
            <a:spAutoFit/>
          </a:bodyPr>
          <a:lstStyle/>
          <a:p>
            <a:pPr algn="l">
              <a:spcAft>
                <a:spcPts val="0"/>
              </a:spcAft>
            </a:pPr>
            <a:r>
              <a:rPr sz="1500" b="1">
                <a:solidFill>
                  <a:srgbClr val="1C3750"/>
                </a:solidFill>
                <a:latin typeface="Aptos"/>
              </a:rPr>
              <a:t>Matter field</a:t>
            </a:r>
          </a:p>
        </p:txBody>
      </p:sp>
      <p:sp>
        <p:nvSpPr>
          <p:cNvPr id="19" name="TextBox 18">
            <a:extLst>
              <a:ext uri="{FF2B5EF4-FFF2-40B4-BE49-F238E27FC236}">
                <a16:creationId xmlns:a16="http://schemas.microsoft.com/office/drawing/2014/main" id="{E8897D35-FC6A-C482-8AD3-6304B516D847}"/>
              </a:ext>
            </a:extLst>
          </p:cNvPr>
          <p:cNvSpPr txBox="1"/>
          <p:nvPr/>
        </p:nvSpPr>
        <p:spPr>
          <a:xfrm>
            <a:off x="3026664" y="2578608"/>
            <a:ext cx="1600200" cy="228600"/>
          </a:xfrm>
          <a:prstGeom prst="rect">
            <a:avLst/>
          </a:prstGeom>
          <a:noFill/>
        </p:spPr>
        <p:txBody>
          <a:bodyPr wrap="square" lIns="36576" tIns="36576" rIns="36576" bIns="36576" anchor="t">
            <a:spAutoFit/>
          </a:bodyPr>
          <a:lstStyle/>
          <a:p>
            <a:pPr algn="l">
              <a:spcAft>
                <a:spcPts val="0"/>
              </a:spcAft>
            </a:pPr>
            <a:r>
              <a:rPr sz="1100" b="0">
                <a:solidFill>
                  <a:srgbClr val="5B6771"/>
                </a:solidFill>
                <a:latin typeface="Aptos"/>
              </a:rPr>
              <a:t>non-linear P(k,z)</a:t>
            </a:r>
          </a:p>
        </p:txBody>
      </p:sp>
      <p:sp>
        <p:nvSpPr>
          <p:cNvPr id="20" name="TextBox 19">
            <a:extLst>
              <a:ext uri="{FF2B5EF4-FFF2-40B4-BE49-F238E27FC236}">
                <a16:creationId xmlns:a16="http://schemas.microsoft.com/office/drawing/2014/main" id="{6F07F77C-5D10-185B-DD70-63C5BDEBB191}"/>
              </a:ext>
            </a:extLst>
          </p:cNvPr>
          <p:cNvSpPr txBox="1"/>
          <p:nvPr/>
        </p:nvSpPr>
        <p:spPr>
          <a:xfrm>
            <a:off x="4809744" y="2121408"/>
            <a:ext cx="347472" cy="411480"/>
          </a:xfrm>
          <a:prstGeom prst="rect">
            <a:avLst/>
          </a:prstGeom>
          <a:noFill/>
        </p:spPr>
        <p:txBody>
          <a:bodyPr wrap="square" lIns="36576" tIns="36576" rIns="36576" bIns="36576" anchor="t">
            <a:spAutoFit/>
          </a:bodyPr>
          <a:lstStyle/>
          <a:p>
            <a:pPr algn="ctr">
              <a:spcAft>
                <a:spcPts val="0"/>
              </a:spcAft>
            </a:pPr>
            <a:r>
              <a:rPr sz="2200" b="1">
                <a:solidFill>
                  <a:srgbClr val="D2D7D7"/>
                </a:solidFill>
                <a:latin typeface="Aptos"/>
              </a:rPr>
              <a:t>→</a:t>
            </a:r>
          </a:p>
        </p:txBody>
      </p:sp>
      <p:sp>
        <p:nvSpPr>
          <p:cNvPr id="21" name="Rounded Rectangle 20">
            <a:extLst>
              <a:ext uri="{FF2B5EF4-FFF2-40B4-BE49-F238E27FC236}">
                <a16:creationId xmlns:a16="http://schemas.microsoft.com/office/drawing/2014/main" id="{B032E782-2695-8BB6-C946-54E3D5227A2C}"/>
              </a:ext>
            </a:extLst>
          </p:cNvPr>
          <p:cNvSpPr/>
          <p:nvPr/>
        </p:nvSpPr>
        <p:spPr>
          <a:xfrm>
            <a:off x="5175504" y="1691640"/>
            <a:ext cx="1920240" cy="128016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49C14156-BF32-EB1B-C65E-F69B87C0BAF6}"/>
              </a:ext>
            </a:extLst>
          </p:cNvPr>
          <p:cNvSpPr txBox="1"/>
          <p:nvPr/>
        </p:nvSpPr>
        <p:spPr>
          <a:xfrm>
            <a:off x="5330952" y="1874519"/>
            <a:ext cx="384048" cy="274320"/>
          </a:xfrm>
          <a:prstGeom prst="rect">
            <a:avLst/>
          </a:prstGeom>
          <a:noFill/>
        </p:spPr>
        <p:txBody>
          <a:bodyPr wrap="square" lIns="36576" tIns="36576" rIns="36576" bIns="36576" anchor="t">
            <a:spAutoFit/>
          </a:bodyPr>
          <a:lstStyle/>
          <a:p>
            <a:pPr algn="l">
              <a:spcAft>
                <a:spcPts val="0"/>
              </a:spcAft>
            </a:pPr>
            <a:r>
              <a:rPr sz="1100" b="1">
                <a:solidFill>
                  <a:srgbClr val="DD5B4A"/>
                </a:solidFill>
                <a:latin typeface="Aptos"/>
              </a:rPr>
              <a:t>03</a:t>
            </a:r>
          </a:p>
        </p:txBody>
      </p:sp>
      <p:sp>
        <p:nvSpPr>
          <p:cNvPr id="23" name="TextBox 22">
            <a:extLst>
              <a:ext uri="{FF2B5EF4-FFF2-40B4-BE49-F238E27FC236}">
                <a16:creationId xmlns:a16="http://schemas.microsoft.com/office/drawing/2014/main" id="{8CF2CF50-D8BD-9475-7C40-4BF6FD7DF391}"/>
              </a:ext>
            </a:extLst>
          </p:cNvPr>
          <p:cNvSpPr txBox="1"/>
          <p:nvPr/>
        </p:nvSpPr>
        <p:spPr>
          <a:xfrm>
            <a:off x="5330952" y="2212848"/>
            <a:ext cx="1600200" cy="274320"/>
          </a:xfrm>
          <a:prstGeom prst="rect">
            <a:avLst/>
          </a:prstGeom>
          <a:noFill/>
        </p:spPr>
        <p:txBody>
          <a:bodyPr wrap="square" lIns="36576" tIns="36576" rIns="36576" bIns="36576" anchor="t">
            <a:spAutoFit/>
          </a:bodyPr>
          <a:lstStyle/>
          <a:p>
            <a:pPr algn="l">
              <a:spcAft>
                <a:spcPts val="0"/>
              </a:spcAft>
            </a:pPr>
            <a:r>
              <a:rPr sz="1500" b="1">
                <a:solidFill>
                  <a:srgbClr val="1C3750"/>
                </a:solidFill>
                <a:latin typeface="Aptos"/>
              </a:rPr>
              <a:t>Radial kernels</a:t>
            </a:r>
          </a:p>
        </p:txBody>
      </p:sp>
      <p:sp>
        <p:nvSpPr>
          <p:cNvPr id="24" name="TextBox 23">
            <a:extLst>
              <a:ext uri="{FF2B5EF4-FFF2-40B4-BE49-F238E27FC236}">
                <a16:creationId xmlns:a16="http://schemas.microsoft.com/office/drawing/2014/main" id="{8FBE7D53-13D6-947C-8171-801F678DFA4F}"/>
              </a:ext>
            </a:extLst>
          </p:cNvPr>
          <p:cNvSpPr txBox="1"/>
          <p:nvPr/>
        </p:nvSpPr>
        <p:spPr>
          <a:xfrm>
            <a:off x="5330952" y="2578608"/>
            <a:ext cx="1600200" cy="228600"/>
          </a:xfrm>
          <a:prstGeom prst="rect">
            <a:avLst/>
          </a:prstGeom>
          <a:noFill/>
        </p:spPr>
        <p:txBody>
          <a:bodyPr wrap="square" lIns="36576" tIns="36576" rIns="36576" bIns="36576" anchor="t">
            <a:spAutoFit/>
          </a:bodyPr>
          <a:lstStyle/>
          <a:p>
            <a:pPr algn="l">
              <a:spcAft>
                <a:spcPts val="0"/>
              </a:spcAft>
            </a:pPr>
            <a:r>
              <a:rPr sz="1100" b="0">
                <a:solidFill>
                  <a:srgbClr val="5B6771"/>
                </a:solidFill>
                <a:latin typeface="Aptos"/>
              </a:rPr>
              <a:t>selection × bias</a:t>
            </a:r>
          </a:p>
        </p:txBody>
      </p:sp>
      <p:sp>
        <p:nvSpPr>
          <p:cNvPr id="25" name="TextBox 24">
            <a:extLst>
              <a:ext uri="{FF2B5EF4-FFF2-40B4-BE49-F238E27FC236}">
                <a16:creationId xmlns:a16="http://schemas.microsoft.com/office/drawing/2014/main" id="{BE7F4397-4B36-4617-DA92-CA5C44228B6B}"/>
              </a:ext>
            </a:extLst>
          </p:cNvPr>
          <p:cNvSpPr txBox="1"/>
          <p:nvPr/>
        </p:nvSpPr>
        <p:spPr>
          <a:xfrm>
            <a:off x="7114032" y="2121408"/>
            <a:ext cx="347472" cy="411480"/>
          </a:xfrm>
          <a:prstGeom prst="rect">
            <a:avLst/>
          </a:prstGeom>
          <a:noFill/>
        </p:spPr>
        <p:txBody>
          <a:bodyPr wrap="square" lIns="36576" tIns="36576" rIns="36576" bIns="36576" anchor="t">
            <a:spAutoFit/>
          </a:bodyPr>
          <a:lstStyle/>
          <a:p>
            <a:pPr algn="ctr">
              <a:spcAft>
                <a:spcPts val="0"/>
              </a:spcAft>
            </a:pPr>
            <a:r>
              <a:rPr sz="2200" b="1">
                <a:solidFill>
                  <a:srgbClr val="D2D7D7"/>
                </a:solidFill>
                <a:latin typeface="Aptos"/>
              </a:rPr>
              <a:t>→</a:t>
            </a:r>
          </a:p>
        </p:txBody>
      </p:sp>
      <p:sp>
        <p:nvSpPr>
          <p:cNvPr id="26" name="Rounded Rectangle 25">
            <a:extLst>
              <a:ext uri="{FF2B5EF4-FFF2-40B4-BE49-F238E27FC236}">
                <a16:creationId xmlns:a16="http://schemas.microsoft.com/office/drawing/2014/main" id="{25EB2FD0-4829-6FD1-0381-412724241D80}"/>
              </a:ext>
            </a:extLst>
          </p:cNvPr>
          <p:cNvSpPr/>
          <p:nvPr/>
        </p:nvSpPr>
        <p:spPr>
          <a:xfrm>
            <a:off x="7479792" y="1691640"/>
            <a:ext cx="1920240" cy="128016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EF743BDF-BE00-74E1-CEA2-413BB3084ABC}"/>
              </a:ext>
            </a:extLst>
          </p:cNvPr>
          <p:cNvSpPr txBox="1"/>
          <p:nvPr/>
        </p:nvSpPr>
        <p:spPr>
          <a:xfrm>
            <a:off x="7635240" y="1874519"/>
            <a:ext cx="384048" cy="274320"/>
          </a:xfrm>
          <a:prstGeom prst="rect">
            <a:avLst/>
          </a:prstGeom>
          <a:noFill/>
        </p:spPr>
        <p:txBody>
          <a:bodyPr wrap="square" lIns="36576" tIns="36576" rIns="36576" bIns="36576" anchor="t">
            <a:spAutoFit/>
          </a:bodyPr>
          <a:lstStyle/>
          <a:p>
            <a:pPr algn="l">
              <a:spcAft>
                <a:spcPts val="0"/>
              </a:spcAft>
            </a:pPr>
            <a:r>
              <a:rPr sz="1100" b="1">
                <a:solidFill>
                  <a:srgbClr val="DDA33A"/>
                </a:solidFill>
                <a:latin typeface="Aptos"/>
              </a:rPr>
              <a:t>04</a:t>
            </a:r>
          </a:p>
        </p:txBody>
      </p:sp>
      <p:sp>
        <p:nvSpPr>
          <p:cNvPr id="28" name="TextBox 27">
            <a:extLst>
              <a:ext uri="{FF2B5EF4-FFF2-40B4-BE49-F238E27FC236}">
                <a16:creationId xmlns:a16="http://schemas.microsoft.com/office/drawing/2014/main" id="{BB224279-04AF-1011-738E-E1FCD3843DF0}"/>
              </a:ext>
            </a:extLst>
          </p:cNvPr>
          <p:cNvSpPr txBox="1"/>
          <p:nvPr/>
        </p:nvSpPr>
        <p:spPr>
          <a:xfrm>
            <a:off x="7635240" y="2212848"/>
            <a:ext cx="1600200" cy="274320"/>
          </a:xfrm>
          <a:prstGeom prst="rect">
            <a:avLst/>
          </a:prstGeom>
          <a:noFill/>
        </p:spPr>
        <p:txBody>
          <a:bodyPr wrap="square" lIns="36576" tIns="36576" rIns="36576" bIns="36576" anchor="t">
            <a:spAutoFit/>
          </a:bodyPr>
          <a:lstStyle/>
          <a:p>
            <a:pPr algn="l">
              <a:spcAft>
                <a:spcPts val="0"/>
              </a:spcAft>
            </a:pPr>
            <a:r>
              <a:rPr sz="1500" b="1">
                <a:solidFill>
                  <a:srgbClr val="1C3750"/>
                </a:solidFill>
                <a:latin typeface="Aptos"/>
              </a:rPr>
              <a:t>Projection</a:t>
            </a:r>
          </a:p>
        </p:txBody>
      </p:sp>
      <p:sp>
        <p:nvSpPr>
          <p:cNvPr id="29" name="TextBox 28">
            <a:extLst>
              <a:ext uri="{FF2B5EF4-FFF2-40B4-BE49-F238E27FC236}">
                <a16:creationId xmlns:a16="http://schemas.microsoft.com/office/drawing/2014/main" id="{851C8EFB-F614-4C15-39F0-9AFE482AF5B4}"/>
              </a:ext>
            </a:extLst>
          </p:cNvPr>
          <p:cNvSpPr txBox="1"/>
          <p:nvPr/>
        </p:nvSpPr>
        <p:spPr>
          <a:xfrm>
            <a:off x="7635240" y="2578608"/>
            <a:ext cx="1600200" cy="228600"/>
          </a:xfrm>
          <a:prstGeom prst="rect">
            <a:avLst/>
          </a:prstGeom>
          <a:noFill/>
        </p:spPr>
        <p:txBody>
          <a:bodyPr wrap="square" lIns="36576" tIns="36576" rIns="36576" bIns="36576" anchor="t">
            <a:spAutoFit/>
          </a:bodyPr>
          <a:lstStyle/>
          <a:p>
            <a:pPr algn="l">
              <a:spcAft>
                <a:spcPts val="0"/>
              </a:spcAft>
            </a:pPr>
            <a:r>
              <a:rPr sz="1100" b="0">
                <a:solidFill>
                  <a:srgbClr val="5B6771"/>
                </a:solidFill>
                <a:latin typeface="Aptos"/>
              </a:rPr>
              <a:t>Limber → Cℓ</a:t>
            </a:r>
          </a:p>
        </p:txBody>
      </p:sp>
      <p:sp>
        <p:nvSpPr>
          <p:cNvPr id="30" name="TextBox 29">
            <a:extLst>
              <a:ext uri="{FF2B5EF4-FFF2-40B4-BE49-F238E27FC236}">
                <a16:creationId xmlns:a16="http://schemas.microsoft.com/office/drawing/2014/main" id="{4F875C1E-EFD4-9070-3F7D-F5E288833486}"/>
              </a:ext>
            </a:extLst>
          </p:cNvPr>
          <p:cNvSpPr txBox="1"/>
          <p:nvPr/>
        </p:nvSpPr>
        <p:spPr>
          <a:xfrm>
            <a:off x="9418320" y="2121408"/>
            <a:ext cx="347472" cy="411480"/>
          </a:xfrm>
          <a:prstGeom prst="rect">
            <a:avLst/>
          </a:prstGeom>
          <a:noFill/>
        </p:spPr>
        <p:txBody>
          <a:bodyPr wrap="square" lIns="36576" tIns="36576" rIns="36576" bIns="36576" anchor="t">
            <a:spAutoFit/>
          </a:bodyPr>
          <a:lstStyle/>
          <a:p>
            <a:pPr algn="ctr">
              <a:spcAft>
                <a:spcPts val="0"/>
              </a:spcAft>
            </a:pPr>
            <a:r>
              <a:rPr sz="2200" b="1">
                <a:solidFill>
                  <a:srgbClr val="D2D7D7"/>
                </a:solidFill>
                <a:latin typeface="Aptos"/>
              </a:rPr>
              <a:t>→</a:t>
            </a:r>
          </a:p>
        </p:txBody>
      </p:sp>
      <p:sp>
        <p:nvSpPr>
          <p:cNvPr id="31" name="Rounded Rectangle 30">
            <a:extLst>
              <a:ext uri="{FF2B5EF4-FFF2-40B4-BE49-F238E27FC236}">
                <a16:creationId xmlns:a16="http://schemas.microsoft.com/office/drawing/2014/main" id="{124EFA15-21C3-27B2-4754-DEDA23C73278}"/>
              </a:ext>
            </a:extLst>
          </p:cNvPr>
          <p:cNvSpPr/>
          <p:nvPr/>
        </p:nvSpPr>
        <p:spPr>
          <a:xfrm>
            <a:off x="9784080" y="1691640"/>
            <a:ext cx="1920240" cy="128016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C116F9B0-0B67-321C-8252-A7B9FA726E3B}"/>
              </a:ext>
            </a:extLst>
          </p:cNvPr>
          <p:cNvSpPr txBox="1"/>
          <p:nvPr/>
        </p:nvSpPr>
        <p:spPr>
          <a:xfrm>
            <a:off x="9939528" y="1874519"/>
            <a:ext cx="384048" cy="274320"/>
          </a:xfrm>
          <a:prstGeom prst="rect">
            <a:avLst/>
          </a:prstGeom>
          <a:noFill/>
        </p:spPr>
        <p:txBody>
          <a:bodyPr wrap="square" lIns="36576" tIns="36576" rIns="36576" bIns="36576" anchor="t">
            <a:spAutoFit/>
          </a:bodyPr>
          <a:lstStyle/>
          <a:p>
            <a:pPr algn="l">
              <a:spcAft>
                <a:spcPts val="0"/>
              </a:spcAft>
            </a:pPr>
            <a:r>
              <a:rPr sz="1100" b="1">
                <a:solidFill>
                  <a:srgbClr val="5C9BBD"/>
                </a:solidFill>
                <a:latin typeface="Aptos"/>
              </a:rPr>
              <a:t>05</a:t>
            </a:r>
          </a:p>
        </p:txBody>
      </p:sp>
      <p:sp>
        <p:nvSpPr>
          <p:cNvPr id="33" name="TextBox 32">
            <a:extLst>
              <a:ext uri="{FF2B5EF4-FFF2-40B4-BE49-F238E27FC236}">
                <a16:creationId xmlns:a16="http://schemas.microsoft.com/office/drawing/2014/main" id="{53914F12-6E9D-697F-8F75-C8B91B711F36}"/>
              </a:ext>
            </a:extLst>
          </p:cNvPr>
          <p:cNvSpPr txBox="1"/>
          <p:nvPr/>
        </p:nvSpPr>
        <p:spPr>
          <a:xfrm>
            <a:off x="9939528" y="2212848"/>
            <a:ext cx="1600200" cy="274320"/>
          </a:xfrm>
          <a:prstGeom prst="rect">
            <a:avLst/>
          </a:prstGeom>
          <a:noFill/>
        </p:spPr>
        <p:txBody>
          <a:bodyPr wrap="square" lIns="36576" tIns="36576" rIns="36576" bIns="36576" anchor="t">
            <a:spAutoFit/>
          </a:bodyPr>
          <a:lstStyle/>
          <a:p>
            <a:pPr algn="l">
              <a:spcAft>
                <a:spcPts val="0"/>
              </a:spcAft>
            </a:pPr>
            <a:r>
              <a:rPr sz="1500" b="1">
                <a:solidFill>
                  <a:srgbClr val="1C3750"/>
                </a:solidFill>
                <a:latin typeface="Aptos"/>
              </a:rPr>
              <a:t>Forecast</a:t>
            </a:r>
          </a:p>
        </p:txBody>
      </p:sp>
      <p:sp>
        <p:nvSpPr>
          <p:cNvPr id="34" name="TextBox 33">
            <a:extLst>
              <a:ext uri="{FF2B5EF4-FFF2-40B4-BE49-F238E27FC236}">
                <a16:creationId xmlns:a16="http://schemas.microsoft.com/office/drawing/2014/main" id="{31236247-9BB3-7494-BE65-79D6F550F350}"/>
              </a:ext>
            </a:extLst>
          </p:cNvPr>
          <p:cNvSpPr txBox="1"/>
          <p:nvPr/>
        </p:nvSpPr>
        <p:spPr>
          <a:xfrm>
            <a:off x="9939528" y="2578608"/>
            <a:ext cx="1600200" cy="243143"/>
          </a:xfrm>
          <a:prstGeom prst="rect">
            <a:avLst/>
          </a:prstGeom>
          <a:noFill/>
        </p:spPr>
        <p:txBody>
          <a:bodyPr wrap="square" lIns="36576" tIns="36576" rIns="36576" bIns="36576" anchor="t">
            <a:spAutoFit/>
          </a:bodyPr>
          <a:lstStyle/>
          <a:p>
            <a:pPr algn="l">
              <a:spcAft>
                <a:spcPts val="0"/>
              </a:spcAft>
            </a:pPr>
            <a:r>
              <a:rPr sz="1100" b="0" dirty="0">
                <a:solidFill>
                  <a:srgbClr val="5B6771"/>
                </a:solidFill>
                <a:latin typeface="Aptos"/>
              </a:rPr>
              <a:t>Fisher</a:t>
            </a:r>
          </a:p>
        </p:txBody>
      </p:sp>
      <p:sp>
        <p:nvSpPr>
          <p:cNvPr id="35" name="Rounded Rectangle 34">
            <a:extLst>
              <a:ext uri="{FF2B5EF4-FFF2-40B4-BE49-F238E27FC236}">
                <a16:creationId xmlns:a16="http://schemas.microsoft.com/office/drawing/2014/main" id="{7F7D3783-C22E-5EF7-E610-2A70B20D4A39}"/>
              </a:ext>
            </a:extLst>
          </p:cNvPr>
          <p:cNvSpPr/>
          <p:nvPr/>
        </p:nvSpPr>
        <p:spPr>
          <a:xfrm>
            <a:off x="658368" y="3401568"/>
            <a:ext cx="6537960" cy="2130552"/>
          </a:xfrm>
          <a:prstGeom prst="roundRect">
            <a:avLst>
              <a:gd name="adj" fmla="val 8000"/>
            </a:avLst>
          </a:prstGeom>
          <a:solidFill>
            <a:srgbClr val="E2EDF4"/>
          </a:solidFill>
          <a:ln>
            <a:solidFill>
              <a:srgbClr val="E2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A7C6E892-FD91-A527-98E2-B044B1074F27}"/>
              </a:ext>
            </a:extLst>
          </p:cNvPr>
          <p:cNvSpPr txBox="1"/>
          <p:nvPr/>
        </p:nvSpPr>
        <p:spPr>
          <a:xfrm>
            <a:off x="960120" y="3703320"/>
            <a:ext cx="1920240" cy="274320"/>
          </a:xfrm>
          <a:prstGeom prst="rect">
            <a:avLst/>
          </a:prstGeom>
          <a:noFill/>
        </p:spPr>
        <p:txBody>
          <a:bodyPr wrap="square" lIns="36576" tIns="36576" rIns="36576" bIns="36576" anchor="t">
            <a:spAutoFit/>
          </a:bodyPr>
          <a:lstStyle/>
          <a:p>
            <a:pPr algn="l">
              <a:spcAft>
                <a:spcPts val="0"/>
              </a:spcAft>
            </a:pPr>
            <a:r>
              <a:rPr sz="1100" b="1">
                <a:solidFill>
                  <a:srgbClr val="5C9BBD"/>
                </a:solidFill>
                <a:latin typeface="Aptos"/>
              </a:rPr>
              <a:t>LIMBER PROJECTION</a:t>
            </a:r>
          </a:p>
        </p:txBody>
      </p:sp>
      <p:sp>
        <p:nvSpPr>
          <p:cNvPr id="37" name="TextBox 36">
            <a:extLst>
              <a:ext uri="{FF2B5EF4-FFF2-40B4-BE49-F238E27FC236}">
                <a16:creationId xmlns:a16="http://schemas.microsoft.com/office/drawing/2014/main" id="{59475D02-0163-82B5-352D-38596B45D924}"/>
              </a:ext>
            </a:extLst>
          </p:cNvPr>
          <p:cNvSpPr txBox="1"/>
          <p:nvPr/>
        </p:nvSpPr>
        <p:spPr>
          <a:xfrm>
            <a:off x="960119" y="4160520"/>
            <a:ext cx="7883843" cy="412421"/>
          </a:xfrm>
          <a:prstGeom prst="rect">
            <a:avLst/>
          </a:prstGeom>
          <a:noFill/>
        </p:spPr>
        <p:txBody>
          <a:bodyPr wrap="square" lIns="36576" tIns="36576" rIns="36576" bIns="36576" anchor="t">
            <a:spAutoFit/>
          </a:bodyPr>
          <a:lstStyle/>
          <a:p>
            <a:pPr algn="l">
              <a:spcAft>
                <a:spcPts val="0"/>
              </a:spcAft>
            </a:pPr>
            <a:r>
              <a:rPr sz="2200" b="1" dirty="0">
                <a:solidFill>
                  <a:srgbClr val="1C3750"/>
                </a:solidFill>
                <a:latin typeface="Aptos Display"/>
              </a:rPr>
              <a:t>Cℓᴬᴮ ≈ ∫ </a:t>
            </a:r>
            <a:r>
              <a:rPr sz="2200" b="1" dirty="0" err="1">
                <a:solidFill>
                  <a:srgbClr val="1C3750"/>
                </a:solidFill>
                <a:latin typeface="Aptos Display"/>
              </a:rPr>
              <a:t>dχ</a:t>
            </a:r>
            <a:r>
              <a:rPr sz="2200" b="1" dirty="0">
                <a:solidFill>
                  <a:srgbClr val="1C3750"/>
                </a:solidFill>
                <a:latin typeface="Aptos Display"/>
              </a:rPr>
              <a:t> / χ²  Wᴬ(</a:t>
            </a:r>
            <a:r>
              <a:rPr sz="2200" b="1" dirty="0" err="1">
                <a:solidFill>
                  <a:srgbClr val="1C3750"/>
                </a:solidFill>
                <a:latin typeface="Aptos Display"/>
              </a:rPr>
              <a:t>χ</a:t>
            </a:r>
            <a:r>
              <a:rPr sz="2200" b="1" dirty="0">
                <a:solidFill>
                  <a:srgbClr val="1C3750"/>
                </a:solidFill>
                <a:latin typeface="Aptos Display"/>
              </a:rPr>
              <a:t>) Wᴮ(</a:t>
            </a:r>
            <a:r>
              <a:rPr sz="2200" b="1" dirty="0" err="1">
                <a:solidFill>
                  <a:srgbClr val="1C3750"/>
                </a:solidFill>
                <a:latin typeface="Aptos Display"/>
              </a:rPr>
              <a:t>χ</a:t>
            </a:r>
            <a:r>
              <a:rPr sz="2200" b="1" dirty="0">
                <a:solidFill>
                  <a:srgbClr val="1C3750"/>
                </a:solidFill>
                <a:latin typeface="Aptos Display"/>
              </a:rPr>
              <a:t>)</a:t>
            </a:r>
            <a:r>
              <a:rPr lang="nl-NL" sz="2200" b="1" dirty="0">
                <a:solidFill>
                  <a:srgbClr val="1C3750"/>
                </a:solidFill>
                <a:latin typeface="Aptos Display"/>
              </a:rPr>
              <a:t> </a:t>
            </a:r>
            <a:r>
              <a:rPr sz="2200" b="1" dirty="0">
                <a:solidFill>
                  <a:srgbClr val="1C3750"/>
                </a:solidFill>
                <a:latin typeface="Aptos Display"/>
              </a:rPr>
              <a:t>× P((ℓ + 1/2) / </a:t>
            </a:r>
            <a:r>
              <a:rPr sz="2200" b="1" dirty="0" err="1">
                <a:solidFill>
                  <a:srgbClr val="1C3750"/>
                </a:solidFill>
                <a:latin typeface="Aptos Display"/>
              </a:rPr>
              <a:t>χ</a:t>
            </a:r>
            <a:r>
              <a:rPr sz="2200" b="1" dirty="0">
                <a:solidFill>
                  <a:srgbClr val="1C3750"/>
                </a:solidFill>
                <a:latin typeface="Aptos Display"/>
              </a:rPr>
              <a:t>, z)</a:t>
            </a:r>
          </a:p>
        </p:txBody>
      </p:sp>
      <p:pic>
        <p:nvPicPr>
          <p:cNvPr id="38" name="Picture 37" descr="Pk_nonlinear.png">
            <a:extLst>
              <a:ext uri="{FF2B5EF4-FFF2-40B4-BE49-F238E27FC236}">
                <a16:creationId xmlns:a16="http://schemas.microsoft.com/office/drawing/2014/main" id="{B6B3D512-7F21-E7D5-C65E-360CF80CF2E8}"/>
              </a:ext>
            </a:extLst>
          </p:cNvPr>
          <p:cNvPicPr>
            <a:picLocks noChangeAspect="1"/>
          </p:cNvPicPr>
          <p:nvPr/>
        </p:nvPicPr>
        <p:blipFill>
          <a:blip r:embed="rId3"/>
          <a:stretch>
            <a:fillRect/>
          </a:stretch>
        </p:blipFill>
        <p:spPr>
          <a:xfrm>
            <a:off x="7572745" y="3246120"/>
            <a:ext cx="3910605" cy="2514600"/>
          </a:xfrm>
          <a:prstGeom prst="rect">
            <a:avLst/>
          </a:prstGeom>
        </p:spPr>
      </p:pic>
      <p:sp>
        <p:nvSpPr>
          <p:cNvPr id="39" name="TextBox 38">
            <a:extLst>
              <a:ext uri="{FF2B5EF4-FFF2-40B4-BE49-F238E27FC236}">
                <a16:creationId xmlns:a16="http://schemas.microsoft.com/office/drawing/2014/main" id="{C4DABC36-8001-DF67-C338-6C60BC04FC85}"/>
              </a:ext>
            </a:extLst>
          </p:cNvPr>
          <p:cNvSpPr txBox="1"/>
          <p:nvPr/>
        </p:nvSpPr>
        <p:spPr>
          <a:xfrm>
            <a:off x="7818120" y="5760720"/>
            <a:ext cx="3383280" cy="274320"/>
          </a:xfrm>
          <a:prstGeom prst="rect">
            <a:avLst/>
          </a:prstGeom>
          <a:noFill/>
        </p:spPr>
        <p:txBody>
          <a:bodyPr wrap="square" lIns="36576" tIns="36576" rIns="36576" bIns="36576" anchor="t">
            <a:spAutoFit/>
          </a:bodyPr>
          <a:lstStyle/>
          <a:p>
            <a:pPr algn="ctr">
              <a:spcAft>
                <a:spcPts val="0"/>
              </a:spcAft>
            </a:pPr>
            <a:r>
              <a:rPr sz="1300" b="1" dirty="0">
                <a:latin typeface="Aptos"/>
              </a:rPr>
              <a:t>ℓ = 10 ... 1,000  |  24 cross-spectra</a:t>
            </a:r>
          </a:p>
        </p:txBody>
      </p:sp>
    </p:spTree>
    <p:extLst>
      <p:ext uri="{BB962C8B-B14F-4D97-AF65-F5344CB8AC3E}">
        <p14:creationId xmlns:p14="http://schemas.microsoft.com/office/powerpoint/2010/main" val="2437831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D816458-A348-5A7A-5AAE-31E7CD425E12}"/>
              </a:ext>
            </a:extLst>
          </p:cNvPr>
          <p:cNvSpPr>
            <a:spLocks noGrp="1"/>
          </p:cNvSpPr>
          <p:nvPr>
            <p:ph type="sldNum" sz="quarter" idx="12"/>
          </p:nvPr>
        </p:nvSpPr>
        <p:spPr/>
        <p:txBody>
          <a:bodyPr/>
          <a:lstStyle/>
          <a:p>
            <a:fld id="{D3D74EA4-B172-9A48-808A-923F6A4D31D8}" type="slidenum">
              <a:rPr lang="en-DE" smtClean="0"/>
              <a:t>7</a:t>
            </a:fld>
            <a:endParaRPr lang="en-DE"/>
          </a:p>
        </p:txBody>
      </p:sp>
      <p:sp>
        <p:nvSpPr>
          <p:cNvPr id="23" name="TextBox 22">
            <a:extLst>
              <a:ext uri="{FF2B5EF4-FFF2-40B4-BE49-F238E27FC236}">
                <a16:creationId xmlns:a16="http://schemas.microsoft.com/office/drawing/2014/main" id="{D124546F-4117-EB11-2DDD-36950DD5363B}"/>
              </a:ext>
            </a:extLst>
          </p:cNvPr>
          <p:cNvSpPr txBox="1"/>
          <p:nvPr/>
        </p:nvSpPr>
        <p:spPr>
          <a:xfrm>
            <a:off x="502920" y="676656"/>
            <a:ext cx="10881360" cy="750975"/>
          </a:xfrm>
          <a:prstGeom prst="rect">
            <a:avLst/>
          </a:prstGeom>
          <a:noFill/>
        </p:spPr>
        <p:txBody>
          <a:bodyPr wrap="square" lIns="36576" tIns="36576" rIns="36576" bIns="36576" anchor="t">
            <a:spAutoFit/>
          </a:bodyPr>
          <a:lstStyle/>
          <a:p>
            <a:pPr algn="l">
              <a:spcAft>
                <a:spcPts val="0"/>
              </a:spcAft>
            </a:pPr>
            <a:r>
              <a:rPr sz="4400" b="1" dirty="0">
                <a:latin typeface="Aptos Display"/>
              </a:rPr>
              <a:t>Why FRB Auto-Correlation Is Not Enough</a:t>
            </a:r>
          </a:p>
        </p:txBody>
      </p:sp>
      <p:pic>
        <p:nvPicPr>
          <p:cNvPr id="25" name="Picture 24" descr="FRB_magnetar_Cell_shallow_shotnoise.png">
            <a:extLst>
              <a:ext uri="{FF2B5EF4-FFF2-40B4-BE49-F238E27FC236}">
                <a16:creationId xmlns:a16="http://schemas.microsoft.com/office/drawing/2014/main" id="{6CA37467-72CF-AE89-B058-E564C0BEC4AD}"/>
              </a:ext>
            </a:extLst>
          </p:cNvPr>
          <p:cNvPicPr>
            <a:picLocks noChangeAspect="1"/>
          </p:cNvPicPr>
          <p:nvPr/>
        </p:nvPicPr>
        <p:blipFill>
          <a:blip r:embed="rId3"/>
          <a:stretch>
            <a:fillRect/>
          </a:stretch>
        </p:blipFill>
        <p:spPr>
          <a:xfrm>
            <a:off x="1114131" y="1527048"/>
            <a:ext cx="6275656" cy="4480560"/>
          </a:xfrm>
          <a:prstGeom prst="rect">
            <a:avLst/>
          </a:prstGeom>
        </p:spPr>
      </p:pic>
      <p:sp>
        <p:nvSpPr>
          <p:cNvPr id="26" name="Rounded Rectangle 25">
            <a:extLst>
              <a:ext uri="{FF2B5EF4-FFF2-40B4-BE49-F238E27FC236}">
                <a16:creationId xmlns:a16="http://schemas.microsoft.com/office/drawing/2014/main" id="{E17BFBBA-CAC4-9D3A-9D18-D387EEBAD4BE}"/>
              </a:ext>
            </a:extLst>
          </p:cNvPr>
          <p:cNvSpPr/>
          <p:nvPr/>
        </p:nvSpPr>
        <p:spPr>
          <a:xfrm>
            <a:off x="8183879" y="1755648"/>
            <a:ext cx="3383280" cy="3886200"/>
          </a:xfrm>
          <a:prstGeom prst="roundRect">
            <a:avLst>
              <a:gd name="adj" fmla="val 8000"/>
            </a:avLst>
          </a:prstGeom>
          <a:solidFill>
            <a:srgbClr val="1C3750"/>
          </a:solidFill>
          <a:ln>
            <a:solidFill>
              <a:srgbClr val="1C37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12F82F97-6961-E226-71A6-53E62DA53AB7}"/>
              </a:ext>
            </a:extLst>
          </p:cNvPr>
          <p:cNvSpPr txBox="1"/>
          <p:nvPr/>
        </p:nvSpPr>
        <p:spPr>
          <a:xfrm>
            <a:off x="8485632" y="2084831"/>
            <a:ext cx="2651760" cy="320040"/>
          </a:xfrm>
          <a:prstGeom prst="rect">
            <a:avLst/>
          </a:prstGeom>
          <a:noFill/>
        </p:spPr>
        <p:txBody>
          <a:bodyPr wrap="square" lIns="36576" tIns="36576" rIns="36576" bIns="36576" anchor="t">
            <a:spAutoFit/>
          </a:bodyPr>
          <a:lstStyle/>
          <a:p>
            <a:pPr algn="l">
              <a:spcAft>
                <a:spcPts val="0"/>
              </a:spcAft>
            </a:pPr>
            <a:r>
              <a:rPr sz="1300" b="1">
                <a:solidFill>
                  <a:srgbClr val="DDA33A"/>
                </a:solidFill>
                <a:latin typeface="Aptos"/>
              </a:rPr>
              <a:t>SHOT NOISE</a:t>
            </a:r>
          </a:p>
        </p:txBody>
      </p:sp>
      <p:sp>
        <p:nvSpPr>
          <p:cNvPr id="28" name="TextBox 27">
            <a:extLst>
              <a:ext uri="{FF2B5EF4-FFF2-40B4-BE49-F238E27FC236}">
                <a16:creationId xmlns:a16="http://schemas.microsoft.com/office/drawing/2014/main" id="{D8596016-E0A3-5928-5657-95838BAC40E4}"/>
              </a:ext>
            </a:extLst>
          </p:cNvPr>
          <p:cNvSpPr txBox="1"/>
          <p:nvPr/>
        </p:nvSpPr>
        <p:spPr>
          <a:xfrm>
            <a:off x="8485632" y="2670048"/>
            <a:ext cx="2651760" cy="594360"/>
          </a:xfrm>
          <a:prstGeom prst="rect">
            <a:avLst/>
          </a:prstGeom>
          <a:noFill/>
        </p:spPr>
        <p:txBody>
          <a:bodyPr wrap="square" lIns="36576" tIns="36576" rIns="36576" bIns="36576" anchor="t">
            <a:spAutoFit/>
          </a:bodyPr>
          <a:lstStyle/>
          <a:p>
            <a:pPr algn="l">
              <a:spcAft>
                <a:spcPts val="0"/>
              </a:spcAft>
            </a:pPr>
            <a:r>
              <a:rPr sz="3000" b="1">
                <a:solidFill>
                  <a:srgbClr val="FFFFFF"/>
                </a:solidFill>
                <a:latin typeface="Aptos Display"/>
              </a:rPr>
              <a:t>Nℓ = 1 / n̄</a:t>
            </a:r>
          </a:p>
        </p:txBody>
      </p:sp>
      <p:sp>
        <p:nvSpPr>
          <p:cNvPr id="29" name="TextBox 28">
            <a:extLst>
              <a:ext uri="{FF2B5EF4-FFF2-40B4-BE49-F238E27FC236}">
                <a16:creationId xmlns:a16="http://schemas.microsoft.com/office/drawing/2014/main" id="{4C580DBC-8B1C-871D-EE98-D64892C33013}"/>
              </a:ext>
            </a:extLst>
          </p:cNvPr>
          <p:cNvSpPr txBox="1"/>
          <p:nvPr/>
        </p:nvSpPr>
        <p:spPr>
          <a:xfrm>
            <a:off x="8485632" y="3611880"/>
            <a:ext cx="2651760" cy="566928"/>
          </a:xfrm>
          <a:prstGeom prst="rect">
            <a:avLst/>
          </a:prstGeom>
          <a:noFill/>
        </p:spPr>
        <p:txBody>
          <a:bodyPr wrap="square" lIns="36576" tIns="36576" rIns="36576" bIns="36576" anchor="t">
            <a:spAutoFit/>
          </a:bodyPr>
          <a:lstStyle/>
          <a:p>
            <a:pPr algn="l">
              <a:spcAft>
                <a:spcPts val="0"/>
              </a:spcAft>
            </a:pPr>
            <a:r>
              <a:rPr sz="3100" b="1">
                <a:solidFill>
                  <a:srgbClr val="DD5B4A"/>
                </a:solidFill>
                <a:latin typeface="Aptos Display"/>
              </a:rPr>
              <a:t>~10³</a:t>
            </a:r>
          </a:p>
        </p:txBody>
      </p:sp>
      <p:sp>
        <p:nvSpPr>
          <p:cNvPr id="30" name="TextBox 29">
            <a:extLst>
              <a:ext uri="{FF2B5EF4-FFF2-40B4-BE49-F238E27FC236}">
                <a16:creationId xmlns:a16="http://schemas.microsoft.com/office/drawing/2014/main" id="{03F679CD-4DAD-B654-6D35-90323B8D211E}"/>
              </a:ext>
            </a:extLst>
          </p:cNvPr>
          <p:cNvSpPr txBox="1"/>
          <p:nvPr/>
        </p:nvSpPr>
        <p:spPr>
          <a:xfrm>
            <a:off x="8485632" y="4224528"/>
            <a:ext cx="2560320" cy="731520"/>
          </a:xfrm>
          <a:prstGeom prst="rect">
            <a:avLst/>
          </a:prstGeom>
          <a:noFill/>
        </p:spPr>
        <p:txBody>
          <a:bodyPr wrap="square" lIns="36576" tIns="36576" rIns="36576" bIns="36576" anchor="t">
            <a:spAutoFit/>
          </a:bodyPr>
          <a:lstStyle/>
          <a:p>
            <a:pPr algn="l">
              <a:spcAft>
                <a:spcPts val="0"/>
              </a:spcAft>
            </a:pPr>
            <a:r>
              <a:rPr sz="1500" b="0">
                <a:solidFill>
                  <a:srgbClr val="DBE4E8"/>
                </a:solidFill>
                <a:latin typeface="Aptos"/>
              </a:rPr>
              <a:t>above the clustering signal
in the shallow survey</a:t>
            </a:r>
          </a:p>
        </p:txBody>
      </p:sp>
    </p:spTree>
    <p:extLst>
      <p:ext uri="{BB962C8B-B14F-4D97-AF65-F5344CB8AC3E}">
        <p14:creationId xmlns:p14="http://schemas.microsoft.com/office/powerpoint/2010/main" val="2505361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F709D5D-86DB-3381-9BD8-186814DDE89F}"/>
              </a:ext>
            </a:extLst>
          </p:cNvPr>
          <p:cNvSpPr>
            <a:spLocks noGrp="1"/>
          </p:cNvSpPr>
          <p:nvPr>
            <p:ph type="sldNum" sz="quarter" idx="12"/>
          </p:nvPr>
        </p:nvSpPr>
        <p:spPr/>
        <p:txBody>
          <a:bodyPr/>
          <a:lstStyle/>
          <a:p>
            <a:fld id="{D3D74EA4-B172-9A48-808A-923F6A4D31D8}" type="slidenum">
              <a:rPr lang="en-DE" smtClean="0"/>
              <a:t>8</a:t>
            </a:fld>
            <a:endParaRPr lang="en-DE"/>
          </a:p>
        </p:txBody>
      </p:sp>
      <p:sp>
        <p:nvSpPr>
          <p:cNvPr id="9" name="TextBox 8">
            <a:extLst>
              <a:ext uri="{FF2B5EF4-FFF2-40B4-BE49-F238E27FC236}">
                <a16:creationId xmlns:a16="http://schemas.microsoft.com/office/drawing/2014/main" id="{D0B585E0-EA20-F822-AAAC-BD6A6F49F356}"/>
              </a:ext>
            </a:extLst>
          </p:cNvPr>
          <p:cNvSpPr txBox="1"/>
          <p:nvPr/>
        </p:nvSpPr>
        <p:spPr>
          <a:xfrm>
            <a:off x="502920" y="676656"/>
            <a:ext cx="10881360" cy="750975"/>
          </a:xfrm>
          <a:prstGeom prst="rect">
            <a:avLst/>
          </a:prstGeom>
          <a:noFill/>
        </p:spPr>
        <p:txBody>
          <a:bodyPr wrap="square" lIns="36576" tIns="36576" rIns="36576" bIns="36576" anchor="t">
            <a:spAutoFit/>
          </a:bodyPr>
          <a:lstStyle/>
          <a:p>
            <a:pPr algn="l">
              <a:spcAft>
                <a:spcPts val="0"/>
              </a:spcAft>
            </a:pPr>
            <a:r>
              <a:rPr sz="4400" b="1">
                <a:latin typeface="Aptos Display"/>
              </a:rPr>
              <a:t>Tomographic Cross-Signal</a:t>
            </a:r>
          </a:p>
        </p:txBody>
      </p:sp>
      <p:pic>
        <p:nvPicPr>
          <p:cNvPr id="11" name="Picture 10" descr="survey_magnetar_all_bins.png">
            <a:extLst>
              <a:ext uri="{FF2B5EF4-FFF2-40B4-BE49-F238E27FC236}">
                <a16:creationId xmlns:a16="http://schemas.microsoft.com/office/drawing/2014/main" id="{73E1AA69-9303-5135-558B-2BC4D9A7B929}"/>
              </a:ext>
            </a:extLst>
          </p:cNvPr>
          <p:cNvPicPr>
            <a:picLocks noChangeAspect="1"/>
          </p:cNvPicPr>
          <p:nvPr/>
        </p:nvPicPr>
        <p:blipFill>
          <a:blip r:embed="rId3"/>
          <a:stretch>
            <a:fillRect/>
          </a:stretch>
        </p:blipFill>
        <p:spPr>
          <a:xfrm>
            <a:off x="973726" y="1444752"/>
            <a:ext cx="7333707" cy="4892040"/>
          </a:xfrm>
          <a:prstGeom prst="rect">
            <a:avLst/>
          </a:prstGeom>
        </p:spPr>
      </p:pic>
      <p:sp>
        <p:nvSpPr>
          <p:cNvPr id="12" name="Rounded Rectangle 11">
            <a:extLst>
              <a:ext uri="{FF2B5EF4-FFF2-40B4-BE49-F238E27FC236}">
                <a16:creationId xmlns:a16="http://schemas.microsoft.com/office/drawing/2014/main" id="{F6374BB0-6870-5DF8-D208-BE4E276022C7}"/>
              </a:ext>
            </a:extLst>
          </p:cNvPr>
          <p:cNvSpPr/>
          <p:nvPr/>
        </p:nvSpPr>
        <p:spPr>
          <a:xfrm>
            <a:off x="8942832" y="1691640"/>
            <a:ext cx="2606040" cy="4370832"/>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81AA7831-2848-34FA-8FB9-FB6862D7949E}"/>
              </a:ext>
            </a:extLst>
          </p:cNvPr>
          <p:cNvSpPr txBox="1"/>
          <p:nvPr/>
        </p:nvSpPr>
        <p:spPr>
          <a:xfrm>
            <a:off x="9253728" y="1965960"/>
            <a:ext cx="1920240" cy="502920"/>
          </a:xfrm>
          <a:prstGeom prst="rect">
            <a:avLst/>
          </a:prstGeom>
          <a:noFill/>
        </p:spPr>
        <p:txBody>
          <a:bodyPr wrap="square" lIns="36576" tIns="36576" rIns="36576" bIns="36576" anchor="t">
            <a:spAutoFit/>
          </a:bodyPr>
          <a:lstStyle/>
          <a:p>
            <a:pPr algn="l">
              <a:spcAft>
                <a:spcPts val="0"/>
              </a:spcAft>
            </a:pPr>
            <a:r>
              <a:rPr sz="3000" b="1">
                <a:solidFill>
                  <a:srgbClr val="188985"/>
                </a:solidFill>
                <a:latin typeface="Aptos Display"/>
              </a:rPr>
              <a:t>24</a:t>
            </a:r>
          </a:p>
        </p:txBody>
      </p:sp>
      <p:sp>
        <p:nvSpPr>
          <p:cNvPr id="14" name="TextBox 13">
            <a:extLst>
              <a:ext uri="{FF2B5EF4-FFF2-40B4-BE49-F238E27FC236}">
                <a16:creationId xmlns:a16="http://schemas.microsoft.com/office/drawing/2014/main" id="{AAC5297C-1F90-DB43-E71D-4100A644F39A}"/>
              </a:ext>
            </a:extLst>
          </p:cNvPr>
          <p:cNvSpPr txBox="1"/>
          <p:nvPr/>
        </p:nvSpPr>
        <p:spPr>
          <a:xfrm>
            <a:off x="9253728" y="2523744"/>
            <a:ext cx="1920240" cy="256032"/>
          </a:xfrm>
          <a:prstGeom prst="rect">
            <a:avLst/>
          </a:prstGeom>
          <a:noFill/>
        </p:spPr>
        <p:txBody>
          <a:bodyPr wrap="square" lIns="36576" tIns="36576" rIns="36576" bIns="36576" anchor="t">
            <a:spAutoFit/>
          </a:bodyPr>
          <a:lstStyle/>
          <a:p>
            <a:pPr algn="l">
              <a:spcAft>
                <a:spcPts val="0"/>
              </a:spcAft>
            </a:pPr>
            <a:r>
              <a:rPr sz="1100" b="1">
                <a:solidFill>
                  <a:srgbClr val="5B6771"/>
                </a:solidFill>
                <a:latin typeface="Aptos"/>
              </a:rPr>
              <a:t>CROSS-SPECTRA</a:t>
            </a:r>
          </a:p>
        </p:txBody>
      </p:sp>
      <p:sp>
        <p:nvSpPr>
          <p:cNvPr id="15" name="Rectangle 14">
            <a:extLst>
              <a:ext uri="{FF2B5EF4-FFF2-40B4-BE49-F238E27FC236}">
                <a16:creationId xmlns:a16="http://schemas.microsoft.com/office/drawing/2014/main" id="{AF5CD867-BF80-BD2E-B30A-066CA16DC78E}"/>
              </a:ext>
            </a:extLst>
          </p:cNvPr>
          <p:cNvSpPr/>
          <p:nvPr/>
        </p:nvSpPr>
        <p:spPr>
          <a:xfrm>
            <a:off x="9253728" y="3063240"/>
            <a:ext cx="1645920" cy="3657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D956DFA8-E32D-A45C-E215-D8DDA09A7216}"/>
              </a:ext>
            </a:extLst>
          </p:cNvPr>
          <p:cNvSpPr txBox="1"/>
          <p:nvPr/>
        </p:nvSpPr>
        <p:spPr>
          <a:xfrm>
            <a:off x="9253728" y="3364992"/>
            <a:ext cx="914400" cy="228600"/>
          </a:xfrm>
          <a:prstGeom prst="rect">
            <a:avLst/>
          </a:prstGeom>
          <a:noFill/>
        </p:spPr>
        <p:txBody>
          <a:bodyPr wrap="square" lIns="36576" tIns="36576" rIns="36576" bIns="36576" anchor="t">
            <a:spAutoFit/>
          </a:bodyPr>
          <a:lstStyle/>
          <a:p>
            <a:pPr algn="l">
              <a:spcAft>
                <a:spcPts val="0"/>
              </a:spcAft>
            </a:pPr>
            <a:r>
              <a:rPr sz="1100" b="1">
                <a:solidFill>
                  <a:srgbClr val="DD5B4A"/>
                </a:solidFill>
                <a:latin typeface="Aptos"/>
              </a:rPr>
              <a:t>LOW z</a:t>
            </a:r>
          </a:p>
        </p:txBody>
      </p:sp>
      <p:sp>
        <p:nvSpPr>
          <p:cNvPr id="17" name="TextBox 16">
            <a:extLst>
              <a:ext uri="{FF2B5EF4-FFF2-40B4-BE49-F238E27FC236}">
                <a16:creationId xmlns:a16="http://schemas.microsoft.com/office/drawing/2014/main" id="{860331BD-3FD2-E680-60B1-0DCE33D37791}"/>
              </a:ext>
            </a:extLst>
          </p:cNvPr>
          <p:cNvSpPr txBox="1"/>
          <p:nvPr/>
        </p:nvSpPr>
        <p:spPr>
          <a:xfrm>
            <a:off x="9253728" y="3675887"/>
            <a:ext cx="1783080" cy="566928"/>
          </a:xfrm>
          <a:prstGeom prst="rect">
            <a:avLst/>
          </a:prstGeom>
          <a:noFill/>
        </p:spPr>
        <p:txBody>
          <a:bodyPr wrap="square" lIns="36576" tIns="36576" rIns="36576" bIns="36576" anchor="t">
            <a:spAutoFit/>
          </a:bodyPr>
          <a:lstStyle/>
          <a:p>
            <a:pPr algn="l">
              <a:spcAft>
                <a:spcPts val="0"/>
              </a:spcAft>
            </a:pPr>
            <a:r>
              <a:rPr sz="1500" b="0">
                <a:solidFill>
                  <a:srgbClr val="182331"/>
                </a:solidFill>
                <a:latin typeface="Aptos"/>
              </a:rPr>
              <a:t>Shallow survey
has more signal</a:t>
            </a:r>
          </a:p>
        </p:txBody>
      </p:sp>
      <p:sp>
        <p:nvSpPr>
          <p:cNvPr id="18" name="TextBox 17">
            <a:extLst>
              <a:ext uri="{FF2B5EF4-FFF2-40B4-BE49-F238E27FC236}">
                <a16:creationId xmlns:a16="http://schemas.microsoft.com/office/drawing/2014/main" id="{6992626B-C2F8-84C7-FFE1-FC645F13AB76}"/>
              </a:ext>
            </a:extLst>
          </p:cNvPr>
          <p:cNvSpPr txBox="1"/>
          <p:nvPr/>
        </p:nvSpPr>
        <p:spPr>
          <a:xfrm>
            <a:off x="9253728" y="4498848"/>
            <a:ext cx="914400" cy="228600"/>
          </a:xfrm>
          <a:prstGeom prst="rect">
            <a:avLst/>
          </a:prstGeom>
          <a:noFill/>
        </p:spPr>
        <p:txBody>
          <a:bodyPr wrap="square" lIns="36576" tIns="36576" rIns="36576" bIns="36576" anchor="t">
            <a:spAutoFit/>
          </a:bodyPr>
          <a:lstStyle/>
          <a:p>
            <a:pPr algn="l">
              <a:spcAft>
                <a:spcPts val="0"/>
              </a:spcAft>
            </a:pPr>
            <a:r>
              <a:rPr sz="1100" b="1">
                <a:solidFill>
                  <a:srgbClr val="188985"/>
                </a:solidFill>
                <a:latin typeface="Aptos"/>
              </a:rPr>
              <a:t>HIGH z</a:t>
            </a:r>
          </a:p>
        </p:txBody>
      </p:sp>
      <p:sp>
        <p:nvSpPr>
          <p:cNvPr id="19" name="TextBox 18">
            <a:extLst>
              <a:ext uri="{FF2B5EF4-FFF2-40B4-BE49-F238E27FC236}">
                <a16:creationId xmlns:a16="http://schemas.microsoft.com/office/drawing/2014/main" id="{09E20AC4-1FF7-9464-C6CB-B8A914831E2D}"/>
              </a:ext>
            </a:extLst>
          </p:cNvPr>
          <p:cNvSpPr txBox="1"/>
          <p:nvPr/>
        </p:nvSpPr>
        <p:spPr>
          <a:xfrm>
            <a:off x="9253728" y="4809744"/>
            <a:ext cx="1783080" cy="566928"/>
          </a:xfrm>
          <a:prstGeom prst="rect">
            <a:avLst/>
          </a:prstGeom>
          <a:noFill/>
        </p:spPr>
        <p:txBody>
          <a:bodyPr wrap="square" lIns="36576" tIns="36576" rIns="36576" bIns="36576" anchor="t">
            <a:spAutoFit/>
          </a:bodyPr>
          <a:lstStyle/>
          <a:p>
            <a:pPr algn="l">
              <a:spcAft>
                <a:spcPts val="0"/>
              </a:spcAft>
            </a:pPr>
            <a:r>
              <a:rPr sz="1500" b="0">
                <a:solidFill>
                  <a:srgbClr val="182331"/>
                </a:solidFill>
                <a:latin typeface="Aptos"/>
              </a:rPr>
              <a:t>Deep survey
retains information</a:t>
            </a:r>
          </a:p>
        </p:txBody>
      </p:sp>
    </p:spTree>
    <p:extLst>
      <p:ext uri="{BB962C8B-B14F-4D97-AF65-F5344CB8AC3E}">
        <p14:creationId xmlns:p14="http://schemas.microsoft.com/office/powerpoint/2010/main" val="3032097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F8CDD4-E0E8-E1B3-68A0-EFCC5CFC2647}"/>
              </a:ext>
            </a:extLst>
          </p:cNvPr>
          <p:cNvSpPr>
            <a:spLocks noGrp="1"/>
          </p:cNvSpPr>
          <p:nvPr>
            <p:ph type="sldNum" sz="quarter" idx="12"/>
          </p:nvPr>
        </p:nvSpPr>
        <p:spPr/>
        <p:txBody>
          <a:bodyPr/>
          <a:lstStyle/>
          <a:p>
            <a:fld id="{D3D74EA4-B172-9A48-808A-923F6A4D31D8}" type="slidenum">
              <a:rPr lang="en-DE" smtClean="0"/>
              <a:t>9</a:t>
            </a:fld>
            <a:endParaRPr lang="en-DE"/>
          </a:p>
        </p:txBody>
      </p:sp>
      <p:sp>
        <p:nvSpPr>
          <p:cNvPr id="11" name="TextBox 10">
            <a:extLst>
              <a:ext uri="{FF2B5EF4-FFF2-40B4-BE49-F238E27FC236}">
                <a16:creationId xmlns:a16="http://schemas.microsoft.com/office/drawing/2014/main" id="{18E263C1-D3C0-49EE-4485-CEF3524028DD}"/>
              </a:ext>
            </a:extLst>
          </p:cNvPr>
          <p:cNvSpPr txBox="1"/>
          <p:nvPr/>
        </p:nvSpPr>
        <p:spPr>
          <a:xfrm>
            <a:off x="502920" y="676656"/>
            <a:ext cx="10881360" cy="750975"/>
          </a:xfrm>
          <a:prstGeom prst="rect">
            <a:avLst/>
          </a:prstGeom>
          <a:noFill/>
        </p:spPr>
        <p:txBody>
          <a:bodyPr wrap="square" lIns="36576" tIns="36576" rIns="36576" bIns="36576" anchor="t">
            <a:spAutoFit/>
          </a:bodyPr>
          <a:lstStyle/>
          <a:p>
            <a:pPr algn="l">
              <a:spcAft>
                <a:spcPts val="0"/>
              </a:spcAft>
            </a:pPr>
            <a:r>
              <a:rPr sz="4400" b="1" dirty="0">
                <a:latin typeface="Aptos Display"/>
              </a:rPr>
              <a:t>Cross-Correlation Enables the Measurement</a:t>
            </a:r>
          </a:p>
        </p:txBody>
      </p:sp>
      <p:sp>
        <p:nvSpPr>
          <p:cNvPr id="14" name="Rounded Rectangle 13">
            <a:extLst>
              <a:ext uri="{FF2B5EF4-FFF2-40B4-BE49-F238E27FC236}">
                <a16:creationId xmlns:a16="http://schemas.microsoft.com/office/drawing/2014/main" id="{62BAC528-5D70-72B7-BE5D-8B01986A390A}"/>
              </a:ext>
            </a:extLst>
          </p:cNvPr>
          <p:cNvSpPr/>
          <p:nvPr/>
        </p:nvSpPr>
        <p:spPr>
          <a:xfrm>
            <a:off x="8156448" y="1664208"/>
            <a:ext cx="288036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35BBD5FD-728F-B613-A8A0-50D777A4626E}"/>
              </a:ext>
            </a:extLst>
          </p:cNvPr>
          <p:cNvSpPr txBox="1"/>
          <p:nvPr/>
        </p:nvSpPr>
        <p:spPr>
          <a:xfrm>
            <a:off x="8321040" y="1792224"/>
            <a:ext cx="2551176" cy="384048"/>
          </a:xfrm>
          <a:prstGeom prst="rect">
            <a:avLst/>
          </a:prstGeom>
          <a:noFill/>
        </p:spPr>
        <p:txBody>
          <a:bodyPr wrap="square" lIns="36576" tIns="36576" rIns="36576" bIns="36576" anchor="t">
            <a:spAutoFit/>
          </a:bodyPr>
          <a:lstStyle/>
          <a:p>
            <a:pPr algn="l">
              <a:spcAft>
                <a:spcPts val="0"/>
              </a:spcAft>
            </a:pPr>
            <a:r>
              <a:rPr sz="2400" b="1">
                <a:solidFill>
                  <a:srgbClr val="DD5B4A"/>
                </a:solidFill>
                <a:latin typeface="Aptos Display"/>
              </a:rPr>
              <a:t>17-51×</a:t>
            </a:r>
          </a:p>
        </p:txBody>
      </p:sp>
      <p:sp>
        <p:nvSpPr>
          <p:cNvPr id="16" name="TextBox 15">
            <a:extLst>
              <a:ext uri="{FF2B5EF4-FFF2-40B4-BE49-F238E27FC236}">
                <a16:creationId xmlns:a16="http://schemas.microsoft.com/office/drawing/2014/main" id="{9B451DCF-2D15-1B39-D497-7F764AD71C61}"/>
              </a:ext>
            </a:extLst>
          </p:cNvPr>
          <p:cNvSpPr txBox="1"/>
          <p:nvPr/>
        </p:nvSpPr>
        <p:spPr>
          <a:xfrm>
            <a:off x="8321040" y="2231136"/>
            <a:ext cx="2551176" cy="227755"/>
          </a:xfrm>
          <a:prstGeom prst="rect">
            <a:avLst/>
          </a:prstGeom>
          <a:noFill/>
        </p:spPr>
        <p:txBody>
          <a:bodyPr wrap="square" lIns="36576" tIns="36576" rIns="36576" bIns="36576" anchor="t">
            <a:spAutoFit/>
          </a:bodyPr>
          <a:lstStyle/>
          <a:p>
            <a:pPr algn="l">
              <a:spcAft>
                <a:spcPts val="0"/>
              </a:spcAft>
            </a:pPr>
            <a:r>
              <a:rPr sz="1000" b="1" dirty="0">
                <a:solidFill>
                  <a:srgbClr val="5B6771"/>
                </a:solidFill>
                <a:latin typeface="Aptos"/>
              </a:rPr>
              <a:t>SMALLER </a:t>
            </a:r>
            <a:r>
              <a:rPr lang="nl-NL" sz="1000" b="1" dirty="0">
                <a:solidFill>
                  <a:srgbClr val="5B6771"/>
                </a:solidFill>
                <a:latin typeface="Aptos"/>
              </a:rPr>
              <a:t>1 Sigma</a:t>
            </a:r>
            <a:r>
              <a:rPr sz="1000" b="1" dirty="0">
                <a:solidFill>
                  <a:srgbClr val="5B6771"/>
                </a:solidFill>
                <a:latin typeface="Aptos"/>
              </a:rPr>
              <a:t> ERRORS</a:t>
            </a:r>
          </a:p>
        </p:txBody>
      </p:sp>
      <p:sp>
        <p:nvSpPr>
          <p:cNvPr id="17" name="Rounded Rectangle 16">
            <a:extLst>
              <a:ext uri="{FF2B5EF4-FFF2-40B4-BE49-F238E27FC236}">
                <a16:creationId xmlns:a16="http://schemas.microsoft.com/office/drawing/2014/main" id="{B17FCBE5-3016-4668-3DDF-9F2E67B3069D}"/>
              </a:ext>
            </a:extLst>
          </p:cNvPr>
          <p:cNvSpPr/>
          <p:nvPr/>
        </p:nvSpPr>
        <p:spPr>
          <a:xfrm>
            <a:off x="8156448" y="2865040"/>
            <a:ext cx="2880360" cy="96012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endParaRPr lang="en-GB" b="1" dirty="0">
              <a:solidFill>
                <a:srgbClr val="188985"/>
              </a:solidFill>
              <a:latin typeface="Aptos Display"/>
            </a:endParaRPr>
          </a:p>
        </p:txBody>
      </p:sp>
      <p:sp>
        <p:nvSpPr>
          <p:cNvPr id="18" name="TextBox 17">
            <a:extLst>
              <a:ext uri="{FF2B5EF4-FFF2-40B4-BE49-F238E27FC236}">
                <a16:creationId xmlns:a16="http://schemas.microsoft.com/office/drawing/2014/main" id="{1C31CC1C-0BB1-7538-A53D-EE40EDA73128}"/>
              </a:ext>
            </a:extLst>
          </p:cNvPr>
          <p:cNvSpPr txBox="1"/>
          <p:nvPr/>
        </p:nvSpPr>
        <p:spPr>
          <a:xfrm>
            <a:off x="8321040" y="2871216"/>
            <a:ext cx="2551176" cy="384048"/>
          </a:xfrm>
          <a:prstGeom prst="rect">
            <a:avLst/>
          </a:prstGeom>
          <a:noFill/>
        </p:spPr>
        <p:txBody>
          <a:bodyPr wrap="square" lIns="36576" tIns="36576" rIns="36576" bIns="36576" anchor="t">
            <a:spAutoFit/>
          </a:bodyPr>
          <a:lstStyle/>
          <a:p>
            <a:pPr algn="l">
              <a:spcAft>
                <a:spcPts val="0"/>
              </a:spcAft>
            </a:pPr>
            <a:r>
              <a:rPr sz="2400" b="1">
                <a:solidFill>
                  <a:srgbClr val="188985"/>
                </a:solidFill>
                <a:latin typeface="Aptos Display"/>
              </a:rPr>
              <a:t>61-449×</a:t>
            </a:r>
          </a:p>
        </p:txBody>
      </p:sp>
      <p:sp>
        <p:nvSpPr>
          <p:cNvPr id="19" name="TextBox 18">
            <a:extLst>
              <a:ext uri="{FF2B5EF4-FFF2-40B4-BE49-F238E27FC236}">
                <a16:creationId xmlns:a16="http://schemas.microsoft.com/office/drawing/2014/main" id="{FDB5AF31-EEA6-DEA8-1099-0D2CFBC2FF80}"/>
              </a:ext>
            </a:extLst>
          </p:cNvPr>
          <p:cNvSpPr txBox="1"/>
          <p:nvPr/>
        </p:nvSpPr>
        <p:spPr>
          <a:xfrm>
            <a:off x="8321040" y="3383280"/>
            <a:ext cx="2551176" cy="227755"/>
          </a:xfrm>
          <a:prstGeom prst="rect">
            <a:avLst/>
          </a:prstGeom>
          <a:noFill/>
        </p:spPr>
        <p:txBody>
          <a:bodyPr wrap="square" lIns="36576" tIns="36576" rIns="36576" bIns="36576" anchor="t">
            <a:spAutoFit/>
          </a:bodyPr>
          <a:lstStyle/>
          <a:p>
            <a:pPr algn="l">
              <a:spcAft>
                <a:spcPts val="0"/>
              </a:spcAft>
            </a:pPr>
            <a:r>
              <a:rPr sz="1000" b="1" dirty="0">
                <a:solidFill>
                  <a:srgbClr val="5B6771"/>
                </a:solidFill>
                <a:latin typeface="Aptos"/>
              </a:rPr>
              <a:t>LARGER FIGURE OF MERIT</a:t>
            </a:r>
            <a:r>
              <a:rPr lang="nl-NL" sz="1000" b="1" dirty="0">
                <a:solidFill>
                  <a:srgbClr val="5B6771"/>
                </a:solidFill>
                <a:latin typeface="Aptos"/>
              </a:rPr>
              <a:t> (1/</a:t>
            </a:r>
            <a:r>
              <a:rPr lang="nl-NL" sz="1000" b="1" dirty="0" err="1">
                <a:solidFill>
                  <a:srgbClr val="5B6771"/>
                </a:solidFill>
                <a:latin typeface="Aptos"/>
              </a:rPr>
              <a:t>det</a:t>
            </a:r>
            <a:r>
              <a:rPr lang="nl-NL" sz="1000" b="1" dirty="0">
                <a:solidFill>
                  <a:srgbClr val="5B6771"/>
                </a:solidFill>
                <a:latin typeface="Aptos"/>
              </a:rPr>
              <a:t>{</a:t>
            </a:r>
            <a:r>
              <a:rPr lang="nl-NL" sz="1000" b="1" dirty="0" err="1">
                <a:solidFill>
                  <a:srgbClr val="5B6771"/>
                </a:solidFill>
                <a:latin typeface="Aptos"/>
              </a:rPr>
              <a:t>cov</a:t>
            </a:r>
            <a:r>
              <a:rPr lang="nl-NL" sz="1000" b="1" dirty="0">
                <a:solidFill>
                  <a:srgbClr val="5B6771"/>
                </a:solidFill>
                <a:latin typeface="Aptos"/>
              </a:rPr>
              <a:t>})</a:t>
            </a:r>
            <a:endParaRPr sz="1000" b="1" dirty="0">
              <a:solidFill>
                <a:srgbClr val="5B6771"/>
              </a:solidFill>
              <a:latin typeface="Aptos"/>
            </a:endParaRPr>
          </a:p>
        </p:txBody>
      </p:sp>
      <p:sp>
        <p:nvSpPr>
          <p:cNvPr id="20" name="Rounded Rectangle 19">
            <a:extLst>
              <a:ext uri="{FF2B5EF4-FFF2-40B4-BE49-F238E27FC236}">
                <a16:creationId xmlns:a16="http://schemas.microsoft.com/office/drawing/2014/main" id="{C2B4AB02-D563-84EA-F2FA-AF5497B76069}"/>
              </a:ext>
            </a:extLst>
          </p:cNvPr>
          <p:cNvSpPr/>
          <p:nvPr/>
        </p:nvSpPr>
        <p:spPr>
          <a:xfrm>
            <a:off x="8156448" y="4087368"/>
            <a:ext cx="2880360" cy="1645920"/>
          </a:xfrm>
          <a:prstGeom prst="roundRect">
            <a:avLst>
              <a:gd name="adj" fmla="val 8000"/>
            </a:avLst>
          </a:prstGeom>
          <a:solidFill>
            <a:srgbClr val="1C3750"/>
          </a:solidFill>
          <a:ln>
            <a:solidFill>
              <a:srgbClr val="1C37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F01A6443-C023-BB51-9633-D1150C460E03}"/>
              </a:ext>
            </a:extLst>
          </p:cNvPr>
          <p:cNvSpPr txBox="1"/>
          <p:nvPr/>
        </p:nvSpPr>
        <p:spPr>
          <a:xfrm>
            <a:off x="8394192" y="4334256"/>
            <a:ext cx="2377440" cy="237744"/>
          </a:xfrm>
          <a:prstGeom prst="rect">
            <a:avLst/>
          </a:prstGeom>
          <a:noFill/>
        </p:spPr>
        <p:txBody>
          <a:bodyPr wrap="square" lIns="36576" tIns="36576" rIns="36576" bIns="36576" anchor="t">
            <a:spAutoFit/>
          </a:bodyPr>
          <a:lstStyle/>
          <a:p>
            <a:pPr algn="l">
              <a:spcAft>
                <a:spcPts val="0"/>
              </a:spcAft>
            </a:pPr>
            <a:r>
              <a:rPr sz="1100" b="1">
                <a:solidFill>
                  <a:srgbClr val="DDA33A"/>
                </a:solidFill>
                <a:latin typeface="Aptos"/>
              </a:rPr>
              <a:t>KiDS result</a:t>
            </a:r>
          </a:p>
        </p:txBody>
      </p:sp>
      <p:sp>
        <p:nvSpPr>
          <p:cNvPr id="22" name="TextBox 21">
            <a:extLst>
              <a:ext uri="{FF2B5EF4-FFF2-40B4-BE49-F238E27FC236}">
                <a16:creationId xmlns:a16="http://schemas.microsoft.com/office/drawing/2014/main" id="{4D0B1D77-911D-5464-ABCE-61E816142375}"/>
              </a:ext>
            </a:extLst>
          </p:cNvPr>
          <p:cNvSpPr txBox="1"/>
          <p:nvPr/>
        </p:nvSpPr>
        <p:spPr>
          <a:xfrm>
            <a:off x="8234172" y="4611784"/>
            <a:ext cx="3081528" cy="597087"/>
          </a:xfrm>
          <a:prstGeom prst="rect">
            <a:avLst/>
          </a:prstGeom>
          <a:noFill/>
        </p:spPr>
        <p:txBody>
          <a:bodyPr wrap="square" lIns="36576" tIns="36576" rIns="36576" bIns="36576" anchor="t">
            <a:spAutoFit/>
          </a:bodyPr>
          <a:lstStyle/>
          <a:p>
            <a:pPr algn="l">
              <a:spcAft>
                <a:spcPts val="0"/>
              </a:spcAft>
            </a:pPr>
            <a:r>
              <a:rPr sz="1700" b="1" dirty="0">
                <a:solidFill>
                  <a:srgbClr val="FFFFFF"/>
                </a:solidFill>
                <a:latin typeface="Aptos"/>
              </a:rPr>
              <a:t>Bias becomes measurable,
but the models still overlap.</a:t>
            </a:r>
          </a:p>
        </p:txBody>
      </p:sp>
      <p:sp>
        <p:nvSpPr>
          <p:cNvPr id="23" name="TextBox 22">
            <a:extLst>
              <a:ext uri="{FF2B5EF4-FFF2-40B4-BE49-F238E27FC236}">
                <a16:creationId xmlns:a16="http://schemas.microsoft.com/office/drawing/2014/main" id="{82FFEE8E-351F-302A-3CAF-19F102649FE0}"/>
              </a:ext>
            </a:extLst>
          </p:cNvPr>
          <p:cNvSpPr txBox="1"/>
          <p:nvPr/>
        </p:nvSpPr>
        <p:spPr>
          <a:xfrm>
            <a:off x="8430768" y="5320444"/>
            <a:ext cx="2331720" cy="243143"/>
          </a:xfrm>
          <a:prstGeom prst="rect">
            <a:avLst/>
          </a:prstGeom>
          <a:noFill/>
        </p:spPr>
        <p:txBody>
          <a:bodyPr wrap="square" lIns="36576" tIns="36576" rIns="36576" bIns="36576" anchor="t">
            <a:spAutoFit/>
          </a:bodyPr>
          <a:lstStyle/>
          <a:p>
            <a:pPr algn="l">
              <a:spcAft>
                <a:spcPts val="0"/>
              </a:spcAft>
            </a:pPr>
            <a:r>
              <a:rPr sz="1100" b="0" dirty="0">
                <a:solidFill>
                  <a:srgbClr val="C4D3DA"/>
                </a:solidFill>
                <a:latin typeface="Aptos"/>
              </a:rPr>
              <a:t>Only 3.3% sky overlap</a:t>
            </a:r>
          </a:p>
        </p:txBody>
      </p:sp>
      <p:pic>
        <p:nvPicPr>
          <p:cNvPr id="3" name="Picture 2">
            <a:extLst>
              <a:ext uri="{FF2B5EF4-FFF2-40B4-BE49-F238E27FC236}">
                <a16:creationId xmlns:a16="http://schemas.microsoft.com/office/drawing/2014/main" id="{C1A01015-9570-616C-C767-947ADB0A51AE}"/>
              </a:ext>
            </a:extLst>
          </p:cNvPr>
          <p:cNvPicPr>
            <a:picLocks noChangeAspect="1"/>
          </p:cNvPicPr>
          <p:nvPr/>
        </p:nvPicPr>
        <p:blipFill>
          <a:blip r:embed="rId3"/>
          <a:stretch>
            <a:fillRect/>
          </a:stretch>
        </p:blipFill>
        <p:spPr>
          <a:xfrm>
            <a:off x="1045029" y="1449534"/>
            <a:ext cx="5919107" cy="4932590"/>
          </a:xfrm>
          <a:prstGeom prst="rect">
            <a:avLst/>
          </a:prstGeom>
        </p:spPr>
      </p:pic>
    </p:spTree>
    <p:extLst>
      <p:ext uri="{BB962C8B-B14F-4D97-AF65-F5344CB8AC3E}">
        <p14:creationId xmlns:p14="http://schemas.microsoft.com/office/powerpoint/2010/main" val="1651782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0C56DF0-A3B7-DBDE-36A3-9CF51387443A}"/>
              </a:ext>
            </a:extLst>
          </p:cNvPr>
          <p:cNvSpPr>
            <a:spLocks noGrp="1"/>
          </p:cNvSpPr>
          <p:nvPr>
            <p:ph type="sldNum" sz="quarter" idx="12"/>
          </p:nvPr>
        </p:nvSpPr>
        <p:spPr/>
        <p:txBody>
          <a:bodyPr/>
          <a:lstStyle/>
          <a:p>
            <a:fld id="{D3D74EA4-B172-9A48-808A-923F6A4D31D8}" type="slidenum">
              <a:rPr lang="en-DE" smtClean="0"/>
              <a:t>10</a:t>
            </a:fld>
            <a:endParaRPr lang="en-DE"/>
          </a:p>
        </p:txBody>
      </p:sp>
      <p:sp>
        <p:nvSpPr>
          <p:cNvPr id="6" name="TextBox 5">
            <a:extLst>
              <a:ext uri="{FF2B5EF4-FFF2-40B4-BE49-F238E27FC236}">
                <a16:creationId xmlns:a16="http://schemas.microsoft.com/office/drawing/2014/main" id="{1866AF25-CB5E-4CFE-6C8C-364BCF1A4F62}"/>
              </a:ext>
            </a:extLst>
          </p:cNvPr>
          <p:cNvSpPr txBox="1"/>
          <p:nvPr/>
        </p:nvSpPr>
        <p:spPr>
          <a:xfrm>
            <a:off x="502920" y="676656"/>
            <a:ext cx="10881360" cy="750975"/>
          </a:xfrm>
          <a:prstGeom prst="rect">
            <a:avLst/>
          </a:prstGeom>
          <a:noFill/>
        </p:spPr>
        <p:txBody>
          <a:bodyPr wrap="square" lIns="36576" tIns="36576" rIns="36576" bIns="36576" anchor="t">
            <a:spAutoFit/>
          </a:bodyPr>
          <a:lstStyle/>
          <a:p>
            <a:pPr algn="l">
              <a:spcAft>
                <a:spcPts val="0"/>
              </a:spcAft>
            </a:pPr>
            <a:r>
              <a:rPr sz="4400" b="1" dirty="0">
                <a:latin typeface="Aptos Display"/>
              </a:rPr>
              <a:t>From </a:t>
            </a:r>
            <a:r>
              <a:rPr sz="4400" b="1" dirty="0" err="1">
                <a:latin typeface="Aptos Display"/>
              </a:rPr>
              <a:t>KiDS</a:t>
            </a:r>
            <a:r>
              <a:rPr sz="4400" b="1" dirty="0">
                <a:latin typeface="Aptos Display"/>
              </a:rPr>
              <a:t> to LSST</a:t>
            </a:r>
          </a:p>
        </p:txBody>
      </p:sp>
      <p:sp>
        <p:nvSpPr>
          <p:cNvPr id="9" name="Rounded Rectangle 8">
            <a:extLst>
              <a:ext uri="{FF2B5EF4-FFF2-40B4-BE49-F238E27FC236}">
                <a16:creationId xmlns:a16="http://schemas.microsoft.com/office/drawing/2014/main" id="{2D87BFD9-2651-B57C-2138-07541E89D091}"/>
              </a:ext>
            </a:extLst>
          </p:cNvPr>
          <p:cNvSpPr/>
          <p:nvPr/>
        </p:nvSpPr>
        <p:spPr>
          <a:xfrm>
            <a:off x="8092440" y="1664208"/>
            <a:ext cx="3337560" cy="4434840"/>
          </a:xfrm>
          <a:prstGeom prst="roundRect">
            <a:avLst>
              <a:gd name="adj" fmla="val 8000"/>
            </a:avLst>
          </a:prstGeom>
          <a:solidFill>
            <a:srgbClr val="FFFFFF"/>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3A74D675-7303-571B-2043-43DA51EFAB8F}"/>
              </a:ext>
            </a:extLst>
          </p:cNvPr>
          <p:cNvSpPr txBox="1"/>
          <p:nvPr/>
        </p:nvSpPr>
        <p:spPr>
          <a:xfrm>
            <a:off x="8394192" y="1938528"/>
            <a:ext cx="2560320" cy="256032"/>
          </a:xfrm>
          <a:prstGeom prst="rect">
            <a:avLst/>
          </a:prstGeom>
          <a:noFill/>
        </p:spPr>
        <p:txBody>
          <a:bodyPr wrap="square" lIns="36576" tIns="36576" rIns="36576" bIns="36576" anchor="t">
            <a:spAutoFit/>
          </a:bodyPr>
          <a:lstStyle/>
          <a:p>
            <a:pPr algn="l">
              <a:spcAft>
                <a:spcPts val="0"/>
              </a:spcAft>
            </a:pPr>
            <a:r>
              <a:rPr sz="1100" b="1">
                <a:solidFill>
                  <a:srgbClr val="5B6771"/>
                </a:solidFill>
                <a:latin typeface="Aptos"/>
              </a:rPr>
              <a:t>SURVEY SCALE</a:t>
            </a:r>
          </a:p>
        </p:txBody>
      </p:sp>
      <p:sp>
        <p:nvSpPr>
          <p:cNvPr id="11" name="TextBox 10">
            <a:extLst>
              <a:ext uri="{FF2B5EF4-FFF2-40B4-BE49-F238E27FC236}">
                <a16:creationId xmlns:a16="http://schemas.microsoft.com/office/drawing/2014/main" id="{AD30205B-C647-A939-1509-C1D2284235AA}"/>
              </a:ext>
            </a:extLst>
          </p:cNvPr>
          <p:cNvSpPr txBox="1"/>
          <p:nvPr/>
        </p:nvSpPr>
        <p:spPr>
          <a:xfrm>
            <a:off x="8394192" y="2359152"/>
            <a:ext cx="2651760" cy="457200"/>
          </a:xfrm>
          <a:prstGeom prst="rect">
            <a:avLst/>
          </a:prstGeom>
          <a:noFill/>
        </p:spPr>
        <p:txBody>
          <a:bodyPr wrap="square" lIns="27432" tIns="18288" rIns="27432" bIns="18288">
            <a:spAutoFit/>
          </a:bodyPr>
          <a:lstStyle/>
          <a:p>
            <a:pPr algn="l">
              <a:spcAft>
                <a:spcPts val="0"/>
              </a:spcAft>
            </a:pPr>
            <a:r>
              <a:rPr sz="2300" b="1">
                <a:solidFill>
                  <a:srgbClr val="1C3750"/>
                </a:solidFill>
                <a:latin typeface="Aptos"/>
              </a:rPr>
              <a:t>1,347</a:t>
            </a:r>
            <a:r>
              <a:rPr sz="2300" b="0">
                <a:solidFill>
                  <a:srgbClr val="5B6771"/>
                </a:solidFill>
                <a:latin typeface="Aptos"/>
              </a:rPr>
              <a:t> → </a:t>
            </a:r>
            <a:r>
              <a:rPr sz="2300" b="1">
                <a:solidFill>
                  <a:srgbClr val="188985"/>
                </a:solidFill>
                <a:latin typeface="Aptos"/>
              </a:rPr>
              <a:t>18,000</a:t>
            </a:r>
            <a:r>
              <a:rPr sz="2300" b="0">
                <a:solidFill>
                  <a:srgbClr val="5B6771"/>
                </a:solidFill>
                <a:latin typeface="Aptos"/>
              </a:rPr>
              <a:t> deg²</a:t>
            </a:r>
          </a:p>
        </p:txBody>
      </p:sp>
      <p:sp>
        <p:nvSpPr>
          <p:cNvPr id="12" name="TextBox 11">
            <a:extLst>
              <a:ext uri="{FF2B5EF4-FFF2-40B4-BE49-F238E27FC236}">
                <a16:creationId xmlns:a16="http://schemas.microsoft.com/office/drawing/2014/main" id="{8F65297E-7921-B4E1-0879-EBA3B1A67208}"/>
              </a:ext>
            </a:extLst>
          </p:cNvPr>
          <p:cNvSpPr txBox="1"/>
          <p:nvPr/>
        </p:nvSpPr>
        <p:spPr>
          <a:xfrm>
            <a:off x="8394192" y="2880360"/>
            <a:ext cx="2651760" cy="457200"/>
          </a:xfrm>
          <a:prstGeom prst="rect">
            <a:avLst/>
          </a:prstGeom>
          <a:noFill/>
        </p:spPr>
        <p:txBody>
          <a:bodyPr wrap="square" lIns="27432" tIns="18288" rIns="27432" bIns="18288">
            <a:spAutoFit/>
          </a:bodyPr>
          <a:lstStyle/>
          <a:p>
            <a:pPr algn="l">
              <a:spcAft>
                <a:spcPts val="0"/>
              </a:spcAft>
            </a:pPr>
            <a:r>
              <a:rPr sz="2300" b="1">
                <a:solidFill>
                  <a:srgbClr val="1C3750"/>
                </a:solidFill>
                <a:latin typeface="Aptos"/>
              </a:rPr>
              <a:t>6</a:t>
            </a:r>
            <a:r>
              <a:rPr sz="2300" b="0">
                <a:solidFill>
                  <a:srgbClr val="5B6771"/>
                </a:solidFill>
                <a:latin typeface="Aptos"/>
              </a:rPr>
              <a:t> → </a:t>
            </a:r>
            <a:r>
              <a:rPr sz="2300" b="1">
                <a:solidFill>
                  <a:srgbClr val="188985"/>
                </a:solidFill>
                <a:latin typeface="Aptos"/>
              </a:rPr>
              <a:t>10</a:t>
            </a:r>
            <a:r>
              <a:rPr sz="2300" b="0">
                <a:solidFill>
                  <a:srgbClr val="5B6771"/>
                </a:solidFill>
                <a:latin typeface="Aptos"/>
              </a:rPr>
              <a:t> bins</a:t>
            </a:r>
          </a:p>
        </p:txBody>
      </p:sp>
      <p:sp>
        <p:nvSpPr>
          <p:cNvPr id="13" name="Rectangle 12">
            <a:extLst>
              <a:ext uri="{FF2B5EF4-FFF2-40B4-BE49-F238E27FC236}">
                <a16:creationId xmlns:a16="http://schemas.microsoft.com/office/drawing/2014/main" id="{B5DCD1CA-029B-8549-B729-8FB4814016D3}"/>
              </a:ext>
            </a:extLst>
          </p:cNvPr>
          <p:cNvSpPr/>
          <p:nvPr/>
        </p:nvSpPr>
        <p:spPr>
          <a:xfrm>
            <a:off x="8394192" y="3529584"/>
            <a:ext cx="2423160" cy="36576"/>
          </a:xfrm>
          <a:prstGeom prst="rect">
            <a:avLst/>
          </a:prstGeom>
          <a:solidFill>
            <a:srgbClr val="D2D7D7"/>
          </a:solidFill>
          <a:ln>
            <a:solidFill>
              <a:srgbClr val="D2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86647549-33DD-242D-4064-9A623E372E41}"/>
              </a:ext>
            </a:extLst>
          </p:cNvPr>
          <p:cNvSpPr txBox="1"/>
          <p:nvPr/>
        </p:nvSpPr>
        <p:spPr>
          <a:xfrm>
            <a:off x="8394192" y="3822191"/>
            <a:ext cx="2377440" cy="256032"/>
          </a:xfrm>
          <a:prstGeom prst="rect">
            <a:avLst/>
          </a:prstGeom>
          <a:noFill/>
        </p:spPr>
        <p:txBody>
          <a:bodyPr wrap="square" lIns="36576" tIns="36576" rIns="36576" bIns="36576" anchor="t">
            <a:spAutoFit/>
          </a:bodyPr>
          <a:lstStyle/>
          <a:p>
            <a:pPr algn="l">
              <a:spcAft>
                <a:spcPts val="0"/>
              </a:spcAft>
            </a:pPr>
            <a:r>
              <a:rPr sz="1100" b="1">
                <a:solidFill>
                  <a:srgbClr val="DD5B4A"/>
                </a:solidFill>
                <a:latin typeface="Aptos"/>
              </a:rPr>
              <a:t>DEEP MAGNETAR</a:t>
            </a:r>
          </a:p>
        </p:txBody>
      </p:sp>
      <p:sp>
        <p:nvSpPr>
          <p:cNvPr id="15" name="TextBox 14">
            <a:extLst>
              <a:ext uri="{FF2B5EF4-FFF2-40B4-BE49-F238E27FC236}">
                <a16:creationId xmlns:a16="http://schemas.microsoft.com/office/drawing/2014/main" id="{75A2CE20-BB79-53D1-7469-10C98F243867}"/>
              </a:ext>
            </a:extLst>
          </p:cNvPr>
          <p:cNvSpPr txBox="1"/>
          <p:nvPr/>
        </p:nvSpPr>
        <p:spPr>
          <a:xfrm>
            <a:off x="8394192" y="4224528"/>
            <a:ext cx="2468880" cy="335476"/>
          </a:xfrm>
          <a:prstGeom prst="rect">
            <a:avLst/>
          </a:prstGeom>
          <a:noFill/>
        </p:spPr>
        <p:txBody>
          <a:bodyPr wrap="square" lIns="36576" tIns="36576" rIns="36576" bIns="36576" anchor="t">
            <a:spAutoFit/>
          </a:bodyPr>
          <a:lstStyle/>
          <a:p>
            <a:pPr algn="l">
              <a:spcAft>
                <a:spcPts val="0"/>
              </a:spcAft>
            </a:pPr>
            <a:r>
              <a:rPr sz="1700" b="1" dirty="0" err="1">
                <a:solidFill>
                  <a:srgbClr val="1C3750"/>
                </a:solidFill>
                <a:latin typeface="Aptos"/>
              </a:rPr>
              <a:t>σ</a:t>
            </a:r>
            <a:r>
              <a:rPr sz="1700" b="1" dirty="0">
                <a:solidFill>
                  <a:srgbClr val="1C3750"/>
                </a:solidFill>
                <a:latin typeface="Aptos"/>
              </a:rPr>
              <a:t>(b₀)  1.27 → 0.</a:t>
            </a:r>
            <a:r>
              <a:rPr lang="nl-NL" sz="1700" b="1" dirty="0">
                <a:solidFill>
                  <a:srgbClr val="1C3750"/>
                </a:solidFill>
                <a:latin typeface="Aptos"/>
              </a:rPr>
              <a:t>43</a:t>
            </a:r>
            <a:endParaRPr sz="1700" b="1" dirty="0">
              <a:solidFill>
                <a:srgbClr val="1C3750"/>
              </a:solidFill>
              <a:latin typeface="Aptos"/>
            </a:endParaRPr>
          </a:p>
        </p:txBody>
      </p:sp>
      <p:sp>
        <p:nvSpPr>
          <p:cNvPr id="16" name="TextBox 15">
            <a:extLst>
              <a:ext uri="{FF2B5EF4-FFF2-40B4-BE49-F238E27FC236}">
                <a16:creationId xmlns:a16="http://schemas.microsoft.com/office/drawing/2014/main" id="{8D8984B3-23E2-49A2-A37D-4A27483E5125}"/>
              </a:ext>
            </a:extLst>
          </p:cNvPr>
          <p:cNvSpPr txBox="1"/>
          <p:nvPr/>
        </p:nvSpPr>
        <p:spPr>
          <a:xfrm>
            <a:off x="8394192" y="4681728"/>
            <a:ext cx="2468880" cy="335476"/>
          </a:xfrm>
          <a:prstGeom prst="rect">
            <a:avLst/>
          </a:prstGeom>
          <a:noFill/>
        </p:spPr>
        <p:txBody>
          <a:bodyPr wrap="square" lIns="36576" tIns="36576" rIns="36576" bIns="36576" anchor="t">
            <a:spAutoFit/>
          </a:bodyPr>
          <a:lstStyle/>
          <a:p>
            <a:pPr algn="l">
              <a:spcAft>
                <a:spcPts val="0"/>
              </a:spcAft>
            </a:pPr>
            <a:r>
              <a:rPr sz="1700" b="1" dirty="0" err="1">
                <a:solidFill>
                  <a:srgbClr val="1C3750"/>
                </a:solidFill>
                <a:latin typeface="Aptos"/>
              </a:rPr>
              <a:t>FoM</a:t>
            </a:r>
            <a:r>
              <a:rPr sz="1700" b="1" dirty="0">
                <a:solidFill>
                  <a:srgbClr val="1C3750"/>
                </a:solidFill>
                <a:latin typeface="Aptos"/>
              </a:rPr>
              <a:t>     1.59 → </a:t>
            </a:r>
            <a:r>
              <a:rPr lang="nl-NL" sz="1700" b="1" dirty="0">
                <a:solidFill>
                  <a:srgbClr val="1C3750"/>
                </a:solidFill>
                <a:latin typeface="Aptos"/>
              </a:rPr>
              <a:t>1</a:t>
            </a:r>
            <a:r>
              <a:rPr sz="1700" b="1" dirty="0">
                <a:solidFill>
                  <a:srgbClr val="1C3750"/>
                </a:solidFill>
                <a:latin typeface="Aptos"/>
              </a:rPr>
              <a:t>4</a:t>
            </a:r>
            <a:r>
              <a:rPr lang="nl-NL" sz="1700" b="1" dirty="0">
                <a:solidFill>
                  <a:srgbClr val="1C3750"/>
                </a:solidFill>
                <a:latin typeface="Aptos"/>
              </a:rPr>
              <a:t>.56</a:t>
            </a:r>
            <a:endParaRPr sz="1700" b="1" dirty="0">
              <a:solidFill>
                <a:srgbClr val="1C3750"/>
              </a:solidFill>
              <a:latin typeface="Aptos"/>
            </a:endParaRPr>
          </a:p>
        </p:txBody>
      </p:sp>
      <p:sp>
        <p:nvSpPr>
          <p:cNvPr id="17" name="TextBox 16">
            <a:extLst>
              <a:ext uri="{FF2B5EF4-FFF2-40B4-BE49-F238E27FC236}">
                <a16:creationId xmlns:a16="http://schemas.microsoft.com/office/drawing/2014/main" id="{E76781B5-0ABB-1222-4905-65CA122120A5}"/>
              </a:ext>
            </a:extLst>
          </p:cNvPr>
          <p:cNvSpPr txBox="1"/>
          <p:nvPr/>
        </p:nvSpPr>
        <p:spPr>
          <a:xfrm>
            <a:off x="8394192" y="5285232"/>
            <a:ext cx="2423160" cy="320040"/>
          </a:xfrm>
          <a:prstGeom prst="rect">
            <a:avLst/>
          </a:prstGeom>
          <a:noFill/>
        </p:spPr>
        <p:txBody>
          <a:bodyPr wrap="square" lIns="36576" tIns="36576" rIns="36576" bIns="36576" anchor="t">
            <a:spAutoFit/>
          </a:bodyPr>
          <a:lstStyle/>
          <a:p>
            <a:pPr algn="l">
              <a:spcAft>
                <a:spcPts val="0"/>
              </a:spcAft>
            </a:pPr>
            <a:r>
              <a:rPr sz="1400" b="1">
                <a:solidFill>
                  <a:srgbClr val="188985"/>
                </a:solidFill>
                <a:latin typeface="Aptos"/>
              </a:rPr>
              <a:t>Models separate at 1σ</a:t>
            </a:r>
          </a:p>
        </p:txBody>
      </p:sp>
      <p:pic>
        <p:nvPicPr>
          <p:cNvPr id="3" name="Picture 2">
            <a:extLst>
              <a:ext uri="{FF2B5EF4-FFF2-40B4-BE49-F238E27FC236}">
                <a16:creationId xmlns:a16="http://schemas.microsoft.com/office/drawing/2014/main" id="{F326BDE6-6959-0A62-DECC-667916F4CBE1}"/>
              </a:ext>
            </a:extLst>
          </p:cNvPr>
          <p:cNvPicPr>
            <a:picLocks noChangeAspect="1"/>
          </p:cNvPicPr>
          <p:nvPr/>
        </p:nvPicPr>
        <p:blipFill>
          <a:blip r:embed="rId3"/>
          <a:stretch>
            <a:fillRect/>
          </a:stretch>
        </p:blipFill>
        <p:spPr>
          <a:xfrm>
            <a:off x="838200" y="1346209"/>
            <a:ext cx="6085005" cy="5070838"/>
          </a:xfrm>
          <a:prstGeom prst="rect">
            <a:avLst/>
          </a:prstGeom>
        </p:spPr>
      </p:pic>
    </p:spTree>
    <p:extLst>
      <p:ext uri="{BB962C8B-B14F-4D97-AF65-F5344CB8AC3E}">
        <p14:creationId xmlns:p14="http://schemas.microsoft.com/office/powerpoint/2010/main" val="3609588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954FFC-143D-2C2C-F06D-C5CBE9C10F2F}"/>
              </a:ext>
            </a:extLst>
          </p:cNvPr>
          <p:cNvSpPr>
            <a:spLocks noGrp="1"/>
          </p:cNvSpPr>
          <p:nvPr>
            <p:ph type="sldNum" sz="quarter" idx="12"/>
          </p:nvPr>
        </p:nvSpPr>
        <p:spPr/>
        <p:txBody>
          <a:bodyPr/>
          <a:lstStyle/>
          <a:p>
            <a:fld id="{D3D74EA4-B172-9A48-808A-923F6A4D31D8}" type="slidenum">
              <a:rPr lang="en-DE" smtClean="0"/>
              <a:t>11</a:t>
            </a:fld>
            <a:endParaRPr lang="en-DE"/>
          </a:p>
        </p:txBody>
      </p:sp>
      <p:sp>
        <p:nvSpPr>
          <p:cNvPr id="32" name="TextBox 31">
            <a:extLst>
              <a:ext uri="{FF2B5EF4-FFF2-40B4-BE49-F238E27FC236}">
                <a16:creationId xmlns:a16="http://schemas.microsoft.com/office/drawing/2014/main" id="{8868A7F0-6025-0A84-E7F8-4D2616AE3C97}"/>
              </a:ext>
            </a:extLst>
          </p:cNvPr>
          <p:cNvSpPr txBox="1"/>
          <p:nvPr/>
        </p:nvSpPr>
        <p:spPr>
          <a:xfrm>
            <a:off x="502920" y="676656"/>
            <a:ext cx="10881360" cy="750975"/>
          </a:xfrm>
          <a:prstGeom prst="rect">
            <a:avLst/>
          </a:prstGeom>
          <a:noFill/>
        </p:spPr>
        <p:txBody>
          <a:bodyPr wrap="square" lIns="36576" tIns="36576" rIns="36576" bIns="36576" anchor="t">
            <a:spAutoFit/>
          </a:bodyPr>
          <a:lstStyle/>
          <a:p>
            <a:pPr algn="l">
              <a:spcAft>
                <a:spcPts val="0"/>
              </a:spcAft>
            </a:pPr>
            <a:r>
              <a:rPr sz="4400" b="1" dirty="0">
                <a:latin typeface="Aptos Display"/>
              </a:rPr>
              <a:t>Limitations</a:t>
            </a:r>
          </a:p>
        </p:txBody>
      </p:sp>
      <p:sp>
        <p:nvSpPr>
          <p:cNvPr id="34" name="Rounded Rectangle 33">
            <a:extLst>
              <a:ext uri="{FF2B5EF4-FFF2-40B4-BE49-F238E27FC236}">
                <a16:creationId xmlns:a16="http://schemas.microsoft.com/office/drawing/2014/main" id="{601F28F8-1022-35FD-77ED-200FA4F7A109}"/>
              </a:ext>
            </a:extLst>
          </p:cNvPr>
          <p:cNvSpPr/>
          <p:nvPr/>
        </p:nvSpPr>
        <p:spPr>
          <a:xfrm>
            <a:off x="658368" y="1755648"/>
            <a:ext cx="2971800" cy="1572768"/>
          </a:xfrm>
          <a:prstGeom prst="roundRect">
            <a:avLst>
              <a:gd name="adj" fmla="val 8000"/>
            </a:avLst>
          </a:prstGeom>
          <a:solidFill>
            <a:srgbClr val="E2EDF4"/>
          </a:solidFill>
          <a:ln>
            <a:solidFill>
              <a:srgbClr val="E2E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D7F37906-7A5E-1D40-6C8B-0724E1D7B46B}"/>
              </a:ext>
            </a:extLst>
          </p:cNvPr>
          <p:cNvSpPr txBox="1"/>
          <p:nvPr/>
        </p:nvSpPr>
        <p:spPr>
          <a:xfrm>
            <a:off x="886968" y="1984248"/>
            <a:ext cx="2514600" cy="384048"/>
          </a:xfrm>
          <a:prstGeom prst="rect">
            <a:avLst/>
          </a:prstGeom>
          <a:noFill/>
        </p:spPr>
        <p:txBody>
          <a:bodyPr wrap="square" lIns="36576" tIns="36576" rIns="36576" bIns="36576" anchor="t">
            <a:spAutoFit/>
          </a:bodyPr>
          <a:lstStyle/>
          <a:p>
            <a:pPr algn="ctr">
              <a:spcAft>
                <a:spcPts val="0"/>
              </a:spcAft>
            </a:pPr>
            <a:r>
              <a:rPr sz="2200" b="1">
                <a:solidFill>
                  <a:srgbClr val="5C9BBD"/>
                </a:solidFill>
                <a:latin typeface="Aptos Display"/>
              </a:rPr>
              <a:t>ℓ ≥ 10</a:t>
            </a:r>
          </a:p>
        </p:txBody>
      </p:sp>
      <p:sp>
        <p:nvSpPr>
          <p:cNvPr id="36" name="TextBox 35">
            <a:extLst>
              <a:ext uri="{FF2B5EF4-FFF2-40B4-BE49-F238E27FC236}">
                <a16:creationId xmlns:a16="http://schemas.microsoft.com/office/drawing/2014/main" id="{125FAF16-E15F-5AD4-2AC4-33DE684DEB5D}"/>
              </a:ext>
            </a:extLst>
          </p:cNvPr>
          <p:cNvSpPr txBox="1"/>
          <p:nvPr/>
        </p:nvSpPr>
        <p:spPr>
          <a:xfrm>
            <a:off x="886968" y="2615184"/>
            <a:ext cx="2514600" cy="365760"/>
          </a:xfrm>
          <a:prstGeom prst="rect">
            <a:avLst/>
          </a:prstGeom>
          <a:noFill/>
        </p:spPr>
        <p:txBody>
          <a:bodyPr wrap="square" lIns="36576" tIns="36576" rIns="36576" bIns="36576" anchor="t">
            <a:spAutoFit/>
          </a:bodyPr>
          <a:lstStyle/>
          <a:p>
            <a:pPr algn="ctr">
              <a:spcAft>
                <a:spcPts val="0"/>
              </a:spcAft>
            </a:pPr>
            <a:r>
              <a:rPr sz="1400" b="1">
                <a:solidFill>
                  <a:srgbClr val="182331"/>
                </a:solidFill>
                <a:latin typeface="Aptos"/>
              </a:rPr>
              <a:t>Limber approximation</a:t>
            </a:r>
          </a:p>
        </p:txBody>
      </p:sp>
      <p:sp>
        <p:nvSpPr>
          <p:cNvPr id="37" name="Rounded Rectangle 36">
            <a:extLst>
              <a:ext uri="{FF2B5EF4-FFF2-40B4-BE49-F238E27FC236}">
                <a16:creationId xmlns:a16="http://schemas.microsoft.com/office/drawing/2014/main" id="{4E460184-353A-1CE7-F192-89AD7D6DB532}"/>
              </a:ext>
            </a:extLst>
          </p:cNvPr>
          <p:cNvSpPr/>
          <p:nvPr/>
        </p:nvSpPr>
        <p:spPr>
          <a:xfrm>
            <a:off x="4206240" y="1755648"/>
            <a:ext cx="2971800" cy="1572768"/>
          </a:xfrm>
          <a:prstGeom prst="roundRect">
            <a:avLst>
              <a:gd name="adj" fmla="val 8000"/>
            </a:avLst>
          </a:prstGeom>
          <a:solidFill>
            <a:srgbClr val="F7E4DD"/>
          </a:solidFill>
          <a:ln>
            <a:solidFill>
              <a:srgbClr val="F7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E46DFD62-CD6D-2827-EA1E-981718C17DD5}"/>
              </a:ext>
            </a:extLst>
          </p:cNvPr>
          <p:cNvSpPr txBox="1"/>
          <p:nvPr/>
        </p:nvSpPr>
        <p:spPr>
          <a:xfrm>
            <a:off x="4434840" y="1984248"/>
            <a:ext cx="2514600" cy="384048"/>
          </a:xfrm>
          <a:prstGeom prst="rect">
            <a:avLst/>
          </a:prstGeom>
          <a:noFill/>
        </p:spPr>
        <p:txBody>
          <a:bodyPr wrap="square" lIns="36576" tIns="36576" rIns="36576" bIns="36576" anchor="t">
            <a:spAutoFit/>
          </a:bodyPr>
          <a:lstStyle/>
          <a:p>
            <a:pPr algn="ctr">
              <a:spcAft>
                <a:spcPts val="0"/>
              </a:spcAft>
            </a:pPr>
            <a:r>
              <a:rPr sz="2200" b="1">
                <a:solidFill>
                  <a:srgbClr val="DD5B4A"/>
                </a:solidFill>
                <a:latin typeface="Aptos Display"/>
              </a:rPr>
              <a:t>Gaussian</a:t>
            </a:r>
          </a:p>
        </p:txBody>
      </p:sp>
      <p:sp>
        <p:nvSpPr>
          <p:cNvPr id="39" name="TextBox 38">
            <a:extLst>
              <a:ext uri="{FF2B5EF4-FFF2-40B4-BE49-F238E27FC236}">
                <a16:creationId xmlns:a16="http://schemas.microsoft.com/office/drawing/2014/main" id="{9044B198-DAA4-4627-D6E3-5182C9370C36}"/>
              </a:ext>
            </a:extLst>
          </p:cNvPr>
          <p:cNvSpPr txBox="1"/>
          <p:nvPr/>
        </p:nvSpPr>
        <p:spPr>
          <a:xfrm>
            <a:off x="4434840" y="2615184"/>
            <a:ext cx="2514600" cy="365760"/>
          </a:xfrm>
          <a:prstGeom prst="rect">
            <a:avLst/>
          </a:prstGeom>
          <a:noFill/>
        </p:spPr>
        <p:txBody>
          <a:bodyPr wrap="square" lIns="36576" tIns="36576" rIns="36576" bIns="36576" anchor="t">
            <a:spAutoFit/>
          </a:bodyPr>
          <a:lstStyle/>
          <a:p>
            <a:pPr algn="ctr">
              <a:spcAft>
                <a:spcPts val="0"/>
              </a:spcAft>
            </a:pPr>
            <a:r>
              <a:rPr sz="1400" b="1">
                <a:solidFill>
                  <a:srgbClr val="182331"/>
                </a:solidFill>
                <a:latin typeface="Aptos"/>
              </a:rPr>
              <a:t>Optimistic Fisher bounds</a:t>
            </a:r>
          </a:p>
        </p:txBody>
      </p:sp>
      <p:sp>
        <p:nvSpPr>
          <p:cNvPr id="40" name="Rounded Rectangle 39">
            <a:extLst>
              <a:ext uri="{FF2B5EF4-FFF2-40B4-BE49-F238E27FC236}">
                <a16:creationId xmlns:a16="http://schemas.microsoft.com/office/drawing/2014/main" id="{8A35847D-6C5E-332B-EA8E-A27A1A5038AE}"/>
              </a:ext>
            </a:extLst>
          </p:cNvPr>
          <p:cNvSpPr/>
          <p:nvPr/>
        </p:nvSpPr>
        <p:spPr>
          <a:xfrm>
            <a:off x="7754112" y="1755648"/>
            <a:ext cx="2971800" cy="1572768"/>
          </a:xfrm>
          <a:prstGeom prst="roundRect">
            <a:avLst>
              <a:gd name="adj" fmla="val 8000"/>
            </a:avLst>
          </a:prstGeom>
          <a:solidFill>
            <a:srgbClr val="E0EFEB"/>
          </a:solidFill>
          <a:ln>
            <a:solidFill>
              <a:srgbClr val="E0E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AB88DC11-BCB8-AC51-D37F-F4AFADA1AED6}"/>
              </a:ext>
            </a:extLst>
          </p:cNvPr>
          <p:cNvSpPr txBox="1"/>
          <p:nvPr/>
        </p:nvSpPr>
        <p:spPr>
          <a:xfrm>
            <a:off x="7982712" y="1984248"/>
            <a:ext cx="2514600" cy="384048"/>
          </a:xfrm>
          <a:prstGeom prst="rect">
            <a:avLst/>
          </a:prstGeom>
          <a:noFill/>
        </p:spPr>
        <p:txBody>
          <a:bodyPr wrap="square" lIns="36576" tIns="36576" rIns="36576" bIns="36576" anchor="t">
            <a:spAutoFit/>
          </a:bodyPr>
          <a:lstStyle/>
          <a:p>
            <a:pPr algn="ctr">
              <a:spcAft>
                <a:spcPts val="0"/>
              </a:spcAft>
            </a:pPr>
            <a:r>
              <a:rPr sz="2200" b="1">
                <a:solidFill>
                  <a:srgbClr val="188985"/>
                </a:solidFill>
                <a:latin typeface="Aptos Display"/>
              </a:rPr>
              <a:t>n(z), b(z)</a:t>
            </a:r>
          </a:p>
        </p:txBody>
      </p:sp>
      <p:sp>
        <p:nvSpPr>
          <p:cNvPr id="42" name="TextBox 41">
            <a:extLst>
              <a:ext uri="{FF2B5EF4-FFF2-40B4-BE49-F238E27FC236}">
                <a16:creationId xmlns:a16="http://schemas.microsoft.com/office/drawing/2014/main" id="{415BA6BF-2ECB-AAB8-FCB3-DA65F32537C3}"/>
              </a:ext>
            </a:extLst>
          </p:cNvPr>
          <p:cNvSpPr txBox="1"/>
          <p:nvPr/>
        </p:nvSpPr>
        <p:spPr>
          <a:xfrm>
            <a:off x="7982712" y="2615184"/>
            <a:ext cx="2514600" cy="365760"/>
          </a:xfrm>
          <a:prstGeom prst="rect">
            <a:avLst/>
          </a:prstGeom>
          <a:noFill/>
        </p:spPr>
        <p:txBody>
          <a:bodyPr wrap="square" lIns="36576" tIns="36576" rIns="36576" bIns="36576" anchor="t">
            <a:spAutoFit/>
          </a:bodyPr>
          <a:lstStyle/>
          <a:p>
            <a:pPr algn="ctr">
              <a:spcAft>
                <a:spcPts val="0"/>
              </a:spcAft>
            </a:pPr>
            <a:r>
              <a:rPr sz="1400" b="1">
                <a:solidFill>
                  <a:srgbClr val="182331"/>
                </a:solidFill>
                <a:latin typeface="Aptos"/>
              </a:rPr>
              <a:t>Model assumptions</a:t>
            </a:r>
          </a:p>
        </p:txBody>
      </p:sp>
      <p:sp>
        <p:nvSpPr>
          <p:cNvPr id="43" name="Rounded Rectangle 42">
            <a:extLst>
              <a:ext uri="{FF2B5EF4-FFF2-40B4-BE49-F238E27FC236}">
                <a16:creationId xmlns:a16="http://schemas.microsoft.com/office/drawing/2014/main" id="{B0E0414F-98F4-3365-03AE-D28A1DCE6BC6}"/>
              </a:ext>
            </a:extLst>
          </p:cNvPr>
          <p:cNvSpPr/>
          <p:nvPr/>
        </p:nvSpPr>
        <p:spPr>
          <a:xfrm>
            <a:off x="2432304" y="3913632"/>
            <a:ext cx="2971800" cy="1572768"/>
          </a:xfrm>
          <a:prstGeom prst="roundRect">
            <a:avLst>
              <a:gd name="adj" fmla="val 8000"/>
            </a:avLst>
          </a:prstGeom>
          <a:solidFill>
            <a:srgbClr val="F0EAD6"/>
          </a:solidFill>
          <a:ln>
            <a:solidFill>
              <a:srgbClr val="F0EA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798C823A-FD06-852F-0944-577ABBCF6BEF}"/>
              </a:ext>
            </a:extLst>
          </p:cNvPr>
          <p:cNvSpPr txBox="1"/>
          <p:nvPr/>
        </p:nvSpPr>
        <p:spPr>
          <a:xfrm>
            <a:off x="2660904" y="4142232"/>
            <a:ext cx="2514600" cy="384048"/>
          </a:xfrm>
          <a:prstGeom prst="rect">
            <a:avLst/>
          </a:prstGeom>
          <a:noFill/>
        </p:spPr>
        <p:txBody>
          <a:bodyPr wrap="square" lIns="36576" tIns="36576" rIns="36576" bIns="36576" anchor="t">
            <a:spAutoFit/>
          </a:bodyPr>
          <a:lstStyle/>
          <a:p>
            <a:pPr algn="ctr">
              <a:spcAft>
                <a:spcPts val="0"/>
              </a:spcAft>
            </a:pPr>
            <a:r>
              <a:rPr sz="2200" b="1">
                <a:solidFill>
                  <a:srgbClr val="DDA33A"/>
                </a:solidFill>
                <a:latin typeface="Aptos Display"/>
              </a:rPr>
              <a:t>fsky</a:t>
            </a:r>
          </a:p>
        </p:txBody>
      </p:sp>
      <p:sp>
        <p:nvSpPr>
          <p:cNvPr id="45" name="TextBox 44">
            <a:extLst>
              <a:ext uri="{FF2B5EF4-FFF2-40B4-BE49-F238E27FC236}">
                <a16:creationId xmlns:a16="http://schemas.microsoft.com/office/drawing/2014/main" id="{0C40ADCD-887F-7B2E-6AAA-A2CA8B24136C}"/>
              </a:ext>
            </a:extLst>
          </p:cNvPr>
          <p:cNvSpPr txBox="1"/>
          <p:nvPr/>
        </p:nvSpPr>
        <p:spPr>
          <a:xfrm>
            <a:off x="2660904" y="4773168"/>
            <a:ext cx="2514600" cy="365760"/>
          </a:xfrm>
          <a:prstGeom prst="rect">
            <a:avLst/>
          </a:prstGeom>
          <a:noFill/>
        </p:spPr>
        <p:txBody>
          <a:bodyPr wrap="square" lIns="36576" tIns="36576" rIns="36576" bIns="36576" anchor="t">
            <a:spAutoFit/>
          </a:bodyPr>
          <a:lstStyle/>
          <a:p>
            <a:pPr algn="ctr">
              <a:spcAft>
                <a:spcPts val="0"/>
              </a:spcAft>
            </a:pPr>
            <a:r>
              <a:rPr sz="1400" b="1">
                <a:solidFill>
                  <a:srgbClr val="182331"/>
                </a:solidFill>
                <a:latin typeface="Aptos"/>
              </a:rPr>
              <a:t>Simplified geometry</a:t>
            </a:r>
          </a:p>
        </p:txBody>
      </p:sp>
      <p:sp>
        <p:nvSpPr>
          <p:cNvPr id="46" name="Rounded Rectangle 45">
            <a:extLst>
              <a:ext uri="{FF2B5EF4-FFF2-40B4-BE49-F238E27FC236}">
                <a16:creationId xmlns:a16="http://schemas.microsoft.com/office/drawing/2014/main" id="{334B0B9F-FD71-268F-B215-0D4B993550C2}"/>
              </a:ext>
            </a:extLst>
          </p:cNvPr>
          <p:cNvSpPr/>
          <p:nvPr/>
        </p:nvSpPr>
        <p:spPr>
          <a:xfrm>
            <a:off x="5980176" y="3913632"/>
            <a:ext cx="2971800" cy="1572768"/>
          </a:xfrm>
          <a:prstGeom prst="roundRect">
            <a:avLst>
              <a:gd name="adj" fmla="val 8000"/>
            </a:avLst>
          </a:prstGeom>
          <a:solidFill>
            <a:srgbClr val="EBE8EF"/>
          </a:solidFill>
          <a:ln>
            <a:solidFill>
              <a:srgbClr val="EB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681EF86C-1A4D-6E35-A3EB-CB33CACB3AA6}"/>
              </a:ext>
            </a:extLst>
          </p:cNvPr>
          <p:cNvSpPr txBox="1"/>
          <p:nvPr/>
        </p:nvSpPr>
        <p:spPr>
          <a:xfrm>
            <a:off x="6208776" y="4142232"/>
            <a:ext cx="2514600" cy="384048"/>
          </a:xfrm>
          <a:prstGeom prst="rect">
            <a:avLst/>
          </a:prstGeom>
          <a:noFill/>
        </p:spPr>
        <p:txBody>
          <a:bodyPr wrap="square" lIns="36576" tIns="36576" rIns="36576" bIns="36576" anchor="t">
            <a:spAutoFit/>
          </a:bodyPr>
          <a:lstStyle/>
          <a:p>
            <a:pPr algn="ctr">
              <a:spcAft>
                <a:spcPts val="0"/>
              </a:spcAft>
            </a:pPr>
            <a:r>
              <a:rPr sz="2200" b="1">
                <a:solidFill>
                  <a:srgbClr val="1C3750"/>
                </a:solidFill>
                <a:latin typeface="Aptos Display"/>
              </a:rPr>
              <a:t>Ncross ≈ 0</a:t>
            </a:r>
          </a:p>
        </p:txBody>
      </p:sp>
      <p:sp>
        <p:nvSpPr>
          <p:cNvPr id="48" name="TextBox 47">
            <a:extLst>
              <a:ext uri="{FF2B5EF4-FFF2-40B4-BE49-F238E27FC236}">
                <a16:creationId xmlns:a16="http://schemas.microsoft.com/office/drawing/2014/main" id="{6BC50043-07CA-778A-28BC-D0AEFBE5C9CF}"/>
              </a:ext>
            </a:extLst>
          </p:cNvPr>
          <p:cNvSpPr txBox="1"/>
          <p:nvPr/>
        </p:nvSpPr>
        <p:spPr>
          <a:xfrm>
            <a:off x="6208776" y="4773168"/>
            <a:ext cx="2514600" cy="365760"/>
          </a:xfrm>
          <a:prstGeom prst="rect">
            <a:avLst/>
          </a:prstGeom>
          <a:noFill/>
        </p:spPr>
        <p:txBody>
          <a:bodyPr wrap="square" lIns="36576" tIns="36576" rIns="36576" bIns="36576" anchor="t">
            <a:spAutoFit/>
          </a:bodyPr>
          <a:lstStyle/>
          <a:p>
            <a:pPr algn="ctr">
              <a:spcAft>
                <a:spcPts val="0"/>
              </a:spcAft>
            </a:pPr>
            <a:r>
              <a:rPr sz="1400" b="1">
                <a:solidFill>
                  <a:srgbClr val="182331"/>
                </a:solidFill>
                <a:latin typeface="Aptos"/>
              </a:rPr>
              <a:t>Cross-shot noise neglected</a:t>
            </a:r>
          </a:p>
        </p:txBody>
      </p:sp>
    </p:spTree>
    <p:extLst>
      <p:ext uri="{BB962C8B-B14F-4D97-AF65-F5344CB8AC3E}">
        <p14:creationId xmlns:p14="http://schemas.microsoft.com/office/powerpoint/2010/main" val="357881623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35613</TotalTime>
  <Words>1727</Words>
  <Application>Microsoft Macintosh PowerPoint</Application>
  <PresentationFormat>Widescreen</PresentationFormat>
  <Paragraphs>145</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Cambria Math</vt:lpstr>
      <vt:lpstr>Office Theme</vt:lpstr>
      <vt:lpstr>Probing Fast Radio Burst Environments: Cross-Correlating Deep and Shallow FRB Surveys with KiDS DR5 </vt:lpstr>
      <vt:lpstr>FRBs</vt:lpstr>
      <vt:lpstr>Two Possible Progenitor Models</vt:lpstr>
      <vt:lpstr>Cross Correlation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 Ruppert</dc:creator>
  <cp:lastModifiedBy>Will Ruppert</cp:lastModifiedBy>
  <cp:revision>42</cp:revision>
  <dcterms:created xsi:type="dcterms:W3CDTF">2025-11-18T13:53:19Z</dcterms:created>
  <dcterms:modified xsi:type="dcterms:W3CDTF">2026-10-05T10:23:24Z</dcterms:modified>
</cp:coreProperties>
</file>